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4.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5.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2.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defTabSz="914400">
              <a:lnSpc>
                <a:spcPct val="90000"/>
              </a:lnSpc>
            </a:pPr>
            <a:r>
              <a:rPr lang="en-US" sz="4400" b="0" u="none" strike="noStrike">
                <a:solidFill>
                  <a:schemeClr val="dk1"/>
                </a:solidFill>
                <a:effectLst/>
                <a:uFillTx/>
                <a:latin typeface="Arial"/>
              </a:rPr>
              <a:t>Click to move the slide</a:t>
            </a:r>
            <a:endParaRPr lang="en-US" sz="4400" b="0" u="none" strike="noStrike">
              <a:solidFill>
                <a:schemeClr val="dk1"/>
              </a:solidFill>
              <a:effectLst/>
              <a:uFillTx/>
              <a:latin typeface="Arial"/>
            </a:endParaRPr>
          </a:p>
        </p:txBody>
      </p:sp>
      <p:sp>
        <p:nvSpPr>
          <p:cNvPr id="1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GB" sz="2000" b="0" u="none" strike="noStrike">
                <a:solidFill>
                  <a:srgbClr val="000000"/>
                </a:solidFill>
                <a:effectLst/>
                <a:uFillTx/>
                <a:latin typeface="Arial"/>
              </a:rPr>
              <a:t>Click to edit the notes format</a:t>
            </a:r>
            <a:endParaRPr lang="en-GB" sz="2000" b="0" u="none" strike="noStrike">
              <a:solidFill>
                <a:srgbClr val="000000"/>
              </a:solidFill>
              <a:effectLst/>
              <a:uFillTx/>
              <a:latin typeface="Arial"/>
            </a:endParaRPr>
          </a:p>
        </p:txBody>
      </p:sp>
      <p:sp>
        <p:nvSpPr>
          <p:cNvPr id="15"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16"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GB" sz="1400" b="0" u="none" strike="noStrike">
                <a:solidFill>
                  <a:srgbClr val="000000"/>
                </a:solidFill>
                <a:effectLst/>
                <a:uFillTx/>
                <a:latin typeface="Times New Roman"/>
              </a:defRPr>
            </a:lvl1pPr>
          </a:lstStyle>
          <a:p>
            <a:pPr indent="0" algn="r">
              <a:buNone/>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17"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GB" sz="1400" b="0" u="none" strike="noStrike">
                <a:solidFill>
                  <a:srgbClr val="000000"/>
                </a:solidFill>
                <a:effectLst/>
                <a:uFillTx/>
                <a:latin typeface="Times New Roman"/>
              </a:defRPr>
            </a:lvl1pPr>
          </a:lstStyle>
          <a:p>
            <a:pPr indent="0" algn="l">
              <a:buNone/>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18"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GB" sz="1400" b="0" u="none" strike="noStrike">
                <a:solidFill>
                  <a:srgbClr val="000000"/>
                </a:solidFill>
                <a:effectLst/>
                <a:uFillTx/>
                <a:latin typeface="Times New Roman"/>
              </a:defRPr>
            </a:lvl1pPr>
          </a:lstStyle>
          <a:p>
            <a:pPr indent="0" algn="r">
              <a:buNone/>
            </a:pPr>
            <a:fld id="{63B696F8-3E0B-4F51-8E7C-A814CE3BC568}" type="slidenum">
              <a:rPr lang="en-GB" sz="1400" b="0" u="none" strike="noStrike">
                <a:solidFill>
                  <a:srgbClr val="000000"/>
                </a:solidFill>
                <a:effectLst/>
                <a:uFillTx/>
                <a:latin typeface="Times New Roman"/>
              </a:rPr>
              <a:t>1</a:t>
            </a:fld>
            <a:endParaRPr lang="en-GB"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Img"/>
          </p:nvPr>
        </p:nvSpPr>
        <p:spPr>
          <a:xfrm>
            <a:off x="0" y="0"/>
            <a:ext cx="0" cy="0"/>
          </a:xfrm>
          <a:prstGeom prst="rect">
            <a:avLst/>
          </a:prstGeom>
          <a:ln w="0">
            <a:noFill/>
          </a:ln>
        </p:spPr>
      </p:sp>
      <p:sp>
        <p:nvSpPr>
          <p:cNvPr id="297" name="PlaceHolder 2"/>
          <p:cNvSpPr>
            <a:spLocks noGrp="1"/>
          </p:cNvSpPr>
          <p:nvPr>
            <p:ph type="body"/>
          </p:nvPr>
        </p:nvSpPr>
        <p:spPr>
          <a:xfrm>
            <a:off x="0" y="0"/>
            <a:ext cx="360" cy="360"/>
          </a:xfrm>
          <a:prstGeom prst="rect">
            <a:avLst/>
          </a:prstGeom>
          <a:noFill/>
          <a:ln w="0">
            <a:noFill/>
          </a:ln>
        </p:spPr>
        <p:txBody>
          <a:bodyPr lIns="0" tIns="-44640" rIns="0" bIns="-44640" anchor="t">
            <a:noAutofit/>
          </a:bodyPr>
          <a:p>
            <a:pPr indent="0" algn="l">
              <a:lnSpc>
                <a:spcPct val="100000"/>
              </a:lnSpc>
              <a:buNone/>
              <a:tabLst>
                <a:tab pos="0" algn="l"/>
              </a:tabLst>
            </a:pPr>
            <a:r>
              <a:rPr lang="en-US" sz="2000" b="0" u="none" strike="noStrike">
                <a:solidFill>
                  <a:srgbClr val="000000"/>
                </a:solidFill>
                <a:effectLst/>
                <a:uFillTx/>
                <a:latin typeface="Arial"/>
              </a:rPr>
              <a:t>(about 20 seconds) Good morning everyone. We are [team names]. Over the next ten minutes we will show how we turned a live feed of Singapore's EV charging points into a tested, trustworthy data platform in BigQuery, and what that data already tells us. I will start with why this matters, then how we built it, how we know the data is correct, and what we found. Timing guide: introduction 1.5 minutes, summary and value 1.5, architecture and schema 2, quality 1, insights 3, scale, risks and close 1.5.</a:t>
            </a:r>
            <a:endParaRPr lang="en-GB" sz="2000" b="0" u="none" strike="noStrike">
              <a:solidFill>
                <a:srgbClr val="000000"/>
              </a:solidFill>
              <a:effectLst/>
              <a:uFillTx/>
              <a:latin typeface="Arial"/>
            </a:endParaRPr>
          </a:p>
        </p:txBody>
      </p:sp>
      <p:sp>
        <p:nvSpPr>
          <p:cNvPr id="298" name="PlaceHolder 3"/>
          <p:cNvSpPr>
            <a:spLocks noGrp="1"/>
          </p:cNvSpPr>
          <p:nvPr>
            <p:ph type="sldNum" idx="4"/>
          </p:nvPr>
        </p:nvSpPr>
        <p:spPr>
          <a:xfrm>
            <a:off x="0" y="0"/>
            <a:ext cx="360" cy="360"/>
          </a:xfrm>
          <a:prstGeom prst="rect">
            <a:avLst/>
          </a:prstGeom>
          <a:noFill/>
          <a:ln w="0">
            <a:noFill/>
          </a:ln>
        </p:spPr>
        <p:txBody>
          <a:bodyPr lIns="0" tIns="-44640" rIns="0" bIns="-4464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E2AC3F55-A054-4B07-BBA2-5C52F5097D9C}" type="slidenum">
              <a:rPr lang="en-US" sz="1800" b="0" u="none" strike="noStrike">
                <a:solidFill>
                  <a:schemeClr val="dk1"/>
                </a:solidFill>
                <a:effectLst/>
                <a:uFillTx/>
                <a:latin typeface="+mn-lt"/>
                <a:ea typeface="+mn-ea"/>
              </a:rPr>
              <a:t>18</a:t>
            </a:fld>
            <a:endParaRPr lang="en-GB"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sldImg"/>
          </p:nvPr>
        </p:nvSpPr>
        <p:spPr>
          <a:xfrm>
            <a:off x="0" y="0"/>
            <a:ext cx="0" cy="0"/>
          </a:xfrm>
          <a:prstGeom prst="rect">
            <a:avLst/>
          </a:prstGeom>
          <a:ln w="0">
            <a:noFill/>
          </a:ln>
        </p:spPr>
      </p:sp>
      <p:sp>
        <p:nvSpPr>
          <p:cNvPr id="300" name="PlaceHolder 2"/>
          <p:cNvSpPr>
            <a:spLocks noGrp="1"/>
          </p:cNvSpPr>
          <p:nvPr>
            <p:ph type="body"/>
          </p:nvPr>
        </p:nvSpPr>
        <p:spPr>
          <a:xfrm>
            <a:off x="0" y="0"/>
            <a:ext cx="360" cy="360"/>
          </a:xfrm>
          <a:prstGeom prst="rect">
            <a:avLst/>
          </a:prstGeom>
          <a:noFill/>
          <a:ln w="0">
            <a:noFill/>
          </a:ln>
        </p:spPr>
        <p:txBody>
          <a:bodyPr lIns="0" tIns="-44640" rIns="0" bIns="-44640" anchor="t">
            <a:noAutofit/>
          </a:bodyPr>
          <a:p>
            <a:pPr indent="0" algn="l">
              <a:lnSpc>
                <a:spcPct val="100000"/>
              </a:lnSpc>
              <a:buNone/>
              <a:tabLst>
                <a:tab pos="0" algn="l"/>
              </a:tabLst>
            </a:pPr>
            <a:r>
              <a:rPr lang="en-US" sz="2000" b="0" u="none" strike="noStrike">
                <a:solidFill>
                  <a:srgbClr val="000000"/>
                </a:solidFill>
                <a:effectLst/>
                <a:uFillTx/>
                <a:latin typeface="Arial"/>
              </a:rPr>
              <a:t>(about 30 seconds) Singapore has set clear national targets. No new diesel cars from 2025, every HDB town EV ready by 2025, all new car registrations cleaner-energy by 2030, and 60,000 charging points by 2030, all in line with net zero land transport emissions by 2050. The point to land is that this is a build-out on a deadline, and a build-out needs data to plan where charging points go and to check that they work. Our project is the data side of that.</a:t>
            </a:r>
            <a:endParaRPr lang="en-GB" sz="2000" b="0" u="none" strike="noStrike">
              <a:solidFill>
                <a:srgbClr val="000000"/>
              </a:solidFill>
              <a:effectLst/>
              <a:uFillTx/>
              <a:latin typeface="Arial"/>
            </a:endParaRPr>
          </a:p>
        </p:txBody>
      </p:sp>
      <p:sp>
        <p:nvSpPr>
          <p:cNvPr id="301" name="PlaceHolder 3"/>
          <p:cNvSpPr>
            <a:spLocks noGrp="1"/>
          </p:cNvSpPr>
          <p:nvPr>
            <p:ph type="sldNum" idx="5"/>
          </p:nvPr>
        </p:nvSpPr>
        <p:spPr>
          <a:xfrm>
            <a:off x="0" y="0"/>
            <a:ext cx="360" cy="360"/>
          </a:xfrm>
          <a:prstGeom prst="rect">
            <a:avLst/>
          </a:prstGeom>
          <a:noFill/>
          <a:ln w="0">
            <a:noFill/>
          </a:ln>
        </p:spPr>
        <p:txBody>
          <a:bodyPr lIns="0" tIns="-44640" rIns="0" bIns="-4464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33BDB880-59EE-46AD-86DA-38E523D4369D}" type="slidenum">
              <a:rPr lang="en-US" sz="1800" b="0" u="none" strike="noStrike">
                <a:solidFill>
                  <a:schemeClr val="dk1"/>
                </a:solidFill>
                <a:effectLst/>
                <a:uFillTx/>
                <a:latin typeface="+mn-lt"/>
                <a:ea typeface="+mn-ea"/>
              </a:rPr>
              <a:t>18</a:t>
            </a:fld>
            <a:endParaRPr lang="en-GB"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sldImg"/>
          </p:nvPr>
        </p:nvSpPr>
        <p:spPr>
          <a:xfrm>
            <a:off x="0" y="0"/>
            <a:ext cx="0" cy="0"/>
          </a:xfrm>
          <a:prstGeom prst="rect">
            <a:avLst/>
          </a:prstGeom>
          <a:ln w="0">
            <a:noFill/>
          </a:ln>
        </p:spPr>
      </p:sp>
      <p:sp>
        <p:nvSpPr>
          <p:cNvPr id="303" name="PlaceHolder 2"/>
          <p:cNvSpPr>
            <a:spLocks noGrp="1"/>
          </p:cNvSpPr>
          <p:nvPr>
            <p:ph type="body"/>
          </p:nvPr>
        </p:nvSpPr>
        <p:spPr>
          <a:xfrm>
            <a:off x="0" y="0"/>
            <a:ext cx="360" cy="360"/>
          </a:xfrm>
          <a:prstGeom prst="rect">
            <a:avLst/>
          </a:prstGeom>
          <a:noFill/>
          <a:ln w="0">
            <a:noFill/>
          </a:ln>
        </p:spPr>
        <p:txBody>
          <a:bodyPr lIns="0" tIns="-44640" rIns="0" bIns="-44640" anchor="t">
            <a:noAutofit/>
          </a:bodyPr>
          <a:p>
            <a:pPr indent="0" algn="l">
              <a:lnSpc>
                <a:spcPct val="100000"/>
              </a:lnSpc>
              <a:buNone/>
              <a:tabLst>
                <a:tab pos="0" algn="l"/>
              </a:tabLst>
            </a:pPr>
            <a:r>
              <a:rPr lang="en-US" sz="2000" b="0" u="none" strike="noStrike">
                <a:solidFill>
                  <a:srgbClr val="000000"/>
                </a:solidFill>
                <a:effectLst/>
                <a:uFillTx/>
                <a:latin typeface="Arial"/>
              </a:rPr>
              <a:t>(about 30 seconds) Here is where things stood in 2024. More than a third of new cars registered in the first half of that year were electric, over 21,800 electric cars are on the road, more than half of HDB carparks have EV charging points, and over 15,300 charging points exist islandwide. Demand is rising quickly. These are national figures from 2024, so they will differ from our snapshot, which is dated 13 October 2026 and counts what the LTA API currently publishes. So the question becomes: who has a trusted, up-to-date view of the charging network? That is the gap we fill.</a:t>
            </a:r>
            <a:endParaRPr lang="en-GB" sz="2000" b="0" u="none" strike="noStrike">
              <a:solidFill>
                <a:srgbClr val="000000"/>
              </a:solidFill>
              <a:effectLst/>
              <a:uFillTx/>
              <a:latin typeface="Arial"/>
            </a:endParaRPr>
          </a:p>
        </p:txBody>
      </p:sp>
      <p:sp>
        <p:nvSpPr>
          <p:cNvPr id="304" name="PlaceHolder 3"/>
          <p:cNvSpPr>
            <a:spLocks noGrp="1"/>
          </p:cNvSpPr>
          <p:nvPr>
            <p:ph type="sldNum" idx="6"/>
          </p:nvPr>
        </p:nvSpPr>
        <p:spPr>
          <a:xfrm>
            <a:off x="0" y="0"/>
            <a:ext cx="360" cy="360"/>
          </a:xfrm>
          <a:prstGeom prst="rect">
            <a:avLst/>
          </a:prstGeom>
          <a:noFill/>
          <a:ln w="0">
            <a:noFill/>
          </a:ln>
        </p:spPr>
        <p:txBody>
          <a:bodyPr lIns="0" tIns="-44640" rIns="0" bIns="-4464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B2911B51-DF2B-48D4-B6B5-710DED83621D}" type="slidenum">
              <a:rPr lang="en-US" sz="1800" b="0" u="none" strike="noStrike">
                <a:solidFill>
                  <a:schemeClr val="dk1"/>
                </a:solidFill>
                <a:effectLst/>
                <a:uFillTx/>
                <a:latin typeface="+mn-lt"/>
                <a:ea typeface="+mn-ea"/>
              </a:rPr>
              <a:t>18</a:t>
            </a:fld>
            <a:endParaRPr lang="en-GB" sz="18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sldImg"/>
          </p:nvPr>
        </p:nvSpPr>
        <p:spPr>
          <a:xfrm>
            <a:off x="0" y="0"/>
            <a:ext cx="0" cy="0"/>
          </a:xfrm>
          <a:prstGeom prst="rect">
            <a:avLst/>
          </a:prstGeom>
          <a:ln w="0">
            <a:noFill/>
          </a:ln>
        </p:spPr>
      </p:sp>
      <p:sp>
        <p:nvSpPr>
          <p:cNvPr id="306" name="PlaceHolder 2"/>
          <p:cNvSpPr>
            <a:spLocks noGrp="1"/>
          </p:cNvSpPr>
          <p:nvPr>
            <p:ph type="body"/>
          </p:nvPr>
        </p:nvSpPr>
        <p:spPr>
          <a:xfrm>
            <a:off x="0" y="0"/>
            <a:ext cx="360" cy="360"/>
          </a:xfrm>
          <a:prstGeom prst="rect">
            <a:avLst/>
          </a:prstGeom>
          <a:noFill/>
          <a:ln w="0">
            <a:noFill/>
          </a:ln>
        </p:spPr>
        <p:txBody>
          <a:bodyPr lIns="0" tIns="-44640" rIns="0" bIns="-44640" anchor="t">
            <a:noAutofit/>
          </a:bodyPr>
          <a:p>
            <a:pPr indent="0" algn="l">
              <a:lnSpc>
                <a:spcPct val="100000"/>
              </a:lnSpc>
              <a:buNone/>
              <a:tabLst>
                <a:tab pos="0" algn="l"/>
              </a:tabLst>
            </a:pPr>
            <a:r>
              <a:rPr lang="en-US" sz="2000" b="0" u="none" strike="noStrike">
                <a:solidFill>
                  <a:srgbClr val="000000"/>
                </a:solidFill>
                <a:effectLst/>
                <a:uFillTx/>
                <a:latin typeface="Arial"/>
              </a:rPr>
              <a:t>(about 45 seconds) In one line: we turned a live snapshot into a source people can trust. The problem is that the DataMall API only returns the current state of every charging point. There is no history, and no checks, so nobody can see how the network grows or trust the numbers. Our solution is a daily pipeline that loads each snapshot into BigQuery, models it as a star schema with dbt, and tests it with 58 automated checks. The result is one trusted source for coverage, charging speed, price and availability across 11,684 charging points and 29 operators, from our 13 October load. The history table already holds eight loads.</a:t>
            </a:r>
            <a:endParaRPr lang="en-GB" sz="2000" b="0" u="none" strike="noStrike">
              <a:solidFill>
                <a:srgbClr val="000000"/>
              </a:solidFill>
              <a:effectLst/>
              <a:uFillTx/>
              <a:latin typeface="Arial"/>
            </a:endParaRPr>
          </a:p>
        </p:txBody>
      </p:sp>
      <p:sp>
        <p:nvSpPr>
          <p:cNvPr id="307" name="PlaceHolder 3"/>
          <p:cNvSpPr>
            <a:spLocks noGrp="1"/>
          </p:cNvSpPr>
          <p:nvPr>
            <p:ph type="sldNum" idx="7"/>
          </p:nvPr>
        </p:nvSpPr>
        <p:spPr>
          <a:xfrm>
            <a:off x="0" y="0"/>
            <a:ext cx="360" cy="360"/>
          </a:xfrm>
          <a:prstGeom prst="rect">
            <a:avLst/>
          </a:prstGeom>
          <a:noFill/>
          <a:ln w="0">
            <a:noFill/>
          </a:ln>
        </p:spPr>
        <p:txBody>
          <a:bodyPr lIns="0" tIns="-44640" rIns="0" bIns="-4464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4E3D4D24-F916-4F15-8C3A-9A58C881E35F}" type="slidenum">
              <a:rPr lang="en-US" sz="1800" b="0" u="none" strike="noStrike">
                <a:solidFill>
                  <a:schemeClr val="dk1"/>
                </a:solidFill>
                <a:effectLst/>
                <a:uFillTx/>
                <a:latin typeface="+mn-lt"/>
                <a:ea typeface="+mn-ea"/>
              </a:rPr>
              <a:t>18</a:t>
            </a:fld>
            <a:endParaRPr lang="en-GB"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sldImg"/>
          </p:nvPr>
        </p:nvSpPr>
        <p:spPr>
          <a:xfrm>
            <a:off x="0" y="0"/>
            <a:ext cx="0" cy="0"/>
          </a:xfrm>
          <a:prstGeom prst="rect">
            <a:avLst/>
          </a:prstGeom>
          <a:ln w="0">
            <a:noFill/>
          </a:ln>
        </p:spPr>
      </p:sp>
      <p:sp>
        <p:nvSpPr>
          <p:cNvPr id="309" name="PlaceHolder 2"/>
          <p:cNvSpPr>
            <a:spLocks noGrp="1"/>
          </p:cNvSpPr>
          <p:nvPr>
            <p:ph type="body"/>
          </p:nvPr>
        </p:nvSpPr>
        <p:spPr>
          <a:xfrm>
            <a:off x="0" y="0"/>
            <a:ext cx="360" cy="360"/>
          </a:xfrm>
          <a:prstGeom prst="rect">
            <a:avLst/>
          </a:prstGeom>
          <a:noFill/>
          <a:ln w="0">
            <a:noFill/>
          </a:ln>
        </p:spPr>
        <p:txBody>
          <a:bodyPr lIns="0" tIns="-44640" rIns="0" bIns="-44640" anchor="t">
            <a:noAutofit/>
          </a:bodyPr>
          <a:p>
            <a:pPr indent="0" algn="l">
              <a:lnSpc>
                <a:spcPct val="100000"/>
              </a:lnSpc>
              <a:buNone/>
              <a:tabLst>
                <a:tab pos="0" algn="l"/>
              </a:tabLst>
            </a:pPr>
            <a:r>
              <a:rPr lang="en-US" sz="2000" b="0" u="none" strike="noStrike">
                <a:solidFill>
                  <a:srgbClr val="000000"/>
                </a:solidFill>
                <a:effectLst/>
                <a:uFillTx/>
                <a:latin typeface="Arial"/>
              </a:rPr>
              <a:t>(about 40 seconds) The platform is built around four questions people actually ask. Who runs the network, which helps planners see gaps and concentration. How fast can drivers charge, meaning the mix of AC and fast DC charging points by region. What does it cost, including which operators publish no price at all. And is a charging point free, with availability by point and how it moves between daily loads. Each answer is a query on tested tables, instead of manual downloads and spreadsheet checks. These map to real decisions: where to site new charging points, which operators to partner with, and how reliable availability is.</a:t>
            </a:r>
            <a:endParaRPr lang="en-GB" sz="2000" b="0" u="none" strike="noStrike">
              <a:solidFill>
                <a:srgbClr val="000000"/>
              </a:solidFill>
              <a:effectLst/>
              <a:uFillTx/>
              <a:latin typeface="Arial"/>
            </a:endParaRPr>
          </a:p>
        </p:txBody>
      </p:sp>
      <p:sp>
        <p:nvSpPr>
          <p:cNvPr id="310" name="PlaceHolder 3"/>
          <p:cNvSpPr>
            <a:spLocks noGrp="1"/>
          </p:cNvSpPr>
          <p:nvPr>
            <p:ph type="sldNum" idx="8"/>
          </p:nvPr>
        </p:nvSpPr>
        <p:spPr>
          <a:xfrm>
            <a:off x="0" y="0"/>
            <a:ext cx="360" cy="360"/>
          </a:xfrm>
          <a:prstGeom prst="rect">
            <a:avLst/>
          </a:prstGeom>
          <a:noFill/>
          <a:ln w="0">
            <a:noFill/>
          </a:ln>
        </p:spPr>
        <p:txBody>
          <a:bodyPr lIns="0" tIns="-44640" rIns="0" bIns="-4464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9E1309A6-236F-49B5-80CC-D217927C84EF}" type="slidenum">
              <a:rPr lang="en-US" sz="1800" b="0" u="none" strike="noStrike">
                <a:solidFill>
                  <a:schemeClr val="dk1"/>
                </a:solidFill>
                <a:effectLst/>
                <a:uFillTx/>
                <a:latin typeface="+mn-lt"/>
                <a:ea typeface="+mn-ea"/>
              </a:rPr>
              <a:t>18</a:t>
            </a:fld>
            <a:endParaRPr lang="en-GB"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sldImg"/>
          </p:nvPr>
        </p:nvSpPr>
        <p:spPr>
          <a:xfrm>
            <a:off x="0" y="0"/>
            <a:ext cx="0" cy="0"/>
          </a:xfrm>
          <a:prstGeom prst="rect">
            <a:avLst/>
          </a:prstGeom>
          <a:ln w="0">
            <a:noFill/>
          </a:ln>
        </p:spPr>
      </p:sp>
      <p:sp>
        <p:nvSpPr>
          <p:cNvPr id="312" name="PlaceHolder 2"/>
          <p:cNvSpPr>
            <a:spLocks noGrp="1"/>
          </p:cNvSpPr>
          <p:nvPr>
            <p:ph type="body"/>
          </p:nvPr>
        </p:nvSpPr>
        <p:spPr>
          <a:xfrm>
            <a:off x="0" y="0"/>
            <a:ext cx="360" cy="360"/>
          </a:xfrm>
          <a:prstGeom prst="rect">
            <a:avLst/>
          </a:prstGeom>
          <a:noFill/>
          <a:ln w="0">
            <a:noFill/>
          </a:ln>
        </p:spPr>
        <p:txBody>
          <a:bodyPr lIns="0" tIns="-44640" rIns="0" bIns="-44640" anchor="t">
            <a:noAutofit/>
          </a:bodyPr>
          <a:p>
            <a:pPr indent="0" algn="l">
              <a:lnSpc>
                <a:spcPct val="100000"/>
              </a:lnSpc>
              <a:buNone/>
              <a:tabLst>
                <a:tab pos="0" algn="l"/>
              </a:tabLst>
            </a:pPr>
            <a:r>
              <a:rPr lang="en-US" sz="2000" b="0" u="none" strike="noStrike">
                <a:solidFill>
                  <a:srgbClr val="000000"/>
                </a:solidFill>
                <a:effectLst/>
                <a:uFillTx/>
                <a:latin typeface="Arial"/>
              </a:rPr>
              <a:t>-   From the diagram, Singapore has the highest average monthly income, gasoline price and fuel affordability index. </a:t>
            </a:r>
            <a:endParaRPr lang="en-GB" sz="2000" b="0" u="none" strike="noStrike">
              <a:solidFill>
                <a:srgbClr val="000000"/>
              </a:solidFill>
              <a:effectLst/>
              <a:uFillTx/>
              <a:latin typeface="Arial"/>
            </a:endParaRPr>
          </a:p>
          <a:p>
            <a:pPr marL="171360" indent="-171360" algn="l">
              <a:lnSpc>
                <a:spcPct val="100000"/>
              </a:lnSpc>
              <a:buClr>
                <a:srgbClr val="000000"/>
              </a:buClr>
              <a:buFont typeface="OpenSymbol"/>
              <a:buChar char="-"/>
              <a:tabLst>
                <a:tab pos="0" algn="l"/>
              </a:tabLst>
            </a:pPr>
            <a:r>
              <a:rPr lang="en-US" sz="2000" b="0" u="none" strike="noStrike">
                <a:solidFill>
                  <a:srgbClr val="000000"/>
                </a:solidFill>
                <a:effectLst/>
                <a:uFillTx/>
                <a:latin typeface="Arial"/>
              </a:rPr>
              <a:t>This led to next slide, the car COE supply and forecast EV and non-EV registrations from 2026 to 2030. </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r">
              <a:lnSpc>
                <a:spcPct val="100000"/>
              </a:lnSpc>
              <a:buNone/>
              <a:tabLst>
                <a:tab pos="0" algn="l"/>
              </a:tabLst>
            </a:pPr>
            <a:r>
              <a:rPr lang="en-US" sz="2000" b="0" u="none" strike="noStrike">
                <a:solidFill>
                  <a:srgbClr val="000000"/>
                </a:solidFill>
                <a:effectLst/>
                <a:uFillTx/>
                <a:latin typeface="Arial"/>
              </a:rPr>
              <a:t>(The source files and VS Code are in our GitHub repository)</a:t>
            </a:r>
            <a:endParaRPr lang="en-GB" sz="2000" b="0" u="none" strike="noStrike">
              <a:solidFill>
                <a:srgbClr val="000000"/>
              </a:solidFill>
              <a:effectLst/>
              <a:uFillTx/>
              <a:latin typeface="Arial"/>
            </a:endParaRPr>
          </a:p>
        </p:txBody>
      </p:sp>
      <p:sp>
        <p:nvSpPr>
          <p:cNvPr id="313" name="PlaceHolder 3"/>
          <p:cNvSpPr>
            <a:spLocks noGrp="1"/>
          </p:cNvSpPr>
          <p:nvPr>
            <p:ph type="sldNum" idx="9"/>
          </p:nvPr>
        </p:nvSpPr>
        <p:spPr>
          <a:xfrm>
            <a:off x="0" y="0"/>
            <a:ext cx="360" cy="360"/>
          </a:xfrm>
          <a:prstGeom prst="rect">
            <a:avLst/>
          </a:prstGeom>
          <a:noFill/>
          <a:ln w="0">
            <a:noFill/>
          </a:ln>
        </p:spPr>
        <p:txBody>
          <a:bodyPr lIns="0" tIns="-44640" rIns="0" bIns="-4464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DB827DB6-DDD0-4CBF-BF93-C945B406449D}" type="slidenum">
              <a:rPr lang="en-US" sz="1800" b="0" u="none" strike="noStrike">
                <a:solidFill>
                  <a:schemeClr val="dk1"/>
                </a:solidFill>
                <a:effectLst/>
                <a:uFillTx/>
                <a:latin typeface="+mn-lt"/>
                <a:ea typeface="+mn-ea"/>
              </a:rPr>
              <a:t>18</a:t>
            </a:fld>
            <a:endParaRPr lang="en-GB" sz="18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type="sldImg"/>
          </p:nvPr>
        </p:nvSpPr>
        <p:spPr>
          <a:xfrm>
            <a:off x="-228600" y="1523880"/>
            <a:ext cx="7314480" cy="4114080"/>
          </a:xfrm>
          <a:prstGeom prst="rect">
            <a:avLst/>
          </a:prstGeom>
          <a:ln w="0">
            <a:noFill/>
          </a:ln>
        </p:spPr>
      </p:sp>
      <p:sp>
        <p:nvSpPr>
          <p:cNvPr id="315" name="PlaceHolder 2"/>
          <p:cNvSpPr>
            <a:spLocks noGrp="1"/>
          </p:cNvSpPr>
          <p:nvPr>
            <p:ph type="body"/>
          </p:nvPr>
        </p:nvSpPr>
        <p:spPr>
          <a:xfrm>
            <a:off x="685800" y="5867280"/>
            <a:ext cx="5485680" cy="4799880"/>
          </a:xfrm>
          <a:prstGeom prst="rect">
            <a:avLst/>
          </a:prstGeom>
          <a:noFill/>
          <a:ln w="0">
            <a:noFill/>
          </a:ln>
        </p:spPr>
        <p:txBody>
          <a:bodyPr lIns="90000" tIns="45000" rIns="90000" bIns="45000" anchor="t">
            <a:noAutofit/>
          </a:bodyPr>
          <a:p>
            <a:pPr marL="171360" indent="-171360" algn="l">
              <a:lnSpc>
                <a:spcPct val="100000"/>
              </a:lnSpc>
              <a:buClr>
                <a:srgbClr val="000000"/>
              </a:buClr>
              <a:buFont typeface="OpenSymbol"/>
              <a:buChar char="-"/>
            </a:pPr>
            <a:r>
              <a:rPr lang="en-US" sz="2000" b="0" u="none" strike="noStrike">
                <a:solidFill>
                  <a:srgbClr val="000000"/>
                </a:solidFill>
                <a:effectLst/>
                <a:uFillTx/>
                <a:latin typeface="Arial"/>
              </a:rPr>
              <a:t>We combine Cat A, B and E into general car COE supply. At the peak of 90k in 2016, it reduce to 45k in 2026. </a:t>
            </a:r>
            <a:endParaRPr lang="en-GB" sz="2000" b="0" u="none" strike="noStrike">
              <a:solidFill>
                <a:srgbClr val="000000"/>
              </a:solidFill>
              <a:effectLst/>
              <a:uFillTx/>
              <a:latin typeface="Arial"/>
            </a:endParaRPr>
          </a:p>
          <a:p>
            <a:pPr marL="171360" indent="-171360" algn="l">
              <a:lnSpc>
                <a:spcPct val="100000"/>
              </a:lnSpc>
              <a:buClr>
                <a:srgbClr val="000000"/>
              </a:buClr>
              <a:buFont typeface="OpenSymbol"/>
              <a:buChar char="-"/>
            </a:pPr>
            <a:r>
              <a:rPr lang="en-US" sz="2000" b="0" u="none" strike="noStrike">
                <a:solidFill>
                  <a:srgbClr val="000000"/>
                </a:solidFill>
                <a:effectLst/>
                <a:uFillTx/>
                <a:latin typeface="Arial"/>
              </a:rPr>
              <a:t>To predict future car COE supply, we use a linear regression model with a 10-year lag (this model uses 10 years old historical data to calculate a line of best fit for future), which accounts for the 10-year COE expiration period. </a:t>
            </a:r>
            <a:endParaRPr lang="en-GB" sz="2000" b="0" u="none" strike="noStrike">
              <a:solidFill>
                <a:srgbClr val="000000"/>
              </a:solidFill>
              <a:effectLst/>
              <a:uFillTx/>
              <a:latin typeface="Arial"/>
            </a:endParaRPr>
          </a:p>
          <a:p>
            <a:pPr marL="171360" indent="-171360" algn="l">
              <a:lnSpc>
                <a:spcPct val="100000"/>
              </a:lnSpc>
              <a:buClr>
                <a:srgbClr val="000000"/>
              </a:buClr>
              <a:buFont typeface="OpenSymbol"/>
              <a:buChar char="-"/>
            </a:pPr>
            <a:r>
              <a:rPr lang="en-US" sz="2000" b="0" u="none" strike="noStrike">
                <a:solidFill>
                  <a:srgbClr val="000000"/>
                </a:solidFill>
                <a:effectLst/>
                <a:uFillTx/>
                <a:latin typeface="Arial"/>
              </a:rPr>
              <a:t>Forecast 2026/2027 should remain at around 66k. The new EV car registration expects to consist 82% in 2027 and increase to 98% in 2030. </a:t>
            </a:r>
            <a:endParaRPr lang="en-GB" sz="2000" b="0" u="none" strike="noStrike">
              <a:solidFill>
                <a:srgbClr val="000000"/>
              </a:solidFill>
              <a:effectLst/>
              <a:uFillTx/>
              <a:latin typeface="Arial"/>
            </a:endParaRPr>
          </a:p>
          <a:p>
            <a:pPr marL="171360" indent="-171360" algn="l">
              <a:lnSpc>
                <a:spcPct val="100000"/>
              </a:lnSpc>
              <a:buClr>
                <a:srgbClr val="000000"/>
              </a:buClr>
              <a:buFont typeface="OpenSymbol"/>
              <a:buChar char="-"/>
            </a:pPr>
            <a:r>
              <a:rPr lang="en-US" sz="2000" b="0" u="none" strike="noStrike">
                <a:solidFill>
                  <a:srgbClr val="000000"/>
                </a:solidFill>
                <a:effectLst/>
                <a:uFillTx/>
                <a:latin typeface="Arial"/>
              </a:rPr>
              <a:t>This led us to research on the EV charging operator and EV market in Singapore.</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r">
              <a:lnSpc>
                <a:spcPct val="100000"/>
              </a:lnSpc>
              <a:buNone/>
              <a:tabLst>
                <a:tab pos="0" algn="l"/>
              </a:tabLst>
            </a:pPr>
            <a:r>
              <a:rPr lang="en-US" sz="2000" b="0" u="none" strike="noStrike">
                <a:solidFill>
                  <a:srgbClr val="000000"/>
                </a:solidFill>
                <a:effectLst/>
                <a:uFillTx/>
                <a:latin typeface="Arial"/>
              </a:rPr>
              <a:t>(The source files and VS Code are in our GitHub repository)</a:t>
            </a:r>
            <a:endParaRPr lang="en-GB" sz="2000" b="0" u="none" strike="noStrik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sldImg"/>
          </p:nvPr>
        </p:nvSpPr>
        <p:spPr>
          <a:xfrm>
            <a:off x="0" y="0"/>
            <a:ext cx="0" cy="0"/>
          </a:xfrm>
          <a:prstGeom prst="rect">
            <a:avLst/>
          </a:prstGeom>
          <a:ln w="0">
            <a:noFill/>
          </a:ln>
        </p:spPr>
      </p:sp>
      <p:sp>
        <p:nvSpPr>
          <p:cNvPr id="317" name="PlaceHolder 2"/>
          <p:cNvSpPr>
            <a:spLocks noGrp="1"/>
          </p:cNvSpPr>
          <p:nvPr>
            <p:ph type="body"/>
          </p:nvPr>
        </p:nvSpPr>
        <p:spPr>
          <a:xfrm>
            <a:off x="0" y="0"/>
            <a:ext cx="360" cy="360"/>
          </a:xfrm>
          <a:prstGeom prst="rect">
            <a:avLst/>
          </a:prstGeom>
          <a:noFill/>
          <a:ln w="0">
            <a:noFill/>
          </a:ln>
        </p:spPr>
        <p:txBody>
          <a:bodyPr lIns="0" tIns="-44640" rIns="0" bIns="-44640" anchor="t">
            <a:noAutofit/>
          </a:bodyPr>
          <a:p>
            <a:pPr indent="0" algn="l">
              <a:lnSpc>
                <a:spcPct val="100000"/>
              </a:lnSpc>
              <a:buNone/>
              <a:tabLst>
                <a:tab pos="0" algn="l"/>
              </a:tabLst>
            </a:pPr>
            <a:r>
              <a:rPr lang="en-US" sz="2000" b="0" u="none" strike="noStrike">
                <a:solidFill>
                  <a:srgbClr val="000000"/>
                </a:solidFill>
                <a:effectLst/>
                <a:uFillTx/>
                <a:latin typeface="Arial"/>
              </a:rPr>
              <a:t>-   The source is the LTA DataMall API, which gives a daily batch of every charging point. </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A Python script loads it into the raw layer in BigQuery, and every load is kept exactly as ingested. dbt then cleans and types the data in staging, and builds the analytics layer. Place historical snapshot at ev_charging history.</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VS Code analytics scripts sit on top, using the BigQuery Python client and pandas. </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Great Expectations checks every layer, with 58 tests on 9 tables, alongside dbt tests and a Pandas and Polars cross-check of regional counts. In production.</a:t>
            </a:r>
            <a:endParaRPr lang="en-GB" sz="2000" b="0" u="none" strike="noStrike">
              <a:solidFill>
                <a:srgbClr val="000000"/>
              </a:solidFill>
              <a:effectLst/>
              <a:uFillTx/>
              <a:latin typeface="Arial"/>
            </a:endParaRPr>
          </a:p>
          <a:p>
            <a:pPr marL="171360" indent="-171360" algn="l">
              <a:lnSpc>
                <a:spcPct val="100000"/>
              </a:lnSpc>
              <a:buClr>
                <a:srgbClr val="000000"/>
              </a:buClr>
              <a:buFont typeface="OpenSymbol"/>
              <a:buChar char="-"/>
              <a:tabLst>
                <a:tab pos="0" algn="l"/>
              </a:tabLst>
            </a:pPr>
            <a:r>
              <a:rPr lang="en-US" sz="2000" b="0" u="none" strike="noStrike">
                <a:solidFill>
                  <a:srgbClr val="000000"/>
                </a:solidFill>
                <a:effectLst/>
                <a:uFillTx/>
                <a:latin typeface="Arial"/>
              </a:rPr>
              <a:t>Cloud Scheduler triggers a Cloud Run job daily at 09:30 Singapore time, which runs ingestion and dbt. The API key is held in Google Secret Manager. </a:t>
            </a:r>
            <a:endParaRPr lang="en-GB" sz="2000" b="0" u="none" strike="noStrike">
              <a:solidFill>
                <a:srgbClr val="000000"/>
              </a:solidFill>
              <a:effectLst/>
              <a:uFillTx/>
              <a:latin typeface="Arial"/>
            </a:endParaRPr>
          </a:p>
          <a:p>
            <a:pPr marL="171360" indent="-171360" algn="l">
              <a:lnSpc>
                <a:spcPct val="100000"/>
              </a:lnSpc>
              <a:buClr>
                <a:srgbClr val="000000"/>
              </a:buClr>
              <a:buFont typeface="OpenSymbol"/>
              <a:buChar char="-"/>
              <a:tabLst>
                <a:tab pos="0" algn="l"/>
              </a:tabLst>
            </a:pPr>
            <a:r>
              <a:rPr lang="en-US" sz="2000" b="0" u="none" strike="noStrike">
                <a:solidFill>
                  <a:srgbClr val="000000"/>
                </a:solidFill>
                <a:effectLst/>
                <a:uFillTx/>
                <a:latin typeface="Arial"/>
              </a:rPr>
              <a:t>Dagster inside Docker runs the full pipeline, including the Python analytics, on demand.</a:t>
            </a:r>
            <a:endParaRPr lang="en-GB" sz="2000" b="0" u="none" strike="noStrike">
              <a:solidFill>
                <a:srgbClr val="000000"/>
              </a:solidFill>
              <a:effectLst/>
              <a:uFillTx/>
              <a:latin typeface="Arial"/>
            </a:endParaRPr>
          </a:p>
        </p:txBody>
      </p:sp>
      <p:sp>
        <p:nvSpPr>
          <p:cNvPr id="318" name="PlaceHolder 3"/>
          <p:cNvSpPr>
            <a:spLocks noGrp="1"/>
          </p:cNvSpPr>
          <p:nvPr>
            <p:ph type="sldNum" idx="10"/>
          </p:nvPr>
        </p:nvSpPr>
        <p:spPr>
          <a:xfrm>
            <a:off x="0" y="0"/>
            <a:ext cx="360" cy="360"/>
          </a:xfrm>
          <a:prstGeom prst="rect">
            <a:avLst/>
          </a:prstGeom>
          <a:noFill/>
          <a:ln w="0">
            <a:noFill/>
          </a:ln>
        </p:spPr>
        <p:txBody>
          <a:bodyPr lIns="0" tIns="-44640" rIns="0" bIns="-4464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837C773F-1263-430E-A8CC-1E49E1E0A963}" type="slidenum">
              <a:rPr lang="en-US" sz="1800" b="0" u="none" strike="noStrike">
                <a:solidFill>
                  <a:schemeClr val="dk1"/>
                </a:solidFill>
                <a:effectLst/>
                <a:uFillTx/>
                <a:latin typeface="+mn-lt"/>
                <a:ea typeface="+mn-ea"/>
              </a:rPr>
              <a:t>18</a:t>
            </a:fld>
            <a:endParaRPr lang="en-GB" sz="18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sldImg"/>
          </p:nvPr>
        </p:nvSpPr>
        <p:spPr>
          <a:xfrm>
            <a:off x="0" y="0"/>
            <a:ext cx="0" cy="0"/>
          </a:xfrm>
          <a:prstGeom prst="rect">
            <a:avLst/>
          </a:prstGeom>
          <a:ln w="0">
            <a:noFill/>
          </a:ln>
        </p:spPr>
      </p:sp>
      <p:sp>
        <p:nvSpPr>
          <p:cNvPr id="320" name="PlaceHolder 2"/>
          <p:cNvSpPr>
            <a:spLocks noGrp="1"/>
          </p:cNvSpPr>
          <p:nvPr>
            <p:ph type="body"/>
          </p:nvPr>
        </p:nvSpPr>
        <p:spPr>
          <a:xfrm>
            <a:off x="0" y="0"/>
            <a:ext cx="360" cy="360"/>
          </a:xfrm>
          <a:prstGeom prst="rect">
            <a:avLst/>
          </a:prstGeom>
          <a:noFill/>
          <a:ln w="0">
            <a:noFill/>
          </a:ln>
        </p:spPr>
        <p:txBody>
          <a:bodyPr lIns="0" tIns="-44640" rIns="0" bIns="-44640" anchor="t">
            <a:noAutofit/>
          </a:bodyPr>
          <a:p>
            <a:pPr indent="0" algn="l">
              <a:lnSpc>
                <a:spcPct val="100000"/>
              </a:lnSpc>
              <a:buNone/>
              <a:tabLst>
                <a:tab pos="0" algn="l"/>
              </a:tabLst>
            </a:pPr>
            <a:r>
              <a:rPr lang="en-US" sz="2000" b="0" u="none" strike="noStrike">
                <a:solidFill>
                  <a:srgbClr val="000000"/>
                </a:solidFill>
                <a:effectLst/>
                <a:uFillTx/>
                <a:latin typeface="Arial"/>
              </a:rPr>
              <a:t>-   We used a star schema. In the middle is the fact table, fct_ev_charging_points, with status, price and timestamps for each point in the latest load. </a:t>
            </a:r>
            <a:endParaRPr lang="en-GB" sz="2000" b="0" u="none" strike="noStrike">
              <a:solidFill>
                <a:srgbClr val="000000"/>
              </a:solidFill>
              <a:effectLst/>
              <a:uFillTx/>
              <a:latin typeface="Arial"/>
            </a:endParaRPr>
          </a:p>
          <a:p>
            <a:pPr marL="171360" indent="-171360" algn="l">
              <a:lnSpc>
                <a:spcPct val="100000"/>
              </a:lnSpc>
              <a:buClr>
                <a:srgbClr val="000000"/>
              </a:buClr>
              <a:buFont typeface="OpenSymbol"/>
              <a:buChar char="-"/>
              <a:tabLst>
                <a:tab pos="0" algn="l"/>
              </a:tabLst>
            </a:pPr>
            <a:r>
              <a:rPr lang="en-US" sz="2000" b="0" u="none" strike="noStrike">
                <a:solidFill>
                  <a:srgbClr val="000000"/>
                </a:solidFill>
                <a:effectLst/>
                <a:uFillTx/>
                <a:latin typeface="Arial"/>
              </a:rPr>
              <a:t>It joins on the charging point ID to the dimension, dim_ev_charger, which holds one row per charging point with operator, location, plug and power, 11,684 rows. </a:t>
            </a:r>
            <a:endParaRPr lang="en-GB" sz="2000" b="0" u="none" strike="noStrike">
              <a:solidFill>
                <a:srgbClr val="000000"/>
              </a:solidFill>
              <a:effectLst/>
              <a:uFillTx/>
              <a:latin typeface="Arial"/>
            </a:endParaRPr>
          </a:p>
          <a:p>
            <a:pPr marL="171360" indent="-171360" algn="l">
              <a:lnSpc>
                <a:spcPct val="100000"/>
              </a:lnSpc>
              <a:buClr>
                <a:srgbClr val="000000"/>
              </a:buClr>
              <a:buFont typeface="OpenSymbol"/>
              <a:buChar char="-"/>
              <a:tabLst>
                <a:tab pos="0" algn="l"/>
              </a:tabLst>
            </a:pPr>
            <a:r>
              <a:rPr lang="en-US" sz="2000" b="0" u="none" strike="noStrike">
                <a:solidFill>
                  <a:srgbClr val="000000"/>
                </a:solidFill>
                <a:effectLst/>
                <a:uFillTx/>
                <a:latin typeface="Arial"/>
              </a:rPr>
              <a:t>On the right are three report tables, by region, by operator, and by operator and region. </a:t>
            </a:r>
            <a:endParaRPr lang="en-GB" sz="2000" b="0" u="none" strike="noStrike">
              <a:solidFill>
                <a:srgbClr val="000000"/>
              </a:solidFill>
              <a:effectLst/>
              <a:uFillTx/>
              <a:latin typeface="Arial"/>
            </a:endParaRPr>
          </a:p>
          <a:p>
            <a:pPr marL="171360" indent="-171360" algn="l">
              <a:lnSpc>
                <a:spcPct val="100000"/>
              </a:lnSpc>
              <a:buClr>
                <a:srgbClr val="000000"/>
              </a:buClr>
              <a:buFont typeface="OpenSymbol"/>
              <a:buChar char="-"/>
              <a:tabLst>
                <a:tab pos="0" algn="l"/>
              </a:tabLst>
            </a:pPr>
            <a:r>
              <a:rPr lang="en-US" sz="2000" b="0" u="none" strike="noStrike">
                <a:solidFill>
                  <a:srgbClr val="000000"/>
                </a:solidFill>
                <a:effectLst/>
                <a:uFillTx/>
                <a:latin typeface="Arial"/>
              </a:rPr>
              <a:t>Why this design: analytical questions are mostly one fact table joined to one descriptive table, which BigQuery runs efficiently, and descriptive attributes are stored once. </a:t>
            </a:r>
            <a:endParaRPr lang="en-GB" sz="2000" b="0" u="none" strike="noStrike">
              <a:solidFill>
                <a:srgbClr val="000000"/>
              </a:solidFill>
              <a:effectLst/>
              <a:uFillTx/>
              <a:latin typeface="Arial"/>
            </a:endParaRPr>
          </a:p>
          <a:p>
            <a:pPr marL="171360" indent="-171360" algn="l">
              <a:lnSpc>
                <a:spcPct val="100000"/>
              </a:lnSpc>
              <a:buClr>
                <a:srgbClr val="000000"/>
              </a:buClr>
              <a:buFont typeface="OpenSymbol"/>
              <a:buChar char="-"/>
              <a:tabLst>
                <a:tab pos="0" algn="l"/>
              </a:tabLst>
            </a:pPr>
            <a:r>
              <a:rPr lang="en-US" sz="2000" b="0" u="none" strike="noStrike">
                <a:solidFill>
                  <a:srgbClr val="000000"/>
                </a:solidFill>
                <a:effectLst/>
                <a:uFillTx/>
                <a:latin typeface="Arial"/>
              </a:rPr>
              <a:t>Summaries are precomputed so dashboards stay fast. Every load is also kept in a raw history table of 92,880 rows for trend analysis. </a:t>
            </a:r>
            <a:endParaRPr lang="en-GB" sz="2000" b="0" u="none" strike="noStrike">
              <a:solidFill>
                <a:srgbClr val="000000"/>
              </a:solidFill>
              <a:effectLst/>
              <a:uFillTx/>
              <a:latin typeface="Arial"/>
            </a:endParaRPr>
          </a:p>
          <a:p>
            <a:pPr marL="171360" indent="-171360" algn="l">
              <a:lnSpc>
                <a:spcPct val="100000"/>
              </a:lnSpc>
              <a:buClr>
                <a:srgbClr val="000000"/>
              </a:buClr>
              <a:buFont typeface="OpenSymbol"/>
              <a:buChar char="-"/>
              <a:tabLst>
                <a:tab pos="0" algn="l"/>
              </a:tabLst>
            </a:pPr>
            <a:r>
              <a:rPr lang="en-US" sz="2000" b="0" u="none" strike="noStrike">
                <a:solidFill>
                  <a:srgbClr val="000000"/>
                </a:solidFill>
                <a:effectLst/>
                <a:uFillTx/>
                <a:latin typeface="Arial"/>
              </a:rPr>
              <a:t>One honest limitation: the fact table holds only the latest load, and history lives in that raw table.</a:t>
            </a:r>
            <a:endParaRPr lang="en-GB" sz="2000" b="0" u="none" strike="noStrike">
              <a:solidFill>
                <a:srgbClr val="000000"/>
              </a:solidFill>
              <a:effectLst/>
              <a:uFillTx/>
              <a:latin typeface="Arial"/>
            </a:endParaRPr>
          </a:p>
        </p:txBody>
      </p:sp>
      <p:sp>
        <p:nvSpPr>
          <p:cNvPr id="321" name="PlaceHolder 3"/>
          <p:cNvSpPr>
            <a:spLocks noGrp="1"/>
          </p:cNvSpPr>
          <p:nvPr>
            <p:ph type="sldNum" idx="11"/>
          </p:nvPr>
        </p:nvSpPr>
        <p:spPr>
          <a:xfrm>
            <a:off x="0" y="0"/>
            <a:ext cx="360" cy="360"/>
          </a:xfrm>
          <a:prstGeom prst="rect">
            <a:avLst/>
          </a:prstGeom>
          <a:noFill/>
          <a:ln w="0">
            <a:noFill/>
          </a:ln>
        </p:spPr>
        <p:txBody>
          <a:bodyPr lIns="0" tIns="-44640" rIns="0" bIns="-4464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A111FE7F-8EE4-4CB9-B55B-77929DC41466}" type="slidenum">
              <a:rPr lang="en-US" sz="1800" b="0" u="none" strike="noStrike">
                <a:solidFill>
                  <a:schemeClr val="dk1"/>
                </a:solidFill>
                <a:effectLst/>
                <a:uFillTx/>
                <a:latin typeface="+mn-lt"/>
                <a:ea typeface="+mn-ea"/>
              </a:rPr>
              <a:t>18</a:t>
            </a:fld>
            <a:endParaRPr lang="en-GB" sz="18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sldImg"/>
          </p:nvPr>
        </p:nvSpPr>
        <p:spPr>
          <a:xfrm>
            <a:off x="-360" y="-360"/>
            <a:ext cx="360" cy="360"/>
          </a:xfrm>
          <a:prstGeom prst="rect">
            <a:avLst/>
          </a:prstGeom>
          <a:ln w="0">
            <a:noFill/>
          </a:ln>
        </p:spPr>
      </p:sp>
      <p:sp>
        <p:nvSpPr>
          <p:cNvPr id="323" name="PlaceHolder 2"/>
          <p:cNvSpPr>
            <a:spLocks noGrp="1"/>
          </p:cNvSpPr>
          <p:nvPr>
            <p:ph type="body"/>
          </p:nvPr>
        </p:nvSpPr>
        <p:spPr>
          <a:xfrm>
            <a:off x="0" y="0"/>
            <a:ext cx="360" cy="360"/>
          </a:xfrm>
          <a:prstGeom prst="rect">
            <a:avLst/>
          </a:prstGeom>
          <a:noFill/>
          <a:ln w="0">
            <a:noFill/>
          </a:ln>
        </p:spPr>
        <p:txBody>
          <a:bodyPr lIns="0" tIns="-44640" rIns="0" bIns="-44640" anchor="t">
            <a:noAutofit/>
          </a:bodyPr>
          <a:p>
            <a:pPr indent="0" algn="l">
              <a:lnSpc>
                <a:spcPct val="100000"/>
              </a:lnSpc>
              <a:buNone/>
              <a:tabLst>
                <a:tab pos="0" algn="l"/>
              </a:tabLst>
            </a:pPr>
            <a:r>
              <a:rPr lang="en-US" sz="2000" b="0" u="none" strike="noStrike">
                <a:solidFill>
                  <a:srgbClr val="000000"/>
                </a:solidFill>
                <a:effectLst/>
                <a:uFillTx/>
                <a:latin typeface="Arial"/>
                <a:ea typeface="Noto Sans CJK SC"/>
              </a:rPr>
              <a:t>- We run 58 automated checks using Great Expectations across 9 tables, covering every layer. </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ea typeface="Noto Sans CJK SC"/>
              </a:rPr>
              <a:t>- They check that keys are unique and no fact row is orphaned, that values, formats and ranges are valid, that row counts agree between layers, and that Pandas and Polars agree on regional counts. </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ea typeface="Noto Sans CJK SC"/>
              </a:rPr>
              <a:t>- The checks also surfaced a real finding. So, 207 points, 1.8 percent, publish no price. That is an upstream data gap, not a pipeline error, so our price averages exclude them. </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ea typeface="Noto Sans CJK SC"/>
              </a:rPr>
              <a:t>- The script returns a pass or fail exit code, which allows us to stop the data from loading if the data failed the tests.</a:t>
            </a:r>
            <a:endParaRPr lang="en-GB" sz="2000" b="0" u="none" strike="noStrike">
              <a:solidFill>
                <a:srgbClr val="000000"/>
              </a:solidFill>
              <a:effectLst/>
              <a:uFillTx/>
              <a:latin typeface="Arial"/>
            </a:endParaRPr>
          </a:p>
        </p:txBody>
      </p:sp>
      <p:sp>
        <p:nvSpPr>
          <p:cNvPr id="324" name="PlaceHolder 3"/>
          <p:cNvSpPr>
            <a:spLocks noGrp="1"/>
          </p:cNvSpPr>
          <p:nvPr>
            <p:ph type="sldNum" idx="12"/>
          </p:nvPr>
        </p:nvSpPr>
        <p:spPr>
          <a:xfrm>
            <a:off x="0" y="0"/>
            <a:ext cx="360" cy="360"/>
          </a:xfrm>
          <a:prstGeom prst="rect">
            <a:avLst/>
          </a:prstGeom>
          <a:noFill/>
          <a:ln w="0">
            <a:noFill/>
          </a:ln>
        </p:spPr>
        <p:txBody>
          <a:bodyPr lIns="0" tIns="-44640" rIns="0" bIns="-4464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044DED80-E3DE-4CEF-A4EF-F1A75B12DE71}" type="slidenum">
              <a:rPr lang="en-US" sz="1800" b="0" u="none" strike="noStrike">
                <a:solidFill>
                  <a:schemeClr val="dk1"/>
                </a:solidFill>
                <a:effectLst/>
                <a:uFillTx/>
                <a:latin typeface="+mn-lt"/>
                <a:ea typeface="+mn-ea"/>
              </a:rPr>
              <a:t>18</a:t>
            </a:fld>
            <a:endParaRPr lang="en-GB" sz="18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sldImg"/>
          </p:nvPr>
        </p:nvSpPr>
        <p:spPr>
          <a:xfrm>
            <a:off x="0" y="0"/>
            <a:ext cx="0" cy="0"/>
          </a:xfrm>
          <a:prstGeom prst="rect">
            <a:avLst/>
          </a:prstGeom>
          <a:ln w="0">
            <a:noFill/>
          </a:ln>
        </p:spPr>
      </p:sp>
      <p:sp>
        <p:nvSpPr>
          <p:cNvPr id="326" name="PlaceHolder 2"/>
          <p:cNvSpPr>
            <a:spLocks noGrp="1"/>
          </p:cNvSpPr>
          <p:nvPr>
            <p:ph type="body"/>
          </p:nvPr>
        </p:nvSpPr>
        <p:spPr>
          <a:xfrm>
            <a:off x="0" y="0"/>
            <a:ext cx="360" cy="360"/>
          </a:xfrm>
          <a:prstGeom prst="rect">
            <a:avLst/>
          </a:prstGeom>
          <a:noFill/>
          <a:ln w="0">
            <a:noFill/>
          </a:ln>
        </p:spPr>
        <p:txBody>
          <a:bodyPr lIns="0" tIns="-44640" rIns="0" bIns="-44640" anchor="t">
            <a:noAutofit/>
          </a:bodyPr>
          <a:p>
            <a:pPr indent="0" algn="l">
              <a:lnSpc>
                <a:spcPct val="100000"/>
              </a:lnSpc>
              <a:buNone/>
              <a:tabLst>
                <a:tab pos="0" algn="l"/>
              </a:tabLst>
            </a:pPr>
            <a:r>
              <a:rPr lang="en-US" sz="2000" b="0" u="none" strike="noStrike">
                <a:solidFill>
                  <a:srgbClr val="000000"/>
                </a:solidFill>
                <a:effectLst/>
                <a:uFillTx/>
                <a:latin typeface="Arial"/>
              </a:rPr>
              <a:t>First insight: the network is concentrated. </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Four operators, SP Mobility, Charge+, ComfortDelGro Engie and Shell, run 9,439 of the 11,684 charging points, which is 81 percent. </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other 25 operators share the rest. For the business this means a few operators set the experience for most drivers, so partnership, pricing and reliability decisions with those four have an outsized effect.</a:t>
            </a:r>
            <a:endParaRPr lang="en-GB" sz="2000" b="0" u="none" strike="noStrike">
              <a:solidFill>
                <a:srgbClr val="000000"/>
              </a:solidFill>
              <a:effectLst/>
              <a:uFillTx/>
              <a:latin typeface="Arial"/>
            </a:endParaRPr>
          </a:p>
        </p:txBody>
      </p:sp>
      <p:sp>
        <p:nvSpPr>
          <p:cNvPr id="327" name="PlaceHolder 3"/>
          <p:cNvSpPr>
            <a:spLocks noGrp="1"/>
          </p:cNvSpPr>
          <p:nvPr>
            <p:ph type="sldNum" idx="13"/>
          </p:nvPr>
        </p:nvSpPr>
        <p:spPr>
          <a:xfrm>
            <a:off x="0" y="0"/>
            <a:ext cx="360" cy="360"/>
          </a:xfrm>
          <a:prstGeom prst="rect">
            <a:avLst/>
          </a:prstGeom>
          <a:noFill/>
          <a:ln w="0">
            <a:noFill/>
          </a:ln>
        </p:spPr>
        <p:txBody>
          <a:bodyPr lIns="0" tIns="-44640" rIns="0" bIns="-4464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8703C6AA-370C-442E-9CD2-470B15DD88A2}" type="slidenum">
              <a:rPr lang="en-US" sz="1800" b="0" u="none" strike="noStrike">
                <a:solidFill>
                  <a:schemeClr val="dk1"/>
                </a:solidFill>
                <a:effectLst/>
                <a:uFillTx/>
                <a:latin typeface="+mn-lt"/>
                <a:ea typeface="+mn-ea"/>
              </a:rPr>
              <a:t>18</a:t>
            </a:fld>
            <a:endParaRPr lang="en-GB" sz="18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0" y="0"/>
            <a:ext cx="0" cy="0"/>
          </a:xfrm>
          <a:prstGeom prst="rect">
            <a:avLst/>
          </a:prstGeom>
          <a:ln w="0">
            <a:noFill/>
          </a:ln>
        </p:spPr>
      </p:sp>
      <p:sp>
        <p:nvSpPr>
          <p:cNvPr id="329" name="PlaceHolder 2"/>
          <p:cNvSpPr>
            <a:spLocks noGrp="1"/>
          </p:cNvSpPr>
          <p:nvPr>
            <p:ph type="body"/>
          </p:nvPr>
        </p:nvSpPr>
        <p:spPr>
          <a:xfrm>
            <a:off x="0" y="0"/>
            <a:ext cx="360" cy="360"/>
          </a:xfrm>
          <a:prstGeom prst="rect">
            <a:avLst/>
          </a:prstGeom>
          <a:noFill/>
          <a:ln w="0">
            <a:noFill/>
          </a:ln>
        </p:spPr>
        <p:txBody>
          <a:bodyPr lIns="0" tIns="-44640" rIns="0" bIns="-44640" anchor="t">
            <a:noAutofit/>
          </a:bodyPr>
          <a:p>
            <a:pPr indent="0" algn="l">
              <a:lnSpc>
                <a:spcPct val="100000"/>
              </a:lnSpc>
              <a:buNone/>
              <a:tabLst>
                <a:tab pos="0" algn="l"/>
              </a:tabLst>
            </a:pPr>
            <a:r>
              <a:rPr lang="en-US" sz="2000" b="0" u="none" strike="noStrike">
                <a:solidFill>
                  <a:srgbClr val="000000"/>
                </a:solidFill>
                <a:effectLst/>
                <a:uFillTx/>
                <a:latin typeface="Arial"/>
              </a:rPr>
              <a:t>Two more views from our analytics outputs. On the left, price against network size for the seven operators with enough priced points. Larger networks do not necessarily charge more: Charge+ is among the biggest and is cheaper than SP Mobility. </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On the right, availability by region. About 74 percent of points were available, and Central has the fastest charging points at about 30 kW on average.</a:t>
            </a:r>
            <a:endParaRPr lang="en-GB" sz="2000" b="0" u="none" strike="noStrike">
              <a:solidFill>
                <a:srgbClr val="000000"/>
              </a:solidFill>
              <a:effectLst/>
              <a:uFillTx/>
              <a:latin typeface="Arial"/>
            </a:endParaRPr>
          </a:p>
        </p:txBody>
      </p:sp>
      <p:sp>
        <p:nvSpPr>
          <p:cNvPr id="330" name="PlaceHolder 3"/>
          <p:cNvSpPr>
            <a:spLocks noGrp="1"/>
          </p:cNvSpPr>
          <p:nvPr>
            <p:ph type="sldNum" idx="14"/>
          </p:nvPr>
        </p:nvSpPr>
        <p:spPr>
          <a:xfrm>
            <a:off x="0" y="0"/>
            <a:ext cx="360" cy="360"/>
          </a:xfrm>
          <a:prstGeom prst="rect">
            <a:avLst/>
          </a:prstGeom>
          <a:noFill/>
          <a:ln w="0">
            <a:noFill/>
          </a:ln>
        </p:spPr>
        <p:txBody>
          <a:bodyPr lIns="0" tIns="-44640" rIns="0" bIns="-4464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3652DB28-117F-4DB3-8D23-7AA8043582F6}" type="slidenum">
              <a:rPr lang="en-US" sz="1800" b="0" u="none" strike="noStrike">
                <a:solidFill>
                  <a:schemeClr val="dk1"/>
                </a:solidFill>
                <a:effectLst/>
                <a:uFillTx/>
                <a:latin typeface="+mn-lt"/>
                <a:ea typeface="+mn-ea"/>
              </a:rPr>
              <a:t>18</a:t>
            </a:fld>
            <a:endParaRPr lang="en-GB" sz="18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PlaceHolder 1"/>
          <p:cNvSpPr>
            <a:spLocks noGrp="1"/>
          </p:cNvSpPr>
          <p:nvPr>
            <p:ph type="sldImg"/>
          </p:nvPr>
        </p:nvSpPr>
        <p:spPr>
          <a:xfrm>
            <a:off x="685800" y="1143000"/>
            <a:ext cx="5485680" cy="3085560"/>
          </a:xfrm>
          <a:prstGeom prst="rect">
            <a:avLst/>
          </a:prstGeom>
          <a:ln w="0">
            <a:noFill/>
          </a:ln>
        </p:spPr>
      </p:sp>
      <p:sp>
        <p:nvSpPr>
          <p:cNvPr id="332" name="PlaceHolder 2"/>
          <p:cNvSpPr>
            <a:spLocks noGrp="1"/>
          </p:cNvSpPr>
          <p:nvPr>
            <p:ph type="body"/>
          </p:nvPr>
        </p:nvSpPr>
        <p:spPr>
          <a:xfrm>
            <a:off x="685800" y="4400640"/>
            <a:ext cx="5485680" cy="3599640"/>
          </a:xfrm>
          <a:prstGeom prst="rect">
            <a:avLst/>
          </a:prstGeom>
          <a:noFill/>
          <a:ln w="0">
            <a:noFill/>
          </a:ln>
        </p:spPr>
        <p:txBody>
          <a:bodyPr numCol="1" spcCol="216000" lIns="91440" tIns="45720" rIns="91440" bIns="45720" anchor="t">
            <a:noAutofit/>
          </a:bodyPr>
          <a:p>
            <a:pPr indent="0" algn="l">
              <a:lnSpc>
                <a:spcPct val="100000"/>
              </a:lnSpc>
              <a:buNone/>
              <a:tabLst>
                <a:tab pos="0" algn="l"/>
              </a:tabLst>
            </a:pPr>
            <a:r>
              <a:rPr lang="en-GB" sz="1400" b="0" u="none" strike="noStrike">
                <a:solidFill>
                  <a:srgbClr val="000000"/>
                </a:solidFill>
                <a:effectLst/>
                <a:uFillTx/>
                <a:latin typeface="Arial"/>
              </a:rPr>
              <a:t>Earlier: SG EV charging network in terms of operators, pricing, charging speed and overall availability.</a:t>
            </a:r>
            <a:endParaRPr lang="en-GB" sz="1400" b="0" u="none" strike="noStrike">
              <a:solidFill>
                <a:srgbClr val="000000"/>
              </a:solidFill>
              <a:effectLst/>
              <a:uFillTx/>
              <a:latin typeface="Arial"/>
            </a:endParaRPr>
          </a:p>
          <a:p>
            <a:pPr indent="0" algn="l">
              <a:lnSpc>
                <a:spcPct val="100000"/>
              </a:lnSpc>
              <a:buNone/>
              <a:tabLst>
                <a:tab pos="0" algn="l"/>
              </a:tabLst>
            </a:pPr>
            <a:endParaRPr lang="en-GB" sz="1400" b="0" u="none" strike="noStrike">
              <a:solidFill>
                <a:srgbClr val="000000"/>
              </a:solidFill>
              <a:effectLst/>
              <a:uFillTx/>
              <a:latin typeface="Arial"/>
            </a:endParaRPr>
          </a:p>
          <a:p>
            <a:pPr indent="0" algn="l">
              <a:lnSpc>
                <a:spcPct val="100000"/>
              </a:lnSpc>
              <a:buNone/>
              <a:tabLst>
                <a:tab pos="0" algn="l"/>
              </a:tabLst>
            </a:pPr>
            <a:r>
              <a:rPr lang="en-GB" sz="1400" b="0" u="none" strike="noStrike">
                <a:solidFill>
                  <a:srgbClr val="000000"/>
                </a:solidFill>
                <a:effectLst/>
                <a:uFillTx/>
                <a:latin typeface="Arial"/>
              </a:rPr>
              <a:t>Residential parking -- impt setting for EV charging, so examine the network from an HDB perspective.</a:t>
            </a:r>
            <a:endParaRPr lang="en-GB" sz="1400" b="0" u="none" strike="noStrike">
              <a:solidFill>
                <a:srgbClr val="000000"/>
              </a:solidFill>
              <a:effectLst/>
              <a:uFillTx/>
              <a:latin typeface="Arial"/>
            </a:endParaRPr>
          </a:p>
          <a:p>
            <a:pPr indent="0" algn="l">
              <a:lnSpc>
                <a:spcPct val="100000"/>
              </a:lnSpc>
              <a:buNone/>
              <a:tabLst>
                <a:tab pos="0" algn="l"/>
              </a:tabLst>
            </a:pPr>
            <a:endParaRPr lang="en-GB" sz="1400" b="0" u="none" strike="noStrike">
              <a:solidFill>
                <a:srgbClr val="000000"/>
              </a:solidFill>
              <a:effectLst/>
              <a:uFillTx/>
              <a:latin typeface="Arial"/>
            </a:endParaRPr>
          </a:p>
          <a:p>
            <a:pPr indent="0" algn="l">
              <a:lnSpc>
                <a:spcPct val="100000"/>
              </a:lnSpc>
              <a:buNone/>
              <a:tabLst>
                <a:tab pos="0" algn="l"/>
              </a:tabLst>
            </a:pPr>
            <a:r>
              <a:rPr lang="en-GB" sz="1400" b="0" u="none" strike="noStrike">
                <a:solidFill>
                  <a:srgbClr val="000000"/>
                </a:solidFill>
                <a:effectLst/>
                <a:uFillTx/>
                <a:latin typeface="Arial"/>
              </a:rPr>
              <a:t>Matched LTA charging points to HDB carparks using 2 criteria: 1. proximity within 50 metres and </a:t>
            </a:r>
            <a:endParaRPr lang="en-GB" sz="1400" b="0" u="none" strike="noStrike">
              <a:solidFill>
                <a:srgbClr val="000000"/>
              </a:solidFill>
              <a:effectLst/>
              <a:uFillTx/>
              <a:latin typeface="Arial"/>
            </a:endParaRPr>
          </a:p>
          <a:p>
            <a:pPr indent="0" algn="l">
              <a:lnSpc>
                <a:spcPct val="100000"/>
              </a:lnSpc>
              <a:buNone/>
              <a:tabLst>
                <a:tab pos="0" algn="l"/>
              </a:tabLst>
            </a:pPr>
            <a:r>
              <a:rPr lang="en-GB" sz="1400" b="0" u="none" strike="noStrike">
                <a:solidFill>
                  <a:srgbClr val="000000"/>
                </a:solidFill>
                <a:effectLst/>
                <a:uFillTx/>
                <a:latin typeface="Arial"/>
              </a:rPr>
              <a:t>	</a:t>
            </a:r>
            <a:r>
              <a:rPr lang="en-GB" sz="1400" b="0" u="none" strike="noStrike">
                <a:solidFill>
                  <a:srgbClr val="000000"/>
                </a:solidFill>
                <a:effectLst/>
                <a:uFillTx/>
                <a:latin typeface="Arial"/>
              </a:rPr>
              <a:t>	</a:t>
            </a:r>
            <a:r>
              <a:rPr lang="en-GB" sz="1400" b="0" u="none" strike="noStrike">
                <a:solidFill>
                  <a:srgbClr val="000000"/>
                </a:solidFill>
                <a:effectLst/>
                <a:uFillTx/>
                <a:latin typeface="Arial"/>
              </a:rPr>
              <a:t>	</a:t>
            </a:r>
            <a:r>
              <a:rPr lang="en-GB" sz="1400" b="0" u="none" strike="noStrike">
                <a:solidFill>
                  <a:srgbClr val="000000"/>
                </a:solidFill>
                <a:effectLst/>
                <a:uFillTx/>
                <a:latin typeface="Arial"/>
              </a:rPr>
              <a:t>	</a:t>
            </a:r>
            <a:r>
              <a:rPr lang="en-GB" sz="1400" b="0" u="none" strike="noStrike">
                <a:solidFill>
                  <a:srgbClr val="000000"/>
                </a:solidFill>
                <a:effectLst/>
                <a:uFillTx/>
                <a:latin typeface="Arial"/>
              </a:rPr>
              <a:t>    2. matching addresses after standardisation, including block ranges.</a:t>
            </a:r>
            <a:endParaRPr lang="en-GB" sz="1400" b="0" u="none" strike="noStrike">
              <a:solidFill>
                <a:srgbClr val="000000"/>
              </a:solidFill>
              <a:effectLst/>
              <a:uFillTx/>
              <a:latin typeface="Arial"/>
            </a:endParaRPr>
          </a:p>
          <a:p>
            <a:pPr indent="0" algn="l">
              <a:lnSpc>
                <a:spcPct val="100000"/>
              </a:lnSpc>
              <a:buNone/>
              <a:tabLst>
                <a:tab pos="0" algn="l"/>
              </a:tabLst>
            </a:pPr>
            <a:endParaRPr lang="en-GB" sz="1400" b="0" u="none" strike="noStrike">
              <a:solidFill>
                <a:srgbClr val="000000"/>
              </a:solidFill>
              <a:effectLst/>
              <a:uFillTx/>
              <a:latin typeface="Arial"/>
            </a:endParaRPr>
          </a:p>
          <a:p>
            <a:pPr indent="0" algn="l">
              <a:lnSpc>
                <a:spcPct val="100000"/>
              </a:lnSpc>
              <a:buNone/>
              <a:tabLst>
                <a:tab pos="0" algn="l"/>
              </a:tabLst>
            </a:pPr>
            <a:r>
              <a:rPr lang="en-GB" sz="1400" b="0" u="none" strike="noStrike">
                <a:solidFill>
                  <a:srgbClr val="000000"/>
                </a:solidFill>
                <a:effectLst/>
                <a:uFillTx/>
                <a:latin typeface="Arial"/>
              </a:rPr>
              <a:t>Of 2,273 HDB carparks, 628 had strong matches, involving 2,895 charging points.</a:t>
            </a:r>
            <a:endParaRPr lang="en-GB" sz="1400" b="0" u="none" strike="noStrike">
              <a:solidFill>
                <a:srgbClr val="000000"/>
              </a:solidFill>
              <a:effectLst/>
              <a:uFillTx/>
              <a:latin typeface="Arial"/>
            </a:endParaRPr>
          </a:p>
          <a:p>
            <a:pPr indent="0" algn="l">
              <a:lnSpc>
                <a:spcPct val="100000"/>
              </a:lnSpc>
              <a:buNone/>
              <a:tabLst>
                <a:tab pos="0" algn="l"/>
              </a:tabLst>
            </a:pPr>
            <a:endParaRPr lang="en-GB" sz="1400" b="0" u="none" strike="noStrike">
              <a:solidFill>
                <a:srgbClr val="000000"/>
              </a:solidFill>
              <a:effectLst/>
              <a:uFillTx/>
              <a:latin typeface="Arial"/>
            </a:endParaRPr>
          </a:p>
          <a:p>
            <a:pPr indent="0" algn="l">
              <a:lnSpc>
                <a:spcPct val="100000"/>
              </a:lnSpc>
              <a:buNone/>
              <a:tabLst>
                <a:tab pos="0" algn="l"/>
              </a:tabLst>
            </a:pPr>
            <a:r>
              <a:rPr lang="en-GB" sz="1400" b="0" u="none" strike="noStrike">
                <a:solidFill>
                  <a:srgbClr val="000000"/>
                </a:solidFill>
                <a:effectLst/>
                <a:uFillTx/>
                <a:latin typeface="Arial"/>
              </a:rPr>
              <a:t>These are likely associations, not independently verified installations. A carpark without a strong match may still have chargers.</a:t>
            </a:r>
            <a:endParaRPr lang="en-GB" sz="1400" b="0" u="none" strike="noStrike">
              <a:solidFill>
                <a:srgbClr val="000000"/>
              </a:solidFill>
              <a:effectLst/>
              <a:uFillTx/>
              <a:latin typeface="Arial"/>
            </a:endParaRPr>
          </a:p>
          <a:p>
            <a:pPr indent="0" algn="l">
              <a:lnSpc>
                <a:spcPct val="100000"/>
              </a:lnSpc>
              <a:buNone/>
              <a:tabLst>
                <a:tab pos="0" algn="l"/>
              </a:tabLst>
            </a:pPr>
            <a:endParaRPr lang="en-GB" sz="1400" b="0" u="none" strike="noStrike">
              <a:solidFill>
                <a:srgbClr val="000000"/>
              </a:solidFill>
              <a:effectLst/>
              <a:uFillTx/>
              <a:latin typeface="Arial"/>
            </a:endParaRPr>
          </a:p>
          <a:p>
            <a:pPr indent="0" algn="l">
              <a:lnSpc>
                <a:spcPct val="100000"/>
              </a:lnSpc>
              <a:buNone/>
              <a:tabLst>
                <a:tab pos="0" algn="l"/>
              </a:tabLst>
            </a:pPr>
            <a:endParaRPr lang="en-GB" sz="1400" b="0" u="none" strike="noStrike">
              <a:solidFill>
                <a:srgbClr val="000000"/>
              </a:solidFill>
              <a:effectLst/>
              <a:uFillTx/>
              <a:latin typeface="Arial"/>
            </a:endParaRPr>
          </a:p>
          <a:p>
            <a:pPr indent="0" algn="l">
              <a:lnSpc>
                <a:spcPct val="100000"/>
              </a:lnSpc>
              <a:buNone/>
              <a:tabLst>
                <a:tab pos="0" algn="l"/>
              </a:tabLst>
            </a:pPr>
            <a:endParaRPr lang="en-GB" sz="1400" b="0" u="none" strike="noStrike">
              <a:solidFill>
                <a:srgbClr val="000000"/>
              </a:solidFill>
              <a:effectLst/>
              <a:uFillTx/>
              <a:latin typeface="Arial"/>
            </a:endParaRPr>
          </a:p>
        </p:txBody>
      </p:sp>
      <p:sp>
        <p:nvSpPr>
          <p:cNvPr id="333" name="PlaceHolder 3"/>
          <p:cNvSpPr>
            <a:spLocks noGrp="1"/>
          </p:cNvSpPr>
          <p:nvPr>
            <p:ph type="sldNum" idx="15"/>
          </p:nvPr>
        </p:nvSpPr>
        <p:spPr>
          <a:xfrm>
            <a:off x="3884760" y="8685360"/>
            <a:ext cx="2971080" cy="457920"/>
          </a:xfrm>
          <a:prstGeom prst="rect">
            <a:avLst/>
          </a:prstGeom>
          <a:noFill/>
          <a:ln w="0">
            <a:noFill/>
          </a:ln>
        </p:spPr>
        <p:txBody>
          <a:bodyPr numCol="1" spcCol="216000"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62995B8B-3143-4C9D-95C0-85209290FB81}" type="slidenum">
              <a:rPr lang="en-US" sz="1200" b="0" u="none" strike="noStrike">
                <a:solidFill>
                  <a:srgbClr val="000000"/>
                </a:solidFill>
                <a:effectLst/>
                <a:uFillTx/>
                <a:latin typeface="Times New Roman"/>
                <a:ea typeface="+mn-ea"/>
              </a:rPr>
              <a:t>18</a:t>
            </a:fld>
            <a:endParaRPr lang="en-GB"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sldImg"/>
          </p:nvPr>
        </p:nvSpPr>
        <p:spPr>
          <a:xfrm>
            <a:off x="685800" y="1143000"/>
            <a:ext cx="5485680" cy="3085560"/>
          </a:xfrm>
          <a:prstGeom prst="rect">
            <a:avLst/>
          </a:prstGeom>
          <a:ln w="0">
            <a:noFill/>
          </a:ln>
        </p:spPr>
      </p:sp>
      <p:sp>
        <p:nvSpPr>
          <p:cNvPr id="335" name="PlaceHolder 2"/>
          <p:cNvSpPr>
            <a:spLocks noGrp="1"/>
          </p:cNvSpPr>
          <p:nvPr>
            <p:ph type="body"/>
          </p:nvPr>
        </p:nvSpPr>
        <p:spPr>
          <a:xfrm>
            <a:off x="685800" y="4400640"/>
            <a:ext cx="5485680" cy="3599640"/>
          </a:xfrm>
          <a:prstGeom prst="rect">
            <a:avLst/>
          </a:prstGeom>
          <a:noFill/>
          <a:ln w="0">
            <a:noFill/>
          </a:ln>
        </p:spPr>
        <p:txBody>
          <a:bodyPr numCol="1" spcCol="216000"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Compare availability with the wider network. (prior HDB-assoc locations)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At least one charging point was available approximately 92% of the time at HDB-matched locations, compared with about 90% for unmatched locations and 91% islandwide.</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These figures are higher than the earlier 74% because we're now </a:t>
            </a:r>
            <a:r>
              <a:rPr lang="en-GB" sz="2000" b="1" u="none" strike="noStrike">
                <a:solidFill>
                  <a:srgbClr val="FF0000"/>
                </a:solidFill>
                <a:effectLst/>
                <a:highlight>
                  <a:srgbClr val="FFFF00"/>
                </a:highlight>
                <a:uFillTx/>
                <a:latin typeface="Arial"/>
              </a:rPr>
              <a:t>measuring availability by location</a:t>
            </a:r>
            <a:r>
              <a:rPr lang="en-GB" sz="2000" b="0" u="none" strike="noStrike">
                <a:solidFill>
                  <a:srgbClr val="000000"/>
                </a:solidFill>
                <a:effectLst/>
                <a:uFillTx/>
                <a:latin typeface="Arial"/>
              </a:rPr>
              <a:t>, rather than by individual charging point.</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But availability doesn't necessarily mean convenience. Charging speed, location and access restrictions may still affect drivers, although our data doesn't establish which factors cause difficulties.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p:txBody>
      </p:sp>
      <p:sp>
        <p:nvSpPr>
          <p:cNvPr id="336" name="PlaceHolder 3"/>
          <p:cNvSpPr>
            <a:spLocks noGrp="1"/>
          </p:cNvSpPr>
          <p:nvPr>
            <p:ph type="sldNum" idx="16"/>
          </p:nvPr>
        </p:nvSpPr>
        <p:spPr>
          <a:xfrm>
            <a:off x="3884760" y="8685360"/>
            <a:ext cx="2971080" cy="457920"/>
          </a:xfrm>
          <a:prstGeom prst="rect">
            <a:avLst/>
          </a:prstGeom>
          <a:noFill/>
          <a:ln w="0">
            <a:noFill/>
          </a:ln>
        </p:spPr>
        <p:txBody>
          <a:bodyPr numCol="1" spcCol="216000"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DF03CE8C-979A-4476-92D2-CEC0FDD051CA}" type="slidenum">
              <a:rPr lang="en-US" sz="1200" b="0" u="none" strike="noStrike">
                <a:solidFill>
                  <a:srgbClr val="000000"/>
                </a:solidFill>
                <a:effectLst/>
                <a:uFillTx/>
                <a:latin typeface="Times New Roman"/>
                <a:ea typeface="+mn-ea"/>
              </a:rPr>
              <a:t>18</a:t>
            </a:fld>
            <a:endParaRPr lang="en-GB"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sldImg"/>
          </p:nvPr>
        </p:nvSpPr>
        <p:spPr>
          <a:xfrm>
            <a:off x="685800" y="1143000"/>
            <a:ext cx="5485680" cy="3085560"/>
          </a:xfrm>
          <a:prstGeom prst="rect">
            <a:avLst/>
          </a:prstGeom>
          <a:ln w="0">
            <a:noFill/>
          </a:ln>
        </p:spPr>
      </p:sp>
      <p:sp>
        <p:nvSpPr>
          <p:cNvPr id="338" name="PlaceHolder 2"/>
          <p:cNvSpPr>
            <a:spLocks noGrp="1"/>
          </p:cNvSpPr>
          <p:nvPr>
            <p:ph type="body"/>
          </p:nvPr>
        </p:nvSpPr>
        <p:spPr>
          <a:xfrm>
            <a:off x="685800" y="4400640"/>
            <a:ext cx="5485680" cy="3599640"/>
          </a:xfrm>
          <a:prstGeom prst="rect">
            <a:avLst/>
          </a:prstGeom>
          <a:noFill/>
          <a:ln w="0">
            <a:noFill/>
          </a:ln>
        </p:spPr>
        <p:txBody>
          <a:bodyPr numCol="1" spcCol="216000"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Compare how frequently charging points were occupied across selected residential areas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Punggol - highest occupancy (48%), while Pasir Ris ranked third, </a:t>
            </a:r>
            <a:r>
              <a:rPr lang="en-GB" sz="2000" b="1" u="none" strike="noStrike">
                <a:solidFill>
                  <a:srgbClr val="000000"/>
                </a:solidFill>
                <a:effectLst/>
                <a:uFillTx/>
                <a:latin typeface="Arial"/>
              </a:rPr>
              <a:t>based on charging points matched to HDB carparks</a:t>
            </a:r>
            <a:r>
              <a:rPr lang="en-GB" sz="2000" b="0" u="none" strike="noStrike">
                <a:solidFill>
                  <a:srgbClr val="000000"/>
                </a:solidFill>
                <a:effectLst/>
                <a:uFillTx/>
                <a:latin typeface="Arial"/>
              </a:rPr>
              <a:t>.</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However, our </a:t>
            </a:r>
            <a:r>
              <a:rPr lang="en-GB" sz="2000" b="1" u="none" strike="noStrike">
                <a:solidFill>
                  <a:srgbClr val="000000"/>
                </a:solidFill>
                <a:effectLst/>
                <a:uFillTx/>
                <a:latin typeface="Arial"/>
              </a:rPr>
              <a:t>matching method</a:t>
            </a:r>
            <a:r>
              <a:rPr lang="en-GB" sz="2000" b="0" u="none" strike="noStrike">
                <a:solidFill>
                  <a:srgbClr val="000000"/>
                </a:solidFill>
                <a:effectLst/>
                <a:uFillTx/>
                <a:latin typeface="Arial"/>
              </a:rPr>
              <a:t> identified </a:t>
            </a:r>
            <a:r>
              <a:rPr lang="en-GB" sz="2000" b="1" u="none" strike="noStrike">
                <a:solidFill>
                  <a:srgbClr val="000000"/>
                </a:solidFill>
                <a:effectLst/>
                <a:uFillTx/>
                <a:latin typeface="Arial"/>
              </a:rPr>
              <a:t>charging points </a:t>
            </a:r>
            <a:r>
              <a:rPr lang="en-GB" sz="2000" b="0" u="none" strike="noStrike">
                <a:solidFill>
                  <a:srgbClr val="000000"/>
                </a:solidFill>
                <a:effectLst/>
                <a:uFillTx/>
                <a:latin typeface="Arial"/>
              </a:rPr>
              <a:t>at only 8 of Punggol's 102 carparks, compared with 25 of 65 in Pasir Ris. So these results represent the matched subset, not necessarily all HDB chargers in those areas.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Tengah recorded lower occupancy at 22%, but its ongoing residential development may change future charging needs.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p:txBody>
      </p:sp>
      <p:sp>
        <p:nvSpPr>
          <p:cNvPr id="339" name="PlaceHolder 3"/>
          <p:cNvSpPr>
            <a:spLocks noGrp="1"/>
          </p:cNvSpPr>
          <p:nvPr>
            <p:ph type="sldNum" idx="17"/>
          </p:nvPr>
        </p:nvSpPr>
        <p:spPr>
          <a:xfrm>
            <a:off x="3884760" y="8685360"/>
            <a:ext cx="2971080" cy="457920"/>
          </a:xfrm>
          <a:prstGeom prst="rect">
            <a:avLst/>
          </a:prstGeom>
          <a:noFill/>
          <a:ln w="0">
            <a:noFill/>
          </a:ln>
        </p:spPr>
        <p:txBody>
          <a:bodyPr numCol="1" spcCol="216000"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79DDF17F-6B95-44C6-8D1A-663F0197D45C}" type="slidenum">
              <a:rPr lang="en-US" sz="1200" b="0" u="none" strike="noStrike">
                <a:solidFill>
                  <a:srgbClr val="000000"/>
                </a:solidFill>
                <a:effectLst/>
                <a:uFillTx/>
                <a:latin typeface="Times New Roman"/>
                <a:ea typeface="+mn-ea"/>
              </a:rPr>
              <a:t>18</a:t>
            </a:fld>
            <a:endParaRPr lang="en-GB"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sldImg"/>
          </p:nvPr>
        </p:nvSpPr>
        <p:spPr>
          <a:xfrm>
            <a:off x="0" y="0"/>
            <a:ext cx="0" cy="0"/>
          </a:xfrm>
          <a:prstGeom prst="rect">
            <a:avLst/>
          </a:prstGeom>
          <a:ln w="0">
            <a:noFill/>
          </a:ln>
        </p:spPr>
      </p:sp>
      <p:sp>
        <p:nvSpPr>
          <p:cNvPr id="341" name="PlaceHolder 2"/>
          <p:cNvSpPr>
            <a:spLocks noGrp="1"/>
          </p:cNvSpPr>
          <p:nvPr>
            <p:ph type="body"/>
          </p:nvPr>
        </p:nvSpPr>
        <p:spPr>
          <a:xfrm>
            <a:off x="0" y="0"/>
            <a:ext cx="360" cy="360"/>
          </a:xfrm>
          <a:prstGeom prst="rect">
            <a:avLst/>
          </a:prstGeom>
          <a:noFill/>
          <a:ln w="0">
            <a:noFill/>
          </a:ln>
        </p:spPr>
        <p:txBody>
          <a:bodyPr lIns="0" tIns="-44640" rIns="0" bIns="-44640" anchor="t">
            <a:noAutofit/>
          </a:bodyPr>
          <a:p>
            <a:pPr marL="171360" indent="-171360" algn="l">
              <a:lnSpc>
                <a:spcPct val="100000"/>
              </a:lnSpc>
              <a:buClr>
                <a:srgbClr val="000000"/>
              </a:buClr>
              <a:buFont typeface="OpenSymbol"/>
              <a:buChar char="-"/>
            </a:pPr>
            <a:r>
              <a:rPr lang="en-US" sz="2000" b="0" u="none" strike="noStrike">
                <a:solidFill>
                  <a:srgbClr val="000000"/>
                </a:solidFill>
                <a:effectLst/>
                <a:uFillTx/>
                <a:latin typeface="Arial"/>
              </a:rPr>
              <a:t>Three main risks and what covers each. </a:t>
            </a:r>
            <a:endParaRPr lang="en-GB" sz="2000" b="0" u="none" strike="noStrike">
              <a:solidFill>
                <a:srgbClr val="000000"/>
              </a:solidFill>
              <a:effectLst/>
              <a:uFillTx/>
              <a:latin typeface="Arial"/>
            </a:endParaRPr>
          </a:p>
          <a:p>
            <a:pPr marL="171360" indent="-171360" algn="l">
              <a:lnSpc>
                <a:spcPct val="100000"/>
              </a:lnSpc>
              <a:buClr>
                <a:srgbClr val="000000"/>
              </a:buClr>
              <a:buFont typeface="OpenSymbol"/>
              <a:buChar char="-"/>
            </a:pPr>
            <a:r>
              <a:rPr lang="en-US" sz="2000" b="0" u="none" strike="noStrike">
                <a:solidFill>
                  <a:srgbClr val="000000"/>
                </a:solidFill>
                <a:effectLst/>
                <a:uFillTx/>
                <a:latin typeface="Arial"/>
              </a:rPr>
              <a:t>A partial or missing daily load would leave gaps in history, so we check load size against normal. </a:t>
            </a:r>
            <a:endParaRPr lang="en-GB" sz="2000" b="0" u="none" strike="noStrike">
              <a:solidFill>
                <a:srgbClr val="000000"/>
              </a:solidFill>
              <a:effectLst/>
              <a:uFillTx/>
              <a:latin typeface="Arial"/>
            </a:endParaRPr>
          </a:p>
          <a:p>
            <a:pPr marL="171360" indent="-171360" algn="l">
              <a:lnSpc>
                <a:spcPct val="100000"/>
              </a:lnSpc>
              <a:buClr>
                <a:srgbClr val="000000"/>
              </a:buClr>
              <a:buFont typeface="OpenSymbol"/>
              <a:buChar char="-"/>
            </a:pPr>
            <a:r>
              <a:rPr lang="en-US" sz="2000" b="0" u="none" strike="noStrike">
                <a:solidFill>
                  <a:srgbClr val="000000"/>
                </a:solidFill>
                <a:effectLst/>
                <a:uFillTx/>
                <a:latin typeface="Arial"/>
              </a:rPr>
              <a:t>If the source adds new values, our allowed-value checks fail fast instead of letting bad data through. </a:t>
            </a:r>
            <a:endParaRPr lang="en-GB" sz="2000" b="0" u="none" strike="noStrike">
              <a:solidFill>
                <a:srgbClr val="000000"/>
              </a:solidFill>
              <a:effectLst/>
              <a:uFillTx/>
              <a:latin typeface="Arial"/>
            </a:endParaRPr>
          </a:p>
          <a:p>
            <a:pPr marL="171360" indent="-171360" algn="l">
              <a:lnSpc>
                <a:spcPct val="100000"/>
              </a:lnSpc>
              <a:buClr>
                <a:srgbClr val="000000"/>
              </a:buClr>
              <a:buFont typeface="OpenSymbol"/>
              <a:buChar char="-"/>
            </a:pPr>
            <a:r>
              <a:rPr lang="en-US" sz="2000" b="0" u="none" strike="noStrike">
                <a:solidFill>
                  <a:srgbClr val="000000"/>
                </a:solidFill>
                <a:effectLst/>
                <a:uFillTx/>
                <a:latin typeface="Arial"/>
              </a:rPr>
              <a:t>Missing prices at some operators could bias the price view, so our averages exclude unpriced points. If I had to pick one to remember, it is the missing prices: 207 points, 1.8 percent, publish no price.</a:t>
            </a:r>
            <a:endParaRPr lang="en-GB" sz="2000" b="0" u="none" strike="noStrike">
              <a:solidFill>
                <a:srgbClr val="000000"/>
              </a:solidFill>
              <a:effectLst/>
              <a:uFillTx/>
              <a:latin typeface="Arial"/>
            </a:endParaRPr>
          </a:p>
        </p:txBody>
      </p:sp>
      <p:sp>
        <p:nvSpPr>
          <p:cNvPr id="342" name="PlaceHolder 3"/>
          <p:cNvSpPr>
            <a:spLocks noGrp="1"/>
          </p:cNvSpPr>
          <p:nvPr>
            <p:ph type="sldNum" idx="18"/>
          </p:nvPr>
        </p:nvSpPr>
        <p:spPr>
          <a:xfrm>
            <a:off x="0" y="0"/>
            <a:ext cx="360" cy="360"/>
          </a:xfrm>
          <a:prstGeom prst="rect">
            <a:avLst/>
          </a:prstGeom>
          <a:noFill/>
          <a:ln w="0">
            <a:noFill/>
          </a:ln>
        </p:spPr>
        <p:txBody>
          <a:bodyPr lIns="0" tIns="-44640" rIns="0" bIns="-4464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A136E69E-18B6-41FB-A59E-68A81ED6837C}" type="slidenum">
              <a:rPr lang="en-US" sz="1800" b="0" u="none" strike="noStrike">
                <a:solidFill>
                  <a:schemeClr val="dk1"/>
                </a:solidFill>
                <a:effectLst/>
                <a:uFillTx/>
                <a:latin typeface="+mn-lt"/>
                <a:ea typeface="+mn-ea"/>
              </a:rPr>
              <a:t>&lt;number&gt;</a:t>
            </a:fld>
            <a:endParaRPr lang="en-GB" sz="18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sldImg"/>
          </p:nvPr>
        </p:nvSpPr>
        <p:spPr>
          <a:xfrm>
            <a:off x="685800" y="1143000"/>
            <a:ext cx="5485680" cy="3085560"/>
          </a:xfrm>
          <a:prstGeom prst="rect">
            <a:avLst/>
          </a:prstGeom>
          <a:ln w="0">
            <a:noFill/>
          </a:ln>
        </p:spPr>
      </p:sp>
      <p:sp>
        <p:nvSpPr>
          <p:cNvPr id="344" name="PlaceHolder 2"/>
          <p:cNvSpPr>
            <a:spLocks noGrp="1"/>
          </p:cNvSpPr>
          <p:nvPr>
            <p:ph type="body"/>
          </p:nvPr>
        </p:nvSpPr>
        <p:spPr>
          <a:xfrm>
            <a:off x="685800" y="4400640"/>
            <a:ext cx="5485680" cy="3599640"/>
          </a:xfrm>
          <a:prstGeom prst="rect">
            <a:avLst/>
          </a:prstGeom>
          <a:noFill/>
          <a:ln w="0">
            <a:noFill/>
          </a:ln>
        </p:spPr>
        <p:txBody>
          <a:bodyPr numCol="1" spcCol="216000" lIns="91440" tIns="45720" rIns="91440" bIns="45720" anchor="t">
            <a:noAutofit/>
          </a:bodyPr>
          <a:p>
            <a:pPr indent="0" algn="l" defTabSz="914400">
              <a:lnSpc>
                <a:spcPct val="100000"/>
              </a:lnSpc>
              <a:buNone/>
              <a:tabLst>
                <a:tab pos="0" algn="l"/>
              </a:tabLst>
            </a:pPr>
            <a:r>
              <a:rPr lang="en-US" sz="2000" b="0" u="none" strike="noStrike">
                <a:solidFill>
                  <a:srgbClr val="000000"/>
                </a:solidFill>
                <a:effectLst/>
                <a:uFillTx/>
                <a:latin typeface="Arial"/>
              </a:rPr>
              <a:t>(about 45 seconds) Pulling the insights together. One: the network is concentrated, with four operators running 81 percent of the 11,684 charging points, so a few partnerships reach most drivers. Two: bigger does not mean pricier. Charge+ is among the biggest and cheaper than SP Mobility, and charging speed differs by region, with Central fastest at about 30 kilowatts on average. Three: </a:t>
            </a:r>
            <a:r>
              <a:rPr lang="en-GB" sz="2000" b="0" u="none" strike="noStrike">
                <a:solidFill>
                  <a:srgbClr val="000000"/>
                </a:solidFill>
                <a:effectLst/>
                <a:uFillTx/>
                <a:latin typeface="Arial"/>
              </a:rPr>
              <a:t>Our historical analysis also found that charging locations were generally available during the observation week.</a:t>
            </a:r>
            <a:endParaRPr lang="en-GB" sz="2000" b="0" u="none" strike="noStrike">
              <a:solidFill>
                <a:srgbClr val="000000"/>
              </a:solidFill>
              <a:effectLst/>
              <a:uFillTx/>
              <a:latin typeface="Arial"/>
            </a:endParaRPr>
          </a:p>
          <a:p>
            <a:pPr indent="0" algn="l" defTabSz="914400">
              <a:lnSpc>
                <a:spcPct val="100000"/>
              </a:lnSpc>
              <a:buNone/>
              <a:tabLst>
                <a:tab pos="0" algn="l"/>
              </a:tabLst>
            </a:pPr>
            <a:r>
              <a:rPr lang="en-US" sz="2000" b="0" u="none" strike="noStrike">
                <a:solidFill>
                  <a:srgbClr val="000000"/>
                </a:solidFill>
                <a:effectLst/>
                <a:uFillTx/>
                <a:latin typeface="Arial"/>
              </a:rPr>
              <a:t>Four: </a:t>
            </a:r>
            <a:r>
              <a:rPr lang="en-GB" sz="2000" b="0" u="none" strike="noStrike">
                <a:solidFill>
                  <a:srgbClr val="000000"/>
                </a:solidFill>
                <a:effectLst/>
                <a:uFillTx/>
                <a:latin typeface="Arial"/>
              </a:rPr>
              <a:t>However, high availability does not necessarily mean convenient access or sufficient capacity for future demand.</a:t>
            </a:r>
            <a:endParaRPr lang="en-GB" sz="2000" b="0" u="none" strike="noStrike">
              <a:solidFill>
                <a:srgbClr val="000000"/>
              </a:solidFill>
              <a:effectLst/>
              <a:uFillTx/>
              <a:latin typeface="Arial"/>
            </a:endParaRPr>
          </a:p>
          <a:p>
            <a:pPr indent="0" algn="l" defTabSz="914400">
              <a:lnSpc>
                <a:spcPct val="100000"/>
              </a:lnSpc>
              <a:buNone/>
              <a:tabLst>
                <a:tab pos="0" algn="l"/>
              </a:tabLst>
            </a:pPr>
            <a:r>
              <a:rPr lang="en-GB" sz="2000" b="0" u="none" strike="noStrike">
                <a:solidFill>
                  <a:srgbClr val="000000"/>
                </a:solidFill>
                <a:effectLst/>
                <a:uFillTx/>
                <a:latin typeface="Arial"/>
              </a:rPr>
              <a:t>The key takeaway is that infrastructure planning should consider not just current availability, but also geographic accessibility, charging speed and anticipated residential growth.</a:t>
            </a:r>
            <a:endParaRPr lang="en-GB" sz="2000" b="0" u="none" strike="noStrike">
              <a:solidFill>
                <a:srgbClr val="000000"/>
              </a:solidFill>
              <a:effectLst/>
              <a:uFillTx/>
              <a:latin typeface="Arial"/>
            </a:endParaRPr>
          </a:p>
          <a:p>
            <a:pPr indent="0" algn="l" defTabSz="914400">
              <a:lnSpc>
                <a:spcPct val="100000"/>
              </a:lnSpc>
              <a:buNone/>
              <a:tabLst>
                <a:tab pos="0" algn="l"/>
              </a:tabLst>
            </a:pPr>
            <a:r>
              <a:rPr lang="en-GB" sz="2000" b="0" u="none" strike="noStrike">
                <a:solidFill>
                  <a:srgbClr val="000000"/>
                </a:solidFill>
                <a:effectLst/>
                <a:uFillTx/>
                <a:latin typeface="Arial"/>
              </a:rPr>
              <a:t>Given our limited observation period and geographic matching constraints, these findings provide preliminary planning insights rather than definitive recommendations on where new chargers should be installed.</a:t>
            </a:r>
            <a:endParaRPr lang="en-GB" sz="2000" b="0" u="none" strike="noStrike">
              <a:solidFill>
                <a:srgbClr val="000000"/>
              </a:solidFill>
              <a:effectLst/>
              <a:uFillTx/>
              <a:latin typeface="Arial"/>
            </a:endParaRPr>
          </a:p>
          <a:p>
            <a:pPr indent="0" algn="l" defTabSz="914400">
              <a:lnSpc>
                <a:spcPct val="100000"/>
              </a:lnSpc>
              <a:buNone/>
              <a:tabLst>
                <a:tab pos="0" algn="l"/>
              </a:tabLst>
            </a:pPr>
            <a:endParaRPr lang="en-GB" sz="2000" b="0" u="none" strike="noStrike">
              <a:solidFill>
                <a:srgbClr val="000000"/>
              </a:solidFill>
              <a:effectLst/>
              <a:uFillTx/>
              <a:latin typeface="Arial"/>
            </a:endParaRPr>
          </a:p>
          <a:p>
            <a:pPr indent="0" algn="l" defTabSz="914400">
              <a:lnSpc>
                <a:spcPct val="100000"/>
              </a:lnSpc>
              <a:buNone/>
              <a:tabLst>
                <a:tab pos="0" algn="l"/>
              </a:tabLst>
            </a:pPr>
            <a:endParaRPr lang="en-GB" sz="2000" b="0" u="none" strike="noStrike">
              <a:solidFill>
                <a:srgbClr val="000000"/>
              </a:solidFill>
              <a:effectLst/>
              <a:uFillTx/>
              <a:latin typeface="Arial"/>
            </a:endParaRPr>
          </a:p>
          <a:p>
            <a:pPr indent="0" algn="l" defTabSz="914400">
              <a:lnSpc>
                <a:spcPct val="100000"/>
              </a:lnSpc>
              <a:buNone/>
              <a:tabLst>
                <a:tab pos="0" algn="l"/>
              </a:tabLst>
            </a:pPr>
            <a:endParaRPr lang="en-GB" sz="2000" b="0" u="none" strike="noStrike">
              <a:solidFill>
                <a:srgbClr val="000000"/>
              </a:solidFill>
              <a:effectLst/>
              <a:uFillTx/>
              <a:latin typeface="Arial"/>
            </a:endParaRPr>
          </a:p>
        </p:txBody>
      </p:sp>
      <p:sp>
        <p:nvSpPr>
          <p:cNvPr id="345" name="PlaceHolder 3"/>
          <p:cNvSpPr>
            <a:spLocks noGrp="1"/>
          </p:cNvSpPr>
          <p:nvPr>
            <p:ph type="sldNum" idx="19"/>
          </p:nvPr>
        </p:nvSpPr>
        <p:spPr>
          <a:xfrm>
            <a:off x="3884760" y="8685360"/>
            <a:ext cx="2971080" cy="457920"/>
          </a:xfrm>
          <a:prstGeom prst="rect">
            <a:avLst/>
          </a:prstGeom>
          <a:noFill/>
          <a:ln w="0">
            <a:noFill/>
          </a:ln>
        </p:spPr>
        <p:txBody>
          <a:bodyPr numCol="1" spcCol="216000"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D3B26877-13FA-4838-A32C-6A82DA8B88FD}" type="slidenum">
              <a:rPr lang="en-US" sz="1200" b="0" u="none" strike="noStrike">
                <a:solidFill>
                  <a:srgbClr val="000000"/>
                </a:solidFill>
                <a:effectLst/>
                <a:uFillTx/>
                <a:latin typeface="Times New Roman"/>
                <a:ea typeface="+mn-ea"/>
              </a:rPr>
              <a:t>&lt;number&gt;</a:t>
            </a:fld>
            <a:endParaRPr lang="en-GB"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sldImg"/>
          </p:nvPr>
        </p:nvSpPr>
        <p:spPr>
          <a:xfrm>
            <a:off x="0" y="0"/>
            <a:ext cx="0" cy="0"/>
          </a:xfrm>
          <a:prstGeom prst="rect">
            <a:avLst/>
          </a:prstGeom>
          <a:ln w="0">
            <a:noFill/>
          </a:ln>
        </p:spPr>
      </p:sp>
      <p:sp>
        <p:nvSpPr>
          <p:cNvPr id="347" name="PlaceHolder 2"/>
          <p:cNvSpPr>
            <a:spLocks noGrp="1"/>
          </p:cNvSpPr>
          <p:nvPr>
            <p:ph type="body"/>
          </p:nvPr>
        </p:nvSpPr>
        <p:spPr>
          <a:xfrm>
            <a:off x="0" y="0"/>
            <a:ext cx="360" cy="360"/>
          </a:xfrm>
          <a:prstGeom prst="rect">
            <a:avLst/>
          </a:prstGeom>
          <a:noFill/>
          <a:ln w="0">
            <a:noFill/>
          </a:ln>
        </p:spPr>
        <p:txBody>
          <a:bodyPr lIns="0" tIns="-44640" rIns="0" bIns="-44640" anchor="t">
            <a:noAutofit/>
          </a:bodyPr>
          <a:p>
            <a:pPr indent="0" algn="l">
              <a:lnSpc>
                <a:spcPct val="100000"/>
              </a:lnSpc>
              <a:buNone/>
              <a:tabLst>
                <a:tab pos="0" algn="l"/>
              </a:tabLst>
            </a:pPr>
            <a:r>
              <a:rPr lang="en-US" sz="2000" b="0" u="none" strike="noStrike">
                <a:solidFill>
                  <a:srgbClr val="000000"/>
                </a:solidFill>
                <a:effectLst/>
                <a:uFillTx/>
                <a:latin typeface="Arial"/>
              </a:rPr>
              <a:t>(about 20 seconds) To wrap up: we built a tested, automated source of truth for EV charging data. Daily loads go into a star schema on BigQuery, 58 checks guard quality across every layer, and the insights are ready for planners, operators and drivers. Thank you. We are happy to take questions. Likely ones: why BigQuery and dbt, slide 7. Why a star schema, slide 8. How do you know the data is correct, slide 9. What happens if a load fails, slides 16 and 17. Why does the fact table hold only the latest load, slide 8. How would you add real-time data: the API is polled daily today, so we would move to more frequent loads into the same raw table.</a:t>
            </a:r>
            <a:endParaRPr lang="en-GB" sz="2000" b="0" u="none" strike="noStrike">
              <a:solidFill>
                <a:srgbClr val="000000"/>
              </a:solidFill>
              <a:effectLst/>
              <a:uFillTx/>
              <a:latin typeface="Arial"/>
            </a:endParaRPr>
          </a:p>
        </p:txBody>
      </p:sp>
      <p:sp>
        <p:nvSpPr>
          <p:cNvPr id="348" name="PlaceHolder 3"/>
          <p:cNvSpPr>
            <a:spLocks noGrp="1"/>
          </p:cNvSpPr>
          <p:nvPr>
            <p:ph type="sldNum" idx="20"/>
          </p:nvPr>
        </p:nvSpPr>
        <p:spPr>
          <a:xfrm>
            <a:off x="0" y="0"/>
            <a:ext cx="360" cy="360"/>
          </a:xfrm>
          <a:prstGeom prst="rect">
            <a:avLst/>
          </a:prstGeom>
          <a:noFill/>
          <a:ln w="0">
            <a:noFill/>
          </a:ln>
        </p:spPr>
        <p:txBody>
          <a:bodyPr lIns="0" tIns="-44640" rIns="0" bIns="-4464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7E766203-E185-4B71-8223-AAAB5B569298}" type="slidenum">
              <a:rPr lang="en-US" sz="1800" b="0" u="none" strike="noStrike">
                <a:solidFill>
                  <a:schemeClr val="dk1"/>
                </a:solidFill>
                <a:effectLst/>
                <a:uFillTx/>
                <a:latin typeface="+mn-lt"/>
                <a:ea typeface="+mn-ea"/>
              </a:rPr>
              <a:t>&lt;number&gt;</a:t>
            </a:fld>
            <a:endParaRPr lang="en-GB"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3" name="PlaceHolder 1"/>
          <p:cNvSpPr>
            <a:spLocks noGrp="1"/>
          </p:cNvSpPr>
          <p:nvPr>
            <p:ph type="title"/>
          </p:nvPr>
        </p:nvSpPr>
        <p:spPr>
          <a:xfrm>
            <a:off x="609480" y="273600"/>
            <a:ext cx="10972440" cy="1144800"/>
          </a:xfrm>
          <a:prstGeom prst="rect">
            <a:avLst/>
          </a:prstGeom>
          <a:noFill/>
          <a:ln w="0">
            <a:noFill/>
          </a:ln>
        </p:spPr>
        <p:txBody>
          <a:bodyPr lIns="0" tIns="0" rIns="0" bIns="0" anchor="ctr">
            <a:spAutoFit/>
          </a:bodyPr>
          <a:p>
            <a:pPr indent="0" algn="l" defTabSz="914400">
              <a:lnSpc>
                <a:spcPct val="90000"/>
              </a:lnSpc>
              <a:buNone/>
            </a:pPr>
            <a:endParaRPr lang="en-US" sz="4400" b="0" u="none" strike="noStrike">
              <a:solidFill>
                <a:schemeClr val="dk1"/>
              </a:solidFill>
              <a:effectLst/>
              <a:uFillTx/>
              <a:latin typeface="Arial"/>
            </a:endParaRPr>
          </a:p>
        </p:txBody>
      </p:sp>
      <p:sp>
        <p:nvSpPr>
          <p:cNvPr id="4" name="PlaceHolder 2"/>
          <p:cNvSpPr>
            <a:spLocks noGrp="1"/>
          </p:cNvSpPr>
          <p:nvPr>
            <p:ph type="subTitle"/>
          </p:nvPr>
        </p:nvSpPr>
        <p:spPr>
          <a:xfrm>
            <a:off x="609480" y="1604520"/>
            <a:ext cx="10972440" cy="3977280"/>
          </a:xfrm>
          <a:prstGeom prst="rect">
            <a:avLst/>
          </a:prstGeom>
          <a:noFill/>
          <a:ln w="0">
            <a:noFill/>
          </a:ln>
        </p:spPr>
        <p:txBody>
          <a:bodyPr lIns="0" tIns="0" rIns="0" bIns="0" anchor="ctr">
            <a:spAutoFit/>
          </a:bodyPr>
          <a:p>
            <a:pPr indent="0" algn="ctr">
              <a:buNone/>
            </a:pPr>
            <a:endParaRPr lang="en-GB" sz="3200" b="0" u="none" strike="noStrike">
              <a:solidFill>
                <a:srgbClr val="000000"/>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body">
    <p:bg>
      <p:bgPr>
        <a:solidFill>
          <a:srgbClr val="F6F5F0"/>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90000"/>
              </a:lnSpc>
              <a:buNone/>
              <a:defRPr lang="en-US" sz="4400" b="0" u="none" strike="noStrike">
                <a:solidFill>
                  <a:schemeClr val="dk1"/>
                </a:solidFill>
                <a:effectLst/>
                <a:uFillTx/>
                <a:latin typeface="Arial"/>
              </a:defRPr>
            </a:lvl1pPr>
          </a:lstStyle>
          <a:p>
            <a:pPr indent="0" algn="l" defTabSz="914400">
              <a:lnSpc>
                <a:spcPct val="90000"/>
              </a:lnSpc>
              <a:buNone/>
            </a:pPr>
            <a:r>
              <a:rPr lang="en-US" sz="4400" b="0" u="none" strike="noStrike">
                <a:solidFill>
                  <a:schemeClr val="dk1"/>
                </a:solidFill>
                <a:effectLst/>
                <a:uFillTx/>
                <a:latin typeface="Arial"/>
              </a:rPr>
              <a:t>Click to edit the title text format</a:t>
            </a:r>
            <a:endParaRPr lang="en-US" sz="4400" b="0" u="none" strike="noStrike">
              <a:solidFill>
                <a:schemeClr val="dk1"/>
              </a:solidFill>
              <a:effectLst/>
              <a:uFillTx/>
              <a:latin typeface="Arial"/>
            </a:endParaRPr>
          </a:p>
        </p:txBody>
      </p:sp>
      <p:sp>
        <p:nvSpPr>
          <p:cNvPr id="6"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14232E"/>
              </a:buClr>
              <a:buFont typeface="Arial"/>
              <a:buChar char="•"/>
              <a:defRPr lang="en-US" sz="2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rial"/>
              </a:defRPr>
            </a:lvl5pPr>
            <a:lvl6pPr lvl="5"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rial"/>
              </a:defRPr>
            </a:lvl6pPr>
            <a:lvl7pPr lvl="6"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rial"/>
              </a:defRPr>
            </a:lvl7pPr>
          </a:lstStyle>
          <a:p>
            <a:pPr marL="228600" indent="-228600" algn="l" defTabSz="914400">
              <a:lnSpc>
                <a:spcPct val="90000"/>
              </a:lnSpc>
              <a:spcBef>
                <a:spcPts val="1001"/>
              </a:spcBef>
              <a:buClr>
                <a:srgbClr val="14232E"/>
              </a:buClr>
              <a:buFont typeface="Arial"/>
              <a:buChar char="•"/>
            </a:pPr>
            <a:r>
              <a:rPr lang="en-US" sz="2800" b="0" u="none" strike="noStrike">
                <a:solidFill>
                  <a:schemeClr val="dk1"/>
                </a:solidFill>
                <a:effectLst/>
                <a:uFillTx/>
                <a:latin typeface="Arial"/>
              </a:rPr>
              <a:t>Click to edit the outline text format</a:t>
            </a:r>
            <a:endParaRPr lang="en-US" sz="2800" b="0" u="none" strike="noStrike">
              <a:solidFill>
                <a:schemeClr val="dk1"/>
              </a:solidFill>
              <a:effectLst/>
              <a:uFillTx/>
              <a:latin typeface="Arial"/>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rial"/>
              </a:rPr>
              <a:t>Second Outline Level</a:t>
            </a:r>
            <a:endParaRPr lang="en-US" sz="2400" b="0" u="none" strike="noStrike">
              <a:solidFill>
                <a:schemeClr val="dk1"/>
              </a:solidFill>
              <a:effectLst/>
              <a:uFillTx/>
              <a:latin typeface="Arial"/>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rial"/>
              </a:rPr>
              <a:t>Third Outline Level</a:t>
            </a:r>
            <a:endParaRPr lang="en-US" sz="2000" b="0" u="none" strike="noStrike">
              <a:solidFill>
                <a:schemeClr val="dk1"/>
              </a:solidFill>
              <a:effectLst/>
              <a:uFillTx/>
              <a:latin typeface="Arial"/>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rial"/>
              </a:rPr>
              <a:t>Fourth Outline Level</a:t>
            </a:r>
            <a:endParaRPr lang="en-US" sz="1800" b="0" u="none" strike="noStrike">
              <a:solidFill>
                <a:schemeClr val="dk1"/>
              </a:solidFill>
              <a:effectLst/>
              <a:uFillTx/>
              <a:latin typeface="Arial"/>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rial"/>
              </a:rPr>
              <a:t>Fifth Outline Level</a:t>
            </a:r>
            <a:endParaRPr lang="en-US" sz="1800" b="0" u="none" strike="noStrike">
              <a:solidFill>
                <a:schemeClr val="dk1"/>
              </a:solidFill>
              <a:effectLst/>
              <a:uFillTx/>
              <a:latin typeface="Arial"/>
            </a:endParaRPr>
          </a:p>
          <a:p>
            <a:pPr marL="2592000" lvl="5"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rial"/>
              </a:rPr>
              <a:t>Sixth Outline Level</a:t>
            </a:r>
            <a:endParaRPr lang="en-US" sz="1800" b="0" u="none" strike="noStrike">
              <a:solidFill>
                <a:schemeClr val="dk1"/>
              </a:solidFill>
              <a:effectLst/>
              <a:uFillTx/>
              <a:latin typeface="Arial"/>
            </a:endParaRPr>
          </a:p>
          <a:p>
            <a:pPr marL="3024000" lvl="6"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rial"/>
              </a:rPr>
              <a:t>Seventh Outline Level</a:t>
            </a:r>
            <a:endParaRPr lang="en-US" sz="18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ody">
    <p:bg>
      <p:bgPr>
        <a:solidFill>
          <a:srgbClr val="F6F5F0"/>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90000"/>
              </a:lnSpc>
              <a:buNone/>
              <a:defRPr lang="en-US" sz="4400" b="0" u="none" strike="noStrike">
                <a:solidFill>
                  <a:schemeClr val="dk1"/>
                </a:solidFill>
                <a:effectLst/>
                <a:uFillTx/>
                <a:latin typeface="Arial"/>
              </a:defRPr>
            </a:lvl1pPr>
          </a:lstStyle>
          <a:p>
            <a:pPr indent="0" algn="l" defTabSz="914400">
              <a:lnSpc>
                <a:spcPct val="90000"/>
              </a:lnSpc>
              <a:buNone/>
            </a:pPr>
            <a:r>
              <a:rPr lang="en-US" sz="4400" b="0" u="none" strike="noStrike">
                <a:solidFill>
                  <a:schemeClr val="dk1"/>
                </a:solidFill>
                <a:effectLst/>
                <a:uFillTx/>
                <a:latin typeface="Arial"/>
              </a:rPr>
              <a:t>Click to edit the title text format</a:t>
            </a:r>
            <a:endParaRPr lang="en-US" sz="4400" b="0" u="none" strike="noStrike">
              <a:solidFill>
                <a:schemeClr val="dk1"/>
              </a:solidFill>
              <a:effectLst/>
              <a:uFillTx/>
              <a:latin typeface="Arial"/>
            </a:endParaRPr>
          </a:p>
        </p:txBody>
      </p:sp>
      <p:sp>
        <p:nvSpPr>
          <p:cNvPr id="6"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14232E"/>
              </a:buClr>
              <a:buFont typeface="Arial"/>
              <a:buChar char="•"/>
              <a:defRPr lang="en-US" sz="2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rial"/>
              </a:defRPr>
            </a:lvl5pPr>
            <a:lvl6pPr lvl="5"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rial"/>
              </a:defRPr>
            </a:lvl6pPr>
            <a:lvl7pPr lvl="6"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rial"/>
              </a:defRPr>
            </a:lvl7pPr>
          </a:lstStyle>
          <a:p>
            <a:pPr marL="228600" indent="-228600" algn="l" defTabSz="914400">
              <a:lnSpc>
                <a:spcPct val="90000"/>
              </a:lnSpc>
              <a:spcBef>
                <a:spcPts val="1001"/>
              </a:spcBef>
              <a:buClr>
                <a:srgbClr val="14232E"/>
              </a:buClr>
              <a:buFont typeface="Arial"/>
              <a:buChar char="•"/>
            </a:pPr>
            <a:r>
              <a:rPr lang="en-US" sz="2800" b="0" u="none" strike="noStrike">
                <a:solidFill>
                  <a:schemeClr val="dk1"/>
                </a:solidFill>
                <a:effectLst/>
                <a:uFillTx/>
                <a:latin typeface="Arial"/>
              </a:rPr>
              <a:t>Click to edit the outline text format</a:t>
            </a:r>
            <a:endParaRPr lang="en-US" sz="2800" b="0" u="none" strike="noStrike">
              <a:solidFill>
                <a:schemeClr val="dk1"/>
              </a:solidFill>
              <a:effectLst/>
              <a:uFillTx/>
              <a:latin typeface="Arial"/>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rial"/>
              </a:rPr>
              <a:t>Second Outline Level</a:t>
            </a:r>
            <a:endParaRPr lang="en-US" sz="2400" b="0" u="none" strike="noStrike">
              <a:solidFill>
                <a:schemeClr val="dk1"/>
              </a:solidFill>
              <a:effectLst/>
              <a:uFillTx/>
              <a:latin typeface="Arial"/>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rial"/>
              </a:rPr>
              <a:t>Third Outline Level</a:t>
            </a:r>
            <a:endParaRPr lang="en-US" sz="2000" b="0" u="none" strike="noStrike">
              <a:solidFill>
                <a:schemeClr val="dk1"/>
              </a:solidFill>
              <a:effectLst/>
              <a:uFillTx/>
              <a:latin typeface="Arial"/>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rial"/>
              </a:rPr>
              <a:t>Fourth Outline Level</a:t>
            </a:r>
            <a:endParaRPr lang="en-US" sz="1800" b="0" u="none" strike="noStrike">
              <a:solidFill>
                <a:schemeClr val="dk1"/>
              </a:solidFill>
              <a:effectLst/>
              <a:uFillTx/>
              <a:latin typeface="Arial"/>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rial"/>
              </a:rPr>
              <a:t>Fifth Outline Level</a:t>
            </a:r>
            <a:endParaRPr lang="en-US" sz="1800" b="0" u="none" strike="noStrike">
              <a:solidFill>
                <a:schemeClr val="dk1"/>
              </a:solidFill>
              <a:effectLst/>
              <a:uFillTx/>
              <a:latin typeface="Arial"/>
            </a:endParaRPr>
          </a:p>
          <a:p>
            <a:pPr marL="2592000" lvl="5"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rial"/>
              </a:rPr>
              <a:t>Sixth Outline Level</a:t>
            </a:r>
            <a:endParaRPr lang="en-US" sz="1800" b="0" u="none" strike="noStrike">
              <a:solidFill>
                <a:schemeClr val="dk1"/>
              </a:solidFill>
              <a:effectLst/>
              <a:uFillTx/>
              <a:latin typeface="Arial"/>
            </a:endParaRPr>
          </a:p>
          <a:p>
            <a:pPr marL="3024000" lvl="6"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rial"/>
              </a:rPr>
              <a:t>Seventh Outline Level</a:t>
            </a:r>
            <a:endParaRPr lang="en-US" sz="1800" b="0" u="none" strike="noStrike">
              <a:solidFill>
                <a:schemeClr val="dk1"/>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solidFill>
          <a:srgbClr val="F6F5F0"/>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812880" y="1188720"/>
            <a:ext cx="10565640" cy="502200"/>
          </a:xfrm>
          <a:prstGeom prst="rect">
            <a:avLst/>
          </a:prstGeom>
          <a:noFill/>
          <a:ln w="0">
            <a:noFill/>
          </a:ln>
        </p:spPr>
        <p:txBody>
          <a:bodyPr lIns="0" tIns="0" rIns="0" bIns="0" anchor="ctr">
            <a:noAutofit/>
          </a:bodyPr>
          <a:lstStyle>
            <a:lvl1pPr indent="0" algn="l" defTabSz="914400">
              <a:lnSpc>
                <a:spcPct val="90000"/>
              </a:lnSpc>
              <a:buNone/>
              <a:defRPr lang="en-US" sz="4400" b="0" u="none" strike="noStrike">
                <a:solidFill>
                  <a:schemeClr val="dk1"/>
                </a:solidFill>
                <a:effectLst/>
                <a:uFillTx/>
                <a:latin typeface="Arial"/>
              </a:defRPr>
            </a:lvl1pPr>
          </a:lstStyle>
          <a:p>
            <a:pPr indent="0" algn="l" defTabSz="914400">
              <a:lnSpc>
                <a:spcPct val="90000"/>
              </a:lnSpc>
              <a:buNone/>
            </a:pPr>
            <a:r>
              <a:rPr lang="en-US" sz="4400" b="0" u="none" strike="noStrike">
                <a:solidFill>
                  <a:schemeClr val="dk1"/>
                </a:solidFill>
                <a:effectLst/>
                <a:uFillTx/>
                <a:latin typeface="Arial"/>
              </a:rPr>
              <a:t>Click to edit the title text format</a:t>
            </a:r>
            <a:endParaRPr lang="en-US" sz="4400" b="0" u="none" strike="noStrike">
              <a:solidFill>
                <a:schemeClr val="dk1"/>
              </a:solidFill>
              <a:effectLst/>
              <a:uFillTx/>
              <a:latin typeface="Arial"/>
            </a:endParaRPr>
          </a:p>
        </p:txBody>
      </p:sp>
      <p:sp>
        <p:nvSpPr>
          <p:cNvPr id="10"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14232E"/>
              </a:buClr>
              <a:buFont typeface="Arial"/>
              <a:buChar char="•"/>
              <a:defRPr lang="en-US" sz="2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rial"/>
              </a:defRPr>
            </a:lvl5pPr>
            <a:lvl6pPr lvl="5"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rial"/>
              </a:defRPr>
            </a:lvl6pPr>
            <a:lvl7pPr lvl="6"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rial"/>
              </a:defRPr>
            </a:lvl7pPr>
          </a:lstStyle>
          <a:p>
            <a:pPr marL="228600" indent="-228600" algn="l" defTabSz="914400">
              <a:lnSpc>
                <a:spcPct val="90000"/>
              </a:lnSpc>
              <a:spcBef>
                <a:spcPts val="1001"/>
              </a:spcBef>
              <a:buClr>
                <a:srgbClr val="14232E"/>
              </a:buClr>
              <a:buFont typeface="Arial"/>
              <a:buChar char="•"/>
            </a:pPr>
            <a:r>
              <a:rPr lang="en-US" sz="2800" b="0" u="none" strike="noStrike">
                <a:solidFill>
                  <a:schemeClr val="dk1"/>
                </a:solidFill>
                <a:effectLst/>
                <a:uFillTx/>
                <a:latin typeface="Arial"/>
              </a:rPr>
              <a:t>Click to edit the outline text format</a:t>
            </a:r>
            <a:endParaRPr lang="en-US" sz="2800" b="0" u="none" strike="noStrike">
              <a:solidFill>
                <a:schemeClr val="dk1"/>
              </a:solidFill>
              <a:effectLst/>
              <a:uFillTx/>
              <a:latin typeface="Arial"/>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rial"/>
              </a:rPr>
              <a:t>Second Outline Level</a:t>
            </a:r>
            <a:endParaRPr lang="en-US" sz="2400" b="0" u="none" strike="noStrike">
              <a:solidFill>
                <a:schemeClr val="dk1"/>
              </a:solidFill>
              <a:effectLst/>
              <a:uFillTx/>
              <a:latin typeface="Arial"/>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rial"/>
              </a:rPr>
              <a:t>Third Outline Level</a:t>
            </a:r>
            <a:endParaRPr lang="en-US" sz="2000" b="0" u="none" strike="noStrike">
              <a:solidFill>
                <a:schemeClr val="dk1"/>
              </a:solidFill>
              <a:effectLst/>
              <a:uFillTx/>
              <a:latin typeface="Arial"/>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rial"/>
              </a:rPr>
              <a:t>Fourth Outline Level</a:t>
            </a:r>
            <a:endParaRPr lang="en-US" sz="1800" b="0" u="none" strike="noStrike">
              <a:solidFill>
                <a:schemeClr val="dk1"/>
              </a:solidFill>
              <a:effectLst/>
              <a:uFillTx/>
              <a:latin typeface="Arial"/>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rial"/>
              </a:rPr>
              <a:t>Fifth Outline Level</a:t>
            </a:r>
            <a:endParaRPr lang="en-US" sz="1800" b="0" u="none" strike="noStrike">
              <a:solidFill>
                <a:schemeClr val="dk1"/>
              </a:solidFill>
              <a:effectLst/>
              <a:uFillTx/>
              <a:latin typeface="Arial"/>
            </a:endParaRPr>
          </a:p>
          <a:p>
            <a:pPr marL="2592000" lvl="5"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rial"/>
              </a:rPr>
              <a:t>Sixth Outline Level</a:t>
            </a:r>
            <a:endParaRPr lang="en-US" sz="1800" b="0" u="none" strike="noStrike">
              <a:solidFill>
                <a:schemeClr val="dk1"/>
              </a:solidFill>
              <a:effectLst/>
              <a:uFillTx/>
              <a:latin typeface="Arial"/>
            </a:endParaRPr>
          </a:p>
          <a:p>
            <a:pPr marL="3024000" lvl="6"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rial"/>
              </a:rPr>
              <a:t>Seventh Outline Level</a:t>
            </a:r>
            <a:endParaRPr lang="en-US" sz="1800" b="0" u="none" strike="noStrike">
              <a:solidFill>
                <a:schemeClr val="dk1"/>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le and body">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
</Relationships>
</file>

<file path=ppt/slideMasters/_rels/slideMaster4.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12880" y="1188720"/>
            <a:ext cx="10565640" cy="502200"/>
          </a:xfrm>
          <a:prstGeom prst="rect">
            <a:avLst/>
          </a:prstGeom>
          <a:noFill/>
          <a:ln w="0">
            <a:noFill/>
          </a:ln>
        </p:spPr>
        <p:txBody>
          <a:bodyPr lIns="0" tIns="0" rIns="0" bIns="0" anchor="ctr">
            <a:noAutofit/>
          </a:bodyPr>
          <a:lstStyle>
            <a:lvl1pPr indent="0" algn="l">
              <a:buNone/>
              <a:defRPr lang="en-US" sz="4400" b="0" u="none" strike="noStrike">
                <a:solidFill>
                  <a:schemeClr val="dk1"/>
                </a:solidFill>
                <a:effectLst/>
                <a:uFillTx/>
                <a:latin typeface="Arial"/>
              </a:defRPr>
            </a:lvl1pPr>
          </a:lstStyle>
          <a:p>
            <a:pPr indent="0" algn="l">
              <a:buNone/>
            </a:pPr>
            <a:r>
              <a:rPr lang="en-US" sz="4400" b="0" u="none" strike="noStrike">
                <a:solidFill>
                  <a:schemeClr val="dk1"/>
                </a:solidFill>
                <a:effectLst/>
                <a:uFillTx/>
                <a:latin typeface="Arial"/>
              </a:rPr>
              <a:t>Click to edit the title text format</a:t>
            </a:r>
            <a:endParaRPr lang="en-US" sz="4400" b="0" u="none" strike="noStrik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90000"/>
              </a:lnSpc>
              <a:buNone/>
              <a:defRPr lang="en-US" sz="4400" b="0" u="none" strike="noStrike">
                <a:solidFill>
                  <a:schemeClr val="dk1"/>
                </a:solidFill>
                <a:effectLst/>
                <a:uFillTx/>
                <a:latin typeface="Arial"/>
              </a:defRPr>
            </a:lvl1pPr>
          </a:lstStyle>
          <a:p>
            <a:pPr indent="0" algn="l" defTabSz="914400">
              <a:lnSpc>
                <a:spcPct val="90000"/>
              </a:lnSpc>
              <a:buNone/>
            </a:pPr>
            <a:r>
              <a:rPr lang="en-US" sz="4400" b="0" u="none" strike="noStrike">
                <a:solidFill>
                  <a:schemeClr val="dk1"/>
                </a:solidFill>
                <a:effectLst/>
                <a:uFillTx/>
                <a:latin typeface="Arial"/>
              </a:rPr>
              <a:t>Click to edit the title text format</a:t>
            </a:r>
            <a:endParaRPr lang="en-US" sz="4400" b="0" u="none" strike="noStrike">
              <a:solidFill>
                <a:schemeClr val="dk1"/>
              </a:solidFill>
              <a:effectLst/>
              <a:uFillTx/>
              <a:latin typeface="Arial"/>
            </a:endParaRPr>
          </a:p>
        </p:txBody>
      </p:sp>
      <p:sp>
        <p:nvSpPr>
          <p:cNvPr id="12"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14232E"/>
              </a:buClr>
              <a:buFont typeface="Arial"/>
              <a:buChar char="•"/>
              <a:defRPr lang="en-US" sz="2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rial"/>
              </a:defRPr>
            </a:lvl5pPr>
            <a:lvl6pPr lvl="5"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rial"/>
              </a:defRPr>
            </a:lvl6pPr>
            <a:lvl7pPr lvl="6"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rial"/>
              </a:defRPr>
            </a:lvl7pPr>
          </a:lstStyle>
          <a:p>
            <a:pPr marL="228600" indent="-228600" algn="l" defTabSz="914400">
              <a:lnSpc>
                <a:spcPct val="90000"/>
              </a:lnSpc>
              <a:spcBef>
                <a:spcPts val="1001"/>
              </a:spcBef>
              <a:buClr>
                <a:srgbClr val="14232E"/>
              </a:buClr>
              <a:buFont typeface="Arial"/>
              <a:buChar char="•"/>
            </a:pPr>
            <a:r>
              <a:rPr lang="en-US" sz="2800" b="0" u="none" strike="noStrike">
                <a:solidFill>
                  <a:schemeClr val="dk1"/>
                </a:solidFill>
                <a:effectLst/>
                <a:uFillTx/>
                <a:latin typeface="Arial"/>
              </a:rPr>
              <a:t>Click to edit the outline text format</a:t>
            </a:r>
            <a:endParaRPr lang="en-US" sz="2800" b="0" u="none" strike="noStrike">
              <a:solidFill>
                <a:schemeClr val="dk1"/>
              </a:solidFill>
              <a:effectLst/>
              <a:uFillTx/>
              <a:latin typeface="Arial"/>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rial"/>
              </a:rPr>
              <a:t>Second Outline Level</a:t>
            </a:r>
            <a:endParaRPr lang="en-US" sz="2400" b="0" u="none" strike="noStrike">
              <a:solidFill>
                <a:schemeClr val="dk1"/>
              </a:solidFill>
              <a:effectLst/>
              <a:uFillTx/>
              <a:latin typeface="Arial"/>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rial"/>
              </a:rPr>
              <a:t>Third Outline Level</a:t>
            </a:r>
            <a:endParaRPr lang="en-US" sz="2000" b="0" u="none" strike="noStrike">
              <a:solidFill>
                <a:schemeClr val="dk1"/>
              </a:solidFill>
              <a:effectLst/>
              <a:uFillTx/>
              <a:latin typeface="Arial"/>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rial"/>
              </a:rPr>
              <a:t>Fourth Outline Level</a:t>
            </a:r>
            <a:endParaRPr lang="en-US" sz="1800" b="0" u="none" strike="noStrike">
              <a:solidFill>
                <a:schemeClr val="dk1"/>
              </a:solidFill>
              <a:effectLst/>
              <a:uFillTx/>
              <a:latin typeface="Arial"/>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rial"/>
              </a:rPr>
              <a:t>Fifth Outline Level</a:t>
            </a:r>
            <a:endParaRPr lang="en-US" sz="1800" b="0" u="none" strike="noStrike">
              <a:solidFill>
                <a:schemeClr val="dk1"/>
              </a:solidFill>
              <a:effectLst/>
              <a:uFillTx/>
              <a:latin typeface="Arial"/>
            </a:endParaRPr>
          </a:p>
          <a:p>
            <a:pPr marL="2592000" lvl="5"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rial"/>
              </a:rPr>
              <a:t>Sixth Outline Level</a:t>
            </a:r>
            <a:endParaRPr lang="en-US" sz="1800" b="0" u="none" strike="noStrike">
              <a:solidFill>
                <a:schemeClr val="dk1"/>
              </a:solidFill>
              <a:effectLst/>
              <a:uFillTx/>
              <a:latin typeface="Arial"/>
            </a:endParaRPr>
          </a:p>
          <a:p>
            <a:pPr marL="3024000" lvl="6"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rial"/>
              </a:rPr>
              <a:t>Seventh Outline Level</a:t>
            </a:r>
            <a:endParaRPr lang="en-US" sz="1800" b="0" u="none" strike="noStrik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5"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hyperlink" Target="https://datamall.lta.gov.sg/" TargetMode="External"/><Relationship Id="rId3" Type="http://schemas.openxmlformats.org/officeDocument/2006/relationships/slideLayout" Target="../slideLayouts/slideLayout3.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5.png"/><Relationship Id="rId3" Type="http://schemas.openxmlformats.org/officeDocument/2006/relationships/image" Target="../media/image5.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13.png"/><Relationship Id="rId14" Type="http://schemas.openxmlformats.org/officeDocument/2006/relationships/image" Target="../media/image14.png"/><Relationship Id="rId15" Type="http://schemas.openxmlformats.org/officeDocument/2006/relationships/image" Target="../media/image15.png"/><Relationship Id="rId16" Type="http://schemas.openxmlformats.org/officeDocument/2006/relationships/image" Target="../media/image16.png"/><Relationship Id="rId17" Type="http://schemas.openxmlformats.org/officeDocument/2006/relationships/image" Target="../media/image17.png"/><Relationship Id="rId18" Type="http://schemas.openxmlformats.org/officeDocument/2006/relationships/slideLayout" Target="../slideLayouts/slideLayout3.xml"/><Relationship Id="rId19"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5.png"/><Relationship Id="rId3" Type="http://schemas.openxmlformats.org/officeDocument/2006/relationships/slideLayout" Target="../slideLayouts/slideLayout3.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slideLayout" Target="../slideLayouts/slideLayout3.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32E"/>
        </a:solidFill>
      </p:bgPr>
    </p:bg>
    <p:spTree>
      <p:nvGrpSpPr>
        <p:cNvPr id="1" name=""/>
        <p:cNvGrpSpPr/>
        <p:nvPr/>
      </p:nvGrpSpPr>
      <p:grpSpPr>
        <a:xfrm>
          <a:off x="0" y="0"/>
          <a:ext cx="0" cy="0"/>
          <a:chOff x="0" y="0"/>
          <a:chExt cx="0" cy="0"/>
        </a:xfrm>
      </p:grpSpPr>
      <p:sp>
        <p:nvSpPr>
          <p:cNvPr id="19" name="Text 0"/>
          <p:cNvSpPr/>
          <p:nvPr/>
        </p:nvSpPr>
        <p:spPr>
          <a:xfrm>
            <a:off x="812880" y="812880"/>
            <a:ext cx="10882800" cy="27360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pc="198" strike="noStrike">
                <a:solidFill>
                  <a:srgbClr val="5CC8C4"/>
                </a:solidFill>
                <a:effectLst/>
                <a:uFillTx/>
                <a:latin typeface="DM Sans"/>
                <a:ea typeface="DM Sans"/>
              </a:rPr>
              <a:t>MODULE 2 · EXECUTIVE PRESENTATION</a:t>
            </a:r>
            <a:endParaRPr lang="en-GB" sz="1400" b="0" u="none" strike="noStrike">
              <a:solidFill>
                <a:srgbClr val="FFFFFF"/>
              </a:solidFill>
              <a:effectLst/>
              <a:uFillTx/>
              <a:latin typeface="Arial"/>
            </a:endParaRPr>
          </a:p>
        </p:txBody>
      </p:sp>
      <p:sp>
        <p:nvSpPr>
          <p:cNvPr id="20" name="PlaceHolder 1"/>
          <p:cNvSpPr>
            <a:spLocks noGrp="1"/>
          </p:cNvSpPr>
          <p:nvPr>
            <p:ph type="title"/>
          </p:nvPr>
        </p:nvSpPr>
        <p:spPr>
          <a:xfrm>
            <a:off x="812880" y="1944360"/>
            <a:ext cx="9483120" cy="2104920"/>
          </a:xfrm>
          <a:prstGeom prst="rect">
            <a:avLst/>
          </a:prstGeom>
          <a:noFill/>
          <a:ln w="0">
            <a:noFill/>
          </a:ln>
        </p:spPr>
        <p:txBody>
          <a:bodyPr lIns="0" tIns="0" rIns="0" bIns="0" anchor="t">
            <a:normAutofit/>
          </a:bodyPr>
          <a:p>
            <a:pPr indent="0" algn="l" defTabSz="914400">
              <a:lnSpc>
                <a:spcPts val="5460"/>
              </a:lnSpc>
              <a:buNone/>
              <a:tabLst>
                <a:tab pos="0" algn="l"/>
              </a:tabLst>
            </a:pPr>
            <a:r>
              <a:rPr lang="en-US" sz="5200" b="1" u="none" strike="noStrike">
                <a:solidFill>
                  <a:srgbClr val="F6F5F0"/>
                </a:solidFill>
                <a:effectLst/>
                <a:uFillTx/>
                <a:latin typeface="DM Sans"/>
                <a:ea typeface="DM Sans"/>
              </a:rPr>
              <a:t>A trusted data platform for Singapore’s EV charging network</a:t>
            </a:r>
            <a:endParaRPr lang="en-US" sz="5200" b="0" u="none" strike="noStrike">
              <a:solidFill>
                <a:schemeClr val="dk1"/>
              </a:solidFill>
              <a:effectLst/>
              <a:uFillTx/>
              <a:latin typeface="Arial"/>
            </a:endParaRPr>
          </a:p>
        </p:txBody>
      </p:sp>
      <p:sp>
        <p:nvSpPr>
          <p:cNvPr id="21" name="Text 2"/>
          <p:cNvSpPr/>
          <p:nvPr/>
        </p:nvSpPr>
        <p:spPr>
          <a:xfrm>
            <a:off x="812880" y="4227840"/>
            <a:ext cx="8501760" cy="710640"/>
          </a:xfrm>
          <a:prstGeom prst="rect">
            <a:avLst/>
          </a:prstGeom>
          <a:noFill/>
          <a:ln w="0">
            <a:noFill/>
          </a:ln>
        </p:spPr>
        <p:style>
          <a:lnRef idx="0"/>
          <a:fillRef idx="0"/>
          <a:effectRef idx="0"/>
          <a:fontRef idx="minor"/>
        </p:style>
        <p:txBody>
          <a:bodyPr lIns="0" tIns="0" rIns="0" bIns="0" anchor="t">
            <a:normAutofit/>
          </a:bodyPr>
          <a:p>
            <a:pPr defTabSz="914400">
              <a:lnSpc>
                <a:spcPts val="2701"/>
              </a:lnSpc>
              <a:tabLst>
                <a:tab pos="0" algn="l"/>
              </a:tabLst>
            </a:pPr>
            <a:r>
              <a:rPr lang="en-US" sz="2000" b="0" u="none" strike="noStrike">
                <a:solidFill>
                  <a:srgbClr val="B9C4CC"/>
                </a:solidFill>
                <a:effectLst/>
                <a:uFillTx/>
                <a:latin typeface="DM Sans"/>
                <a:ea typeface="DM Sans"/>
              </a:rPr>
              <a:t>Fro</a:t>
            </a:r>
            <a:r>
              <a:rPr lang="en-US" sz="2000" b="0" u="none" strike="noStrike">
                <a:solidFill>
                  <a:srgbClr val="B9C4CC"/>
                </a:solidFill>
                <a:effectLst/>
                <a:uFillTx/>
                <a:latin typeface="DM Sans"/>
                <a:ea typeface="DM Sans"/>
              </a:rPr>
              <a:t>m </a:t>
            </a:r>
            <a:r>
              <a:rPr lang="en-US" sz="2000" b="0" u="none" strike="noStrike">
                <a:solidFill>
                  <a:srgbClr val="B9C4CC"/>
                </a:solidFill>
                <a:effectLst/>
                <a:uFillTx/>
                <a:latin typeface="DM Sans"/>
                <a:ea typeface="DM Sans"/>
              </a:rPr>
              <a:t>the </a:t>
            </a:r>
            <a:r>
              <a:rPr lang="en-US" sz="2000" b="0" u="none" strike="noStrike">
                <a:solidFill>
                  <a:srgbClr val="B9C4CC"/>
                </a:solidFill>
                <a:effectLst/>
                <a:uFillTx/>
                <a:latin typeface="DM Sans"/>
                <a:ea typeface="DM Sans"/>
              </a:rPr>
              <a:t>LTA </a:t>
            </a:r>
            <a:r>
              <a:rPr lang="en-US" sz="2000" b="0" u="none" strike="noStrike">
                <a:solidFill>
                  <a:srgbClr val="B9C4CC"/>
                </a:solidFill>
                <a:effectLst/>
                <a:uFillTx/>
                <a:latin typeface="DM Sans"/>
                <a:ea typeface="DM Sans"/>
              </a:rPr>
              <a:t>Dat</a:t>
            </a:r>
            <a:r>
              <a:rPr lang="en-US" sz="2000" b="0" u="none" strike="noStrike">
                <a:solidFill>
                  <a:srgbClr val="B9C4CC"/>
                </a:solidFill>
                <a:effectLst/>
                <a:uFillTx/>
                <a:latin typeface="DM Sans"/>
                <a:ea typeface="DM Sans"/>
              </a:rPr>
              <a:t>aM</a:t>
            </a:r>
            <a:r>
              <a:rPr lang="en-US" sz="2000" b="0" u="none" strike="noStrike">
                <a:solidFill>
                  <a:srgbClr val="B9C4CC"/>
                </a:solidFill>
                <a:effectLst/>
                <a:uFillTx/>
                <a:latin typeface="DM Sans"/>
                <a:ea typeface="DM Sans"/>
              </a:rPr>
              <a:t>all </a:t>
            </a:r>
            <a:r>
              <a:rPr lang="en-US" sz="2000" b="0" u="none" strike="noStrike">
                <a:solidFill>
                  <a:srgbClr val="B9C4CC"/>
                </a:solidFill>
                <a:effectLst/>
                <a:uFillTx/>
                <a:latin typeface="DM Sans"/>
                <a:ea typeface="DM Sans"/>
              </a:rPr>
              <a:t>API </a:t>
            </a:r>
            <a:r>
              <a:rPr lang="en-US" sz="2000" b="0" u="none" strike="noStrike">
                <a:solidFill>
                  <a:srgbClr val="B9C4CC"/>
                </a:solidFill>
                <a:effectLst/>
                <a:uFillTx/>
                <a:latin typeface="DM Sans"/>
                <a:ea typeface="DM Sans"/>
              </a:rPr>
              <a:t>to a </a:t>
            </a:r>
            <a:r>
              <a:rPr lang="en-US" sz="2000" b="0" u="none" strike="noStrike">
                <a:solidFill>
                  <a:srgbClr val="B9C4CC"/>
                </a:solidFill>
                <a:effectLst/>
                <a:uFillTx/>
                <a:latin typeface="DM Sans"/>
                <a:ea typeface="DM Sans"/>
              </a:rPr>
              <a:t>test</a:t>
            </a:r>
            <a:r>
              <a:rPr lang="en-US" sz="2000" b="0" u="none" strike="noStrike">
                <a:solidFill>
                  <a:srgbClr val="B9C4CC"/>
                </a:solidFill>
                <a:effectLst/>
                <a:uFillTx/>
                <a:latin typeface="DM Sans"/>
                <a:ea typeface="DM Sans"/>
              </a:rPr>
              <a:t>ed </a:t>
            </a:r>
            <a:r>
              <a:rPr lang="en-US" sz="2000" b="0" u="none" strike="noStrike">
                <a:solidFill>
                  <a:srgbClr val="B9C4CC"/>
                </a:solidFill>
                <a:effectLst/>
                <a:uFillTx/>
                <a:latin typeface="DM Sans"/>
                <a:ea typeface="DM Sans"/>
              </a:rPr>
              <a:t>Big</a:t>
            </a:r>
            <a:r>
              <a:rPr lang="en-US" sz="2000" b="0" u="none" strike="noStrike">
                <a:solidFill>
                  <a:srgbClr val="B9C4CC"/>
                </a:solidFill>
                <a:effectLst/>
                <a:uFillTx/>
                <a:latin typeface="DM Sans"/>
                <a:ea typeface="DM Sans"/>
              </a:rPr>
              <a:t>Que</a:t>
            </a:r>
            <a:r>
              <a:rPr lang="en-US" sz="2000" b="0" u="none" strike="noStrike">
                <a:solidFill>
                  <a:srgbClr val="B9C4CC"/>
                </a:solidFill>
                <a:effectLst/>
                <a:uFillTx/>
                <a:latin typeface="DM Sans"/>
                <a:ea typeface="DM Sans"/>
              </a:rPr>
              <a:t>ry </a:t>
            </a:r>
            <a:r>
              <a:rPr lang="en-US" sz="2000" b="0" u="none" strike="noStrike">
                <a:solidFill>
                  <a:srgbClr val="B9C4CC"/>
                </a:solidFill>
                <a:effectLst/>
                <a:uFillTx/>
                <a:latin typeface="DM Sans"/>
                <a:ea typeface="DM Sans"/>
              </a:rPr>
              <a:t>war</a:t>
            </a:r>
            <a:r>
              <a:rPr lang="en-US" sz="2000" b="0" u="none" strike="noStrike">
                <a:solidFill>
                  <a:srgbClr val="B9C4CC"/>
                </a:solidFill>
                <a:effectLst/>
                <a:uFillTx/>
                <a:latin typeface="DM Sans"/>
                <a:ea typeface="DM Sans"/>
              </a:rPr>
              <a:t>eho</a:t>
            </a:r>
            <a:r>
              <a:rPr lang="en-US" sz="2000" b="0" u="none" strike="noStrike">
                <a:solidFill>
                  <a:srgbClr val="B9C4CC"/>
                </a:solidFill>
                <a:effectLst/>
                <a:uFillTx/>
                <a:latin typeface="DM Sans"/>
                <a:ea typeface="DM Sans"/>
              </a:rPr>
              <a:t>use </a:t>
            </a:r>
            <a:r>
              <a:rPr lang="en-US" sz="2000" b="0" u="none" strike="noStrike">
                <a:solidFill>
                  <a:srgbClr val="B9C4CC"/>
                </a:solidFill>
                <a:effectLst/>
                <a:uFillTx/>
                <a:latin typeface="DM Sans"/>
                <a:ea typeface="DM Sans"/>
              </a:rPr>
              <a:t>and </a:t>
            </a:r>
            <a:r>
              <a:rPr lang="en-US" sz="2000" b="0" u="none" strike="noStrike">
                <a:solidFill>
                  <a:srgbClr val="B9C4CC"/>
                </a:solidFill>
                <a:effectLst/>
                <a:uFillTx/>
                <a:latin typeface="DM Sans"/>
                <a:ea typeface="DM Sans"/>
              </a:rPr>
              <a:t>clea</a:t>
            </a:r>
            <a:r>
              <a:rPr lang="en-US" sz="2000" b="0" u="none" strike="noStrike">
                <a:solidFill>
                  <a:srgbClr val="B9C4CC"/>
                </a:solidFill>
                <a:effectLst/>
                <a:uFillTx/>
                <a:latin typeface="DM Sans"/>
                <a:ea typeface="DM Sans"/>
              </a:rPr>
              <a:t>r </a:t>
            </a:r>
            <a:r>
              <a:rPr lang="en-US" sz="2000" b="0" u="none" strike="noStrike">
                <a:solidFill>
                  <a:srgbClr val="B9C4CC"/>
                </a:solidFill>
                <a:effectLst/>
                <a:uFillTx/>
                <a:latin typeface="DM Sans"/>
                <a:ea typeface="DM Sans"/>
              </a:rPr>
              <a:t>insi</a:t>
            </a:r>
            <a:r>
              <a:rPr lang="en-US" sz="2000" b="0" u="none" strike="noStrike">
                <a:solidFill>
                  <a:srgbClr val="B9C4CC"/>
                </a:solidFill>
                <a:effectLst/>
                <a:uFillTx/>
                <a:latin typeface="DM Sans"/>
                <a:ea typeface="DM Sans"/>
              </a:rPr>
              <a:t>ght</a:t>
            </a:r>
            <a:r>
              <a:rPr lang="en-US" sz="2000" b="0" u="none" strike="noStrike">
                <a:solidFill>
                  <a:srgbClr val="B9C4CC"/>
                </a:solidFill>
                <a:effectLst/>
                <a:uFillTx/>
                <a:latin typeface="DM Sans"/>
                <a:ea typeface="DM Sans"/>
              </a:rPr>
              <a:t>s</a:t>
            </a:r>
            <a:endParaRPr lang="en-GB" sz="2000" b="0" u="none" strike="noStrike">
              <a:solidFill>
                <a:srgbClr val="FFFFFF"/>
              </a:solidFill>
              <a:effectLst/>
              <a:uFillTx/>
              <a:latin typeface="Arial"/>
            </a:endParaRPr>
          </a:p>
        </p:txBody>
      </p:sp>
      <p:sp>
        <p:nvSpPr>
          <p:cNvPr id="22" name="Text 3"/>
          <p:cNvSpPr/>
          <p:nvPr/>
        </p:nvSpPr>
        <p:spPr>
          <a:xfrm>
            <a:off x="812880" y="5796360"/>
            <a:ext cx="10882800" cy="27360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B9C4CC"/>
                </a:solidFill>
                <a:effectLst/>
                <a:uFillTx/>
                <a:latin typeface="DM Sans"/>
                <a:ea typeface="DM Sans"/>
              </a:rPr>
              <a:t>Team 4 · 15 Oct 2026</a:t>
            </a:r>
            <a:endParaRPr lang="en-GB"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pic>
        <p:nvPicPr>
          <p:cNvPr id="23" name="Image 0" descr="Singapore electrification vision: no new diesel cars from 2025, all new registrations cleaner-energy by 2030, 60,000 charging points by 2030, net zero land transport emissions by 2050"/>
          <p:cNvPicPr/>
          <p:nvPr/>
        </p:nvPicPr>
        <p:blipFill>
          <a:blip r:embed="rId1"/>
          <a:srcRect l="0" t="-1576" r="0" b="-1576"/>
          <a:stretch/>
        </p:blipFill>
        <p:spPr>
          <a:xfrm>
            <a:off x="0" y="254160"/>
            <a:ext cx="12191400" cy="6349320"/>
          </a:xfrm>
          <a:prstGeom prst="rect">
            <a:avLst/>
          </a:prstGeom>
          <a:noFill/>
          <a:ln w="0">
            <a:noFill/>
          </a:ln>
        </p:spPr>
      </p:pic>
      <p:sp>
        <p:nvSpPr>
          <p:cNvPr id="24" name="Text 0"/>
          <p:cNvSpPr/>
          <p:nvPr/>
        </p:nvSpPr>
        <p:spPr>
          <a:xfrm>
            <a:off x="11291400" y="6492240"/>
            <a:ext cx="13788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F5B66"/>
                </a:solidFill>
                <a:effectLst/>
                <a:uFillTx/>
                <a:latin typeface="DM Sans"/>
                <a:ea typeface="DM Sans"/>
              </a:rPr>
              <a:t>2</a:t>
            </a:r>
            <a:endParaRPr lang="en-GB"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pic>
        <p:nvPicPr>
          <p:cNvPr id="25" name="Image 0" descr="Electrification progress: more than a third of new cars in H1 2024 were electric, over 21,800 electric cars, more than half of HDB carparks have EV charging points, over 15,300 charging points islandwide"/>
          <p:cNvPicPr/>
          <p:nvPr/>
        </p:nvPicPr>
        <p:blipFill>
          <a:blip r:embed="rId1"/>
          <a:srcRect l="0" t="-5832" r="0" b="-5832"/>
          <a:stretch/>
        </p:blipFill>
        <p:spPr>
          <a:xfrm>
            <a:off x="0" y="254160"/>
            <a:ext cx="12191400" cy="6349320"/>
          </a:xfrm>
          <a:prstGeom prst="rect">
            <a:avLst/>
          </a:prstGeom>
          <a:noFill/>
          <a:ln w="0">
            <a:noFill/>
          </a:ln>
        </p:spPr>
      </p:pic>
      <p:sp>
        <p:nvSpPr>
          <p:cNvPr id="26" name="Text 0"/>
          <p:cNvSpPr/>
          <p:nvPr/>
        </p:nvSpPr>
        <p:spPr>
          <a:xfrm>
            <a:off x="11289240" y="6492240"/>
            <a:ext cx="1400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F5B66"/>
                </a:solidFill>
                <a:effectLst/>
                <a:uFillTx/>
                <a:latin typeface="DM Sans"/>
                <a:ea typeface="DM Sans"/>
              </a:rPr>
              <a:t>3</a:t>
            </a:r>
            <a:endParaRPr lang="en-GB"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27" name="Text 0"/>
          <p:cNvSpPr/>
          <p:nvPr/>
        </p:nvSpPr>
        <p:spPr>
          <a:xfrm>
            <a:off x="812880" y="812880"/>
            <a:ext cx="10882800" cy="27360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pc="198" strike="noStrike">
                <a:solidFill>
                  <a:srgbClr val="0E7C7B"/>
                </a:solidFill>
                <a:effectLst/>
                <a:uFillTx/>
                <a:latin typeface="DM Sans"/>
                <a:ea typeface="DM Sans"/>
              </a:rPr>
              <a:t>EXECUTIVE SUMMARY</a:t>
            </a:r>
            <a:endParaRPr lang="en-GB" sz="1400" b="0" u="none" strike="noStrike">
              <a:solidFill>
                <a:srgbClr val="000000"/>
              </a:solidFill>
              <a:effectLst/>
              <a:uFillTx/>
              <a:latin typeface="Arial"/>
            </a:endParaRPr>
          </a:p>
        </p:txBody>
      </p:sp>
      <p:sp>
        <p:nvSpPr>
          <p:cNvPr id="28" name="PlaceHolder 1"/>
          <p:cNvSpPr>
            <a:spLocks noGrp="1"/>
          </p:cNvSpPr>
          <p:nvPr>
            <p:ph type="title"/>
          </p:nvPr>
        </p:nvSpPr>
        <p:spPr>
          <a:xfrm>
            <a:off x="812880" y="1188720"/>
            <a:ext cx="10882800" cy="1030320"/>
          </a:xfrm>
          <a:prstGeom prst="rect">
            <a:avLst/>
          </a:prstGeom>
          <a:noFill/>
          <a:ln w="0">
            <a:noFill/>
          </a:ln>
        </p:spPr>
        <p:txBody>
          <a:bodyPr lIns="0" tIns="0" rIns="0" bIns="0" anchor="t">
            <a:normAutofit/>
          </a:bodyPr>
          <a:p>
            <a:pPr indent="0" algn="l" defTabSz="914400">
              <a:lnSpc>
                <a:spcPts val="3960"/>
              </a:lnSpc>
              <a:buNone/>
              <a:tabLst>
                <a:tab pos="0" algn="l"/>
              </a:tabLst>
            </a:pPr>
            <a:r>
              <a:rPr lang="en-US" sz="3600" b="1" u="none" strike="noStrike">
                <a:solidFill>
                  <a:schemeClr val="dk1"/>
                </a:solidFill>
                <a:effectLst/>
                <a:uFillTx/>
                <a:latin typeface="DM Sans"/>
                <a:ea typeface="DM Sans"/>
              </a:rPr>
              <a:t>From a live snapshot to a source people can trust</a:t>
            </a:r>
            <a:endParaRPr lang="en-US" sz="3600" b="0" u="none" strike="noStrike">
              <a:solidFill>
                <a:schemeClr val="dk1"/>
              </a:solidFill>
              <a:effectLst/>
              <a:uFillTx/>
              <a:latin typeface="Arial"/>
            </a:endParaRPr>
          </a:p>
        </p:txBody>
      </p:sp>
      <p:sp>
        <p:nvSpPr>
          <p:cNvPr id="29" name="Shape 2"/>
          <p:cNvSpPr/>
          <p:nvPr/>
        </p:nvSpPr>
        <p:spPr>
          <a:xfrm>
            <a:off x="816120" y="2553120"/>
            <a:ext cx="3379680" cy="2518920"/>
          </a:xfrm>
          <a:prstGeom prst="roundRect">
            <a:avLst>
              <a:gd name="adj" fmla="val 3906"/>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30" name="Text 3"/>
          <p:cNvSpPr/>
          <p:nvPr/>
        </p:nvSpPr>
        <p:spPr>
          <a:xfrm>
            <a:off x="1072440" y="2809800"/>
            <a:ext cx="2952720" cy="329400"/>
          </a:xfrm>
          <a:prstGeom prst="rect">
            <a:avLst/>
          </a:prstGeom>
          <a:noFill/>
          <a:ln w="0">
            <a:noFill/>
          </a:ln>
        </p:spPr>
        <p:style>
          <a:lnRef idx="0"/>
          <a:fillRef idx="0"/>
          <a:effectRef idx="0"/>
          <a:fontRef idx="minor"/>
        </p:style>
        <p:txBody>
          <a:bodyPr lIns="0" tIns="0" rIns="0" bIns="0" anchor="t">
            <a:normAutofit/>
          </a:bodyPr>
          <a:p>
            <a:pPr defTabSz="914400">
              <a:lnSpc>
                <a:spcPts val="2401"/>
              </a:lnSpc>
              <a:tabLst>
                <a:tab pos="0" algn="l"/>
              </a:tabLst>
            </a:pPr>
            <a:r>
              <a:rPr lang="en-US" sz="2000" b="1" u="none" strike="noStrike">
                <a:solidFill>
                  <a:srgbClr val="A85A00"/>
                </a:solidFill>
                <a:effectLst/>
                <a:uFillTx/>
                <a:latin typeface="DM Sans"/>
                <a:ea typeface="DM Sans"/>
              </a:rPr>
              <a:t>Problem</a:t>
            </a:r>
            <a:endParaRPr lang="en-GB" sz="2000" b="0" u="none" strike="noStrike">
              <a:solidFill>
                <a:srgbClr val="000000"/>
              </a:solidFill>
              <a:effectLst/>
              <a:uFillTx/>
              <a:latin typeface="Arial"/>
            </a:endParaRPr>
          </a:p>
        </p:txBody>
      </p:sp>
      <p:sp>
        <p:nvSpPr>
          <p:cNvPr id="31" name="Text 4"/>
          <p:cNvSpPr/>
          <p:nvPr/>
        </p:nvSpPr>
        <p:spPr>
          <a:xfrm>
            <a:off x="1072440" y="3216240"/>
            <a:ext cx="2952720" cy="1625040"/>
          </a:xfrm>
          <a:prstGeom prst="rect">
            <a:avLst/>
          </a:prstGeom>
          <a:noFill/>
          <a:ln w="0">
            <a:noFill/>
          </a:ln>
        </p:spPr>
        <p:style>
          <a:lnRef idx="0"/>
          <a:fillRef idx="0"/>
          <a:effectRef idx="0"/>
          <a:fontRef idx="minor"/>
        </p:style>
        <p:txBody>
          <a:bodyPr lIns="0" tIns="0" rIns="0" bIns="0" anchor="t">
            <a:normAutofit/>
          </a:bodyPr>
          <a:p>
            <a:pPr defTabSz="914400">
              <a:lnSpc>
                <a:spcPts val="2100"/>
              </a:lnSpc>
              <a:tabLst>
                <a:tab pos="0" algn="l"/>
              </a:tabLst>
            </a:pPr>
            <a:r>
              <a:rPr lang="en-US" sz="1500" b="0" u="none" strike="noStrike">
                <a:solidFill>
                  <a:srgbClr val="14232E"/>
                </a:solidFill>
                <a:effectLst/>
                <a:uFillTx/>
                <a:latin typeface="DM Sans"/>
                <a:ea typeface="DM Sans"/>
              </a:rPr>
              <a:t>The DataMall EV API returns the current state of every charging point. Without history and checks, nobody can see how the network grows or trust the numbers.</a:t>
            </a:r>
            <a:endParaRPr lang="en-GB" sz="1500" b="0" u="none" strike="noStrike">
              <a:solidFill>
                <a:srgbClr val="000000"/>
              </a:solidFill>
              <a:effectLst/>
              <a:uFillTx/>
              <a:latin typeface="Arial"/>
            </a:endParaRPr>
          </a:p>
        </p:txBody>
      </p:sp>
      <p:sp>
        <p:nvSpPr>
          <p:cNvPr id="32" name="Shape 5"/>
          <p:cNvSpPr/>
          <p:nvPr/>
        </p:nvSpPr>
        <p:spPr>
          <a:xfrm>
            <a:off x="4405680" y="2553120"/>
            <a:ext cx="3379680" cy="2518920"/>
          </a:xfrm>
          <a:prstGeom prst="roundRect">
            <a:avLst>
              <a:gd name="adj" fmla="val 3906"/>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33" name="Text 6"/>
          <p:cNvSpPr/>
          <p:nvPr/>
        </p:nvSpPr>
        <p:spPr>
          <a:xfrm>
            <a:off x="4662360" y="2809800"/>
            <a:ext cx="2952720" cy="329400"/>
          </a:xfrm>
          <a:prstGeom prst="rect">
            <a:avLst/>
          </a:prstGeom>
          <a:noFill/>
          <a:ln w="0">
            <a:noFill/>
          </a:ln>
        </p:spPr>
        <p:style>
          <a:lnRef idx="0"/>
          <a:fillRef idx="0"/>
          <a:effectRef idx="0"/>
          <a:fontRef idx="minor"/>
        </p:style>
        <p:txBody>
          <a:bodyPr lIns="0" tIns="0" rIns="0" bIns="0" anchor="t">
            <a:normAutofit/>
          </a:bodyPr>
          <a:p>
            <a:pPr defTabSz="914400">
              <a:lnSpc>
                <a:spcPts val="2401"/>
              </a:lnSpc>
              <a:tabLst>
                <a:tab pos="0" algn="l"/>
              </a:tabLst>
            </a:pPr>
            <a:r>
              <a:rPr lang="en-US" sz="2000" b="1" u="none" strike="noStrike">
                <a:solidFill>
                  <a:srgbClr val="0E7C7B"/>
                </a:solidFill>
                <a:effectLst/>
                <a:uFillTx/>
                <a:latin typeface="DM Sans"/>
                <a:ea typeface="DM Sans"/>
              </a:rPr>
              <a:t>Solution</a:t>
            </a:r>
            <a:endParaRPr lang="en-GB" sz="2000" b="0" u="none" strike="noStrike">
              <a:solidFill>
                <a:srgbClr val="000000"/>
              </a:solidFill>
              <a:effectLst/>
              <a:uFillTx/>
              <a:latin typeface="Arial"/>
            </a:endParaRPr>
          </a:p>
        </p:txBody>
      </p:sp>
      <p:sp>
        <p:nvSpPr>
          <p:cNvPr id="34" name="Text 7"/>
          <p:cNvSpPr/>
          <p:nvPr/>
        </p:nvSpPr>
        <p:spPr>
          <a:xfrm>
            <a:off x="4662360" y="3216240"/>
            <a:ext cx="2952720" cy="1358280"/>
          </a:xfrm>
          <a:prstGeom prst="rect">
            <a:avLst/>
          </a:prstGeom>
          <a:noFill/>
          <a:ln w="0">
            <a:noFill/>
          </a:ln>
        </p:spPr>
        <p:style>
          <a:lnRef idx="0"/>
          <a:fillRef idx="0"/>
          <a:effectRef idx="0"/>
          <a:fontRef idx="minor"/>
        </p:style>
        <p:txBody>
          <a:bodyPr lIns="0" tIns="0" rIns="0" bIns="0" anchor="t">
            <a:normAutofit/>
          </a:bodyPr>
          <a:p>
            <a:pPr defTabSz="914400">
              <a:lnSpc>
                <a:spcPts val="2100"/>
              </a:lnSpc>
              <a:tabLst>
                <a:tab pos="0" algn="l"/>
              </a:tabLst>
            </a:pPr>
            <a:r>
              <a:rPr lang="en-US" sz="1500" b="0" u="none" strike="noStrike">
                <a:solidFill>
                  <a:srgbClr val="14232E"/>
                </a:solidFill>
                <a:effectLst/>
                <a:uFillTx/>
                <a:latin typeface="DM Sans"/>
                <a:ea typeface="DM Sans"/>
              </a:rPr>
              <a:t>A daily pipeline loads each snapshot into BigQuery, models it as a star schema with dbt, and tests it with 58 automated checks.</a:t>
            </a:r>
            <a:endParaRPr lang="en-GB" sz="1500" b="0" u="none" strike="noStrike">
              <a:solidFill>
                <a:srgbClr val="000000"/>
              </a:solidFill>
              <a:effectLst/>
              <a:uFillTx/>
              <a:latin typeface="Arial"/>
            </a:endParaRPr>
          </a:p>
        </p:txBody>
      </p:sp>
      <p:sp>
        <p:nvSpPr>
          <p:cNvPr id="35" name="Shape 8"/>
          <p:cNvSpPr/>
          <p:nvPr/>
        </p:nvSpPr>
        <p:spPr>
          <a:xfrm>
            <a:off x="7995600" y="2553120"/>
            <a:ext cx="3379680" cy="2518920"/>
          </a:xfrm>
          <a:prstGeom prst="roundRect">
            <a:avLst>
              <a:gd name="adj" fmla="val 3906"/>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36" name="Text 9"/>
          <p:cNvSpPr/>
          <p:nvPr/>
        </p:nvSpPr>
        <p:spPr>
          <a:xfrm>
            <a:off x="8252280" y="2809800"/>
            <a:ext cx="2952720" cy="329400"/>
          </a:xfrm>
          <a:prstGeom prst="rect">
            <a:avLst/>
          </a:prstGeom>
          <a:noFill/>
          <a:ln w="0">
            <a:noFill/>
          </a:ln>
        </p:spPr>
        <p:style>
          <a:lnRef idx="0"/>
          <a:fillRef idx="0"/>
          <a:effectRef idx="0"/>
          <a:fontRef idx="minor"/>
        </p:style>
        <p:txBody>
          <a:bodyPr lIns="0" tIns="0" rIns="0" bIns="0" anchor="t">
            <a:normAutofit/>
          </a:bodyPr>
          <a:p>
            <a:pPr defTabSz="914400">
              <a:lnSpc>
                <a:spcPts val="2401"/>
              </a:lnSpc>
              <a:tabLst>
                <a:tab pos="0" algn="l"/>
              </a:tabLst>
            </a:pPr>
            <a:r>
              <a:rPr lang="en-US" sz="2000" b="1" u="none" strike="noStrike">
                <a:solidFill>
                  <a:srgbClr val="0E7C7B"/>
                </a:solidFill>
                <a:effectLst/>
                <a:uFillTx/>
                <a:latin typeface="DM Sans"/>
                <a:ea typeface="DM Sans"/>
              </a:rPr>
              <a:t>Why it matters</a:t>
            </a:r>
            <a:endParaRPr lang="en-GB" sz="2000" b="0" u="none" strike="noStrike">
              <a:solidFill>
                <a:srgbClr val="000000"/>
              </a:solidFill>
              <a:effectLst/>
              <a:uFillTx/>
              <a:latin typeface="Arial"/>
            </a:endParaRPr>
          </a:p>
        </p:txBody>
      </p:sp>
      <p:sp>
        <p:nvSpPr>
          <p:cNvPr id="37" name="Text 10"/>
          <p:cNvSpPr/>
          <p:nvPr/>
        </p:nvSpPr>
        <p:spPr>
          <a:xfrm>
            <a:off x="8252280" y="3216240"/>
            <a:ext cx="2952720" cy="1358280"/>
          </a:xfrm>
          <a:prstGeom prst="rect">
            <a:avLst/>
          </a:prstGeom>
          <a:noFill/>
          <a:ln w="0">
            <a:noFill/>
          </a:ln>
        </p:spPr>
        <p:style>
          <a:lnRef idx="0"/>
          <a:fillRef idx="0"/>
          <a:effectRef idx="0"/>
          <a:fontRef idx="minor"/>
        </p:style>
        <p:txBody>
          <a:bodyPr lIns="0" tIns="0" rIns="0" bIns="0" anchor="t">
            <a:normAutofit/>
          </a:bodyPr>
          <a:p>
            <a:pPr defTabSz="914400">
              <a:lnSpc>
                <a:spcPts val="2100"/>
              </a:lnSpc>
              <a:tabLst>
                <a:tab pos="0" algn="l"/>
              </a:tabLst>
            </a:pPr>
            <a:r>
              <a:rPr lang="en-US" sz="1500" b="0" u="none" strike="noStrike">
                <a:solidFill>
                  <a:srgbClr val="14232E"/>
                </a:solidFill>
                <a:effectLst/>
                <a:uFillTx/>
                <a:latin typeface="DM Sans"/>
                <a:ea typeface="DM Sans"/>
              </a:rPr>
              <a:t>One trusted source for coverage, charging speed, price and availability across 11,684 charging points and 29 operators.</a:t>
            </a:r>
            <a:endParaRPr lang="en-GB" sz="1500" b="0" u="none" strike="noStrike">
              <a:solidFill>
                <a:srgbClr val="000000"/>
              </a:solidFill>
              <a:effectLst/>
              <a:uFillTx/>
              <a:latin typeface="Arial"/>
            </a:endParaRPr>
          </a:p>
        </p:txBody>
      </p:sp>
      <p:sp>
        <p:nvSpPr>
          <p:cNvPr id="38" name="Text 11"/>
          <p:cNvSpPr/>
          <p:nvPr/>
        </p:nvSpPr>
        <p:spPr>
          <a:xfrm>
            <a:off x="812880" y="6238080"/>
            <a:ext cx="22028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F5B66"/>
                </a:solidFill>
                <a:effectLst/>
                <a:uFillTx/>
                <a:latin typeface="DM Sans"/>
                <a:ea typeface="DM Sans"/>
              </a:rPr>
              <a:t>EV charging data platform</a:t>
            </a:r>
            <a:endParaRPr lang="en-GB" sz="1200" b="0" u="none" strike="noStrike">
              <a:solidFill>
                <a:srgbClr val="000000"/>
              </a:solidFill>
              <a:effectLst/>
              <a:uFillTx/>
              <a:latin typeface="Arial"/>
            </a:endParaRPr>
          </a:p>
        </p:txBody>
      </p:sp>
      <p:sp>
        <p:nvSpPr>
          <p:cNvPr id="39" name="Text 12"/>
          <p:cNvSpPr/>
          <p:nvPr/>
        </p:nvSpPr>
        <p:spPr>
          <a:xfrm>
            <a:off x="11286720" y="6238080"/>
            <a:ext cx="14256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F5B66"/>
                </a:solidFill>
                <a:effectLst/>
                <a:uFillTx/>
                <a:latin typeface="DM Sans"/>
                <a:ea typeface="DM Sans"/>
              </a:rPr>
              <a:t>4</a:t>
            </a:r>
            <a:endParaRPr lang="en-GB"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40" name="Text 0"/>
          <p:cNvSpPr/>
          <p:nvPr/>
        </p:nvSpPr>
        <p:spPr>
          <a:xfrm>
            <a:off x="812880" y="812880"/>
            <a:ext cx="10882800" cy="27360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pc="198" strike="noStrike">
                <a:solidFill>
                  <a:srgbClr val="0E7C7B"/>
                </a:solidFill>
                <a:effectLst/>
                <a:uFillTx/>
                <a:latin typeface="DM Sans"/>
                <a:ea typeface="DM Sans"/>
              </a:rPr>
              <a:t>BUSINESS VALUE</a:t>
            </a:r>
            <a:endParaRPr lang="en-GB" sz="1400" b="0" u="none" strike="noStrike">
              <a:solidFill>
                <a:srgbClr val="000000"/>
              </a:solidFill>
              <a:effectLst/>
              <a:uFillTx/>
              <a:latin typeface="Arial"/>
            </a:endParaRPr>
          </a:p>
        </p:txBody>
      </p:sp>
      <p:sp>
        <p:nvSpPr>
          <p:cNvPr id="41" name="PlaceHolder 1"/>
          <p:cNvSpPr>
            <a:spLocks noGrp="1"/>
          </p:cNvSpPr>
          <p:nvPr>
            <p:ph type="title"/>
          </p:nvPr>
        </p:nvSpPr>
        <p:spPr>
          <a:xfrm>
            <a:off x="812880" y="1188720"/>
            <a:ext cx="10882800" cy="527400"/>
          </a:xfrm>
          <a:prstGeom prst="rect">
            <a:avLst/>
          </a:prstGeom>
          <a:noFill/>
          <a:ln w="0">
            <a:noFill/>
          </a:ln>
        </p:spPr>
        <p:txBody>
          <a:bodyPr lIns="0" tIns="0" rIns="0" bIns="0" anchor="t">
            <a:normAutofit/>
          </a:bodyPr>
          <a:p>
            <a:pPr indent="0" algn="l" defTabSz="914400">
              <a:lnSpc>
                <a:spcPts val="3960"/>
              </a:lnSpc>
              <a:buNone/>
              <a:tabLst>
                <a:tab pos="0" algn="l"/>
              </a:tabLst>
            </a:pPr>
            <a:r>
              <a:rPr lang="en-US" sz="3600" b="1" u="none" strike="noStrike">
                <a:solidFill>
                  <a:schemeClr val="dk1"/>
                </a:solidFill>
                <a:effectLst/>
                <a:uFillTx/>
                <a:latin typeface="DM Sans"/>
                <a:ea typeface="DM Sans"/>
              </a:rPr>
              <a:t>Four questions the platform answers</a:t>
            </a:r>
            <a:endParaRPr lang="en-US" sz="3600" b="0" u="none" strike="noStrike">
              <a:solidFill>
                <a:schemeClr val="dk1"/>
              </a:solidFill>
              <a:effectLst/>
              <a:uFillTx/>
              <a:latin typeface="Arial"/>
            </a:endParaRPr>
          </a:p>
        </p:txBody>
      </p:sp>
      <p:sp>
        <p:nvSpPr>
          <p:cNvPr id="42" name="Shape 2"/>
          <p:cNvSpPr/>
          <p:nvPr/>
        </p:nvSpPr>
        <p:spPr>
          <a:xfrm>
            <a:off x="816120" y="2050200"/>
            <a:ext cx="2520360" cy="2094480"/>
          </a:xfrm>
          <a:prstGeom prst="roundRect">
            <a:avLst>
              <a:gd name="adj" fmla="val 4698"/>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43" name="Text 3"/>
          <p:cNvSpPr/>
          <p:nvPr/>
        </p:nvSpPr>
        <p:spPr>
          <a:xfrm>
            <a:off x="1046880" y="2281320"/>
            <a:ext cx="2119680" cy="573120"/>
          </a:xfrm>
          <a:prstGeom prst="rect">
            <a:avLst/>
          </a:prstGeom>
          <a:noFill/>
          <a:ln w="0">
            <a:noFill/>
          </a:ln>
        </p:spPr>
        <p:style>
          <a:lnRef idx="0"/>
          <a:fillRef idx="0"/>
          <a:effectRef idx="0"/>
          <a:fontRef idx="minor"/>
        </p:style>
        <p:txBody>
          <a:bodyPr lIns="0" tIns="0" rIns="0" bIns="0" anchor="t">
            <a:normAutofit/>
          </a:bodyPr>
          <a:p>
            <a:pPr defTabSz="914400">
              <a:lnSpc>
                <a:spcPts val="2160"/>
              </a:lnSpc>
              <a:tabLst>
                <a:tab pos="0" algn="l"/>
              </a:tabLst>
            </a:pPr>
            <a:r>
              <a:rPr lang="en-US" sz="1800" b="1" u="none" strike="noStrike">
                <a:solidFill>
                  <a:srgbClr val="14232E"/>
                </a:solidFill>
                <a:effectLst/>
                <a:uFillTx/>
                <a:latin typeface="DM Sans"/>
                <a:ea typeface="DM Sans"/>
              </a:rPr>
              <a:t>Who runs the network?</a:t>
            </a:r>
            <a:endParaRPr lang="en-GB" sz="1800" b="0" u="none" strike="noStrike">
              <a:solidFill>
                <a:srgbClr val="000000"/>
              </a:solidFill>
              <a:effectLst/>
              <a:uFillTx/>
              <a:latin typeface="Arial"/>
            </a:endParaRPr>
          </a:p>
        </p:txBody>
      </p:sp>
      <p:sp>
        <p:nvSpPr>
          <p:cNvPr id="44" name="Text 4"/>
          <p:cNvSpPr/>
          <p:nvPr/>
        </p:nvSpPr>
        <p:spPr>
          <a:xfrm>
            <a:off x="1046880" y="2918880"/>
            <a:ext cx="2119680" cy="77148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F5B66"/>
                </a:solidFill>
                <a:effectLst/>
                <a:uFillTx/>
                <a:latin typeface="DM Sans"/>
                <a:ea typeface="DM Sans"/>
              </a:rPr>
              <a:t>Points per operator and region, so planners see gaps and concentration.</a:t>
            </a:r>
            <a:endParaRPr lang="en-GB" sz="1400" b="0" u="none" strike="noStrike">
              <a:solidFill>
                <a:srgbClr val="000000"/>
              </a:solidFill>
              <a:effectLst/>
              <a:uFillTx/>
              <a:latin typeface="Arial"/>
            </a:endParaRPr>
          </a:p>
        </p:txBody>
      </p:sp>
      <p:sp>
        <p:nvSpPr>
          <p:cNvPr id="45" name="Shape 5"/>
          <p:cNvSpPr/>
          <p:nvPr/>
        </p:nvSpPr>
        <p:spPr>
          <a:xfrm>
            <a:off x="3495600" y="2050200"/>
            <a:ext cx="2520360" cy="2094480"/>
          </a:xfrm>
          <a:prstGeom prst="roundRect">
            <a:avLst>
              <a:gd name="adj" fmla="val 4698"/>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46" name="Text 6"/>
          <p:cNvSpPr/>
          <p:nvPr/>
        </p:nvSpPr>
        <p:spPr>
          <a:xfrm>
            <a:off x="3726720" y="2281320"/>
            <a:ext cx="2119680" cy="573120"/>
          </a:xfrm>
          <a:prstGeom prst="rect">
            <a:avLst/>
          </a:prstGeom>
          <a:noFill/>
          <a:ln w="0">
            <a:noFill/>
          </a:ln>
        </p:spPr>
        <p:style>
          <a:lnRef idx="0"/>
          <a:fillRef idx="0"/>
          <a:effectRef idx="0"/>
          <a:fontRef idx="minor"/>
        </p:style>
        <p:txBody>
          <a:bodyPr lIns="0" tIns="0" rIns="0" bIns="0" anchor="t">
            <a:normAutofit/>
          </a:bodyPr>
          <a:p>
            <a:pPr defTabSz="914400">
              <a:lnSpc>
                <a:spcPts val="2160"/>
              </a:lnSpc>
              <a:tabLst>
                <a:tab pos="0" algn="l"/>
              </a:tabLst>
            </a:pPr>
            <a:r>
              <a:rPr lang="en-US" sz="1800" b="1" u="none" strike="noStrike">
                <a:solidFill>
                  <a:srgbClr val="14232E"/>
                </a:solidFill>
                <a:effectLst/>
                <a:uFillTx/>
                <a:latin typeface="DM Sans"/>
                <a:ea typeface="DM Sans"/>
              </a:rPr>
              <a:t>How fast can drivers charge?</a:t>
            </a:r>
            <a:endParaRPr lang="en-GB" sz="1800" b="0" u="none" strike="noStrike">
              <a:solidFill>
                <a:srgbClr val="000000"/>
              </a:solidFill>
              <a:effectLst/>
              <a:uFillTx/>
              <a:latin typeface="Arial"/>
            </a:endParaRPr>
          </a:p>
        </p:txBody>
      </p:sp>
      <p:sp>
        <p:nvSpPr>
          <p:cNvPr id="47" name="Text 7"/>
          <p:cNvSpPr/>
          <p:nvPr/>
        </p:nvSpPr>
        <p:spPr>
          <a:xfrm>
            <a:off x="3726720" y="2918880"/>
            <a:ext cx="2119680" cy="77148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F5B66"/>
                </a:solidFill>
                <a:effectLst/>
                <a:uFillTx/>
                <a:latin typeface="DM Sans"/>
                <a:ea typeface="DM Sans"/>
              </a:rPr>
              <a:t>The mix of AC and fast DC charging points by region.</a:t>
            </a:r>
            <a:endParaRPr lang="en-GB" sz="1400" b="0" u="none" strike="noStrike">
              <a:solidFill>
                <a:srgbClr val="000000"/>
              </a:solidFill>
              <a:effectLst/>
              <a:uFillTx/>
              <a:latin typeface="Arial"/>
            </a:endParaRPr>
          </a:p>
        </p:txBody>
      </p:sp>
      <p:sp>
        <p:nvSpPr>
          <p:cNvPr id="48" name="Shape 8"/>
          <p:cNvSpPr/>
          <p:nvPr/>
        </p:nvSpPr>
        <p:spPr>
          <a:xfrm>
            <a:off x="6175440" y="2050200"/>
            <a:ext cx="2520360" cy="2094480"/>
          </a:xfrm>
          <a:prstGeom prst="roundRect">
            <a:avLst>
              <a:gd name="adj" fmla="val 4698"/>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49" name="Text 9"/>
          <p:cNvSpPr/>
          <p:nvPr/>
        </p:nvSpPr>
        <p:spPr>
          <a:xfrm>
            <a:off x="6406560" y="2281320"/>
            <a:ext cx="2119680" cy="573120"/>
          </a:xfrm>
          <a:prstGeom prst="rect">
            <a:avLst/>
          </a:prstGeom>
          <a:noFill/>
          <a:ln w="0">
            <a:noFill/>
          </a:ln>
        </p:spPr>
        <p:style>
          <a:lnRef idx="0"/>
          <a:fillRef idx="0"/>
          <a:effectRef idx="0"/>
          <a:fontRef idx="minor"/>
        </p:style>
        <p:txBody>
          <a:bodyPr lIns="0" tIns="0" rIns="0" bIns="0" anchor="t">
            <a:normAutofit/>
          </a:bodyPr>
          <a:p>
            <a:pPr defTabSz="914400">
              <a:lnSpc>
                <a:spcPts val="2160"/>
              </a:lnSpc>
              <a:tabLst>
                <a:tab pos="0" algn="l"/>
              </a:tabLst>
            </a:pPr>
            <a:r>
              <a:rPr lang="en-US" sz="1800" b="1" u="none" strike="noStrike">
                <a:solidFill>
                  <a:srgbClr val="14232E"/>
                </a:solidFill>
                <a:effectLst/>
                <a:uFillTx/>
                <a:latin typeface="DM Sans"/>
                <a:ea typeface="DM Sans"/>
              </a:rPr>
              <a:t>What does it cost?</a:t>
            </a:r>
            <a:endParaRPr lang="en-GB" sz="1800" b="0" u="none" strike="noStrike">
              <a:solidFill>
                <a:srgbClr val="000000"/>
              </a:solidFill>
              <a:effectLst/>
              <a:uFillTx/>
              <a:latin typeface="Arial"/>
            </a:endParaRPr>
          </a:p>
        </p:txBody>
      </p:sp>
      <p:sp>
        <p:nvSpPr>
          <p:cNvPr id="50" name="Text 10"/>
          <p:cNvSpPr/>
          <p:nvPr/>
        </p:nvSpPr>
        <p:spPr>
          <a:xfrm>
            <a:off x="6406560" y="2918880"/>
            <a:ext cx="2119680" cy="102024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F5B66"/>
                </a:solidFill>
                <a:effectLst/>
                <a:uFillTx/>
                <a:latin typeface="DM Sans"/>
                <a:ea typeface="DM Sans"/>
              </a:rPr>
              <a:t>Price per kWh by operator, and which operators publish no price.</a:t>
            </a:r>
            <a:endParaRPr lang="en-GB" sz="1400" b="0" u="none" strike="noStrike">
              <a:solidFill>
                <a:srgbClr val="000000"/>
              </a:solidFill>
              <a:effectLst/>
              <a:uFillTx/>
              <a:latin typeface="Arial"/>
            </a:endParaRPr>
          </a:p>
        </p:txBody>
      </p:sp>
      <p:sp>
        <p:nvSpPr>
          <p:cNvPr id="51" name="Shape 11"/>
          <p:cNvSpPr/>
          <p:nvPr/>
        </p:nvSpPr>
        <p:spPr>
          <a:xfrm>
            <a:off x="8854920" y="2050200"/>
            <a:ext cx="2520360" cy="2094480"/>
          </a:xfrm>
          <a:prstGeom prst="roundRect">
            <a:avLst>
              <a:gd name="adj" fmla="val 4698"/>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52" name="Text 12"/>
          <p:cNvSpPr/>
          <p:nvPr/>
        </p:nvSpPr>
        <p:spPr>
          <a:xfrm>
            <a:off x="9086040" y="2281320"/>
            <a:ext cx="2119680" cy="573120"/>
          </a:xfrm>
          <a:prstGeom prst="rect">
            <a:avLst/>
          </a:prstGeom>
          <a:noFill/>
          <a:ln w="0">
            <a:noFill/>
          </a:ln>
        </p:spPr>
        <p:style>
          <a:lnRef idx="0"/>
          <a:fillRef idx="0"/>
          <a:effectRef idx="0"/>
          <a:fontRef idx="minor"/>
        </p:style>
        <p:txBody>
          <a:bodyPr lIns="0" tIns="0" rIns="0" bIns="0" anchor="t">
            <a:normAutofit/>
          </a:bodyPr>
          <a:p>
            <a:pPr defTabSz="914400">
              <a:lnSpc>
                <a:spcPts val="2160"/>
              </a:lnSpc>
              <a:tabLst>
                <a:tab pos="0" algn="l"/>
              </a:tabLst>
            </a:pPr>
            <a:r>
              <a:rPr lang="en-US" sz="1800" b="1" u="none" strike="noStrike">
                <a:solidFill>
                  <a:srgbClr val="14232E"/>
                </a:solidFill>
                <a:effectLst/>
                <a:uFillTx/>
                <a:latin typeface="DM Sans"/>
                <a:ea typeface="DM Sans"/>
              </a:rPr>
              <a:t>Is a charging point free?</a:t>
            </a:r>
            <a:endParaRPr lang="en-GB" sz="1800" b="0" u="none" strike="noStrike">
              <a:solidFill>
                <a:srgbClr val="000000"/>
              </a:solidFill>
              <a:effectLst/>
              <a:uFillTx/>
              <a:latin typeface="Arial"/>
            </a:endParaRPr>
          </a:p>
        </p:txBody>
      </p:sp>
      <p:sp>
        <p:nvSpPr>
          <p:cNvPr id="53" name="Text 13"/>
          <p:cNvSpPr/>
          <p:nvPr/>
        </p:nvSpPr>
        <p:spPr>
          <a:xfrm>
            <a:off x="9086040" y="2918880"/>
            <a:ext cx="2119680" cy="77148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F5B66"/>
                </a:solidFill>
                <a:effectLst/>
                <a:uFillTx/>
                <a:latin typeface="DM Sans"/>
                <a:ea typeface="DM Sans"/>
              </a:rPr>
              <a:t>Availability by point, and how it changes between daily loads.</a:t>
            </a:r>
            <a:endParaRPr lang="en-GB" sz="1400" b="0" u="none" strike="noStrike">
              <a:solidFill>
                <a:srgbClr val="000000"/>
              </a:solidFill>
              <a:effectLst/>
              <a:uFillTx/>
              <a:latin typeface="Arial"/>
            </a:endParaRPr>
          </a:p>
        </p:txBody>
      </p:sp>
      <p:sp>
        <p:nvSpPr>
          <p:cNvPr id="54" name="Text 14"/>
          <p:cNvSpPr/>
          <p:nvPr/>
        </p:nvSpPr>
        <p:spPr>
          <a:xfrm>
            <a:off x="812880" y="4504320"/>
            <a:ext cx="9810000" cy="593640"/>
          </a:xfrm>
          <a:prstGeom prst="rect">
            <a:avLst/>
          </a:prstGeom>
          <a:noFill/>
          <a:ln w="0">
            <a:noFill/>
          </a:ln>
        </p:spPr>
        <p:style>
          <a:lnRef idx="0"/>
          <a:fillRef idx="0"/>
          <a:effectRef idx="0"/>
          <a:fontRef idx="minor"/>
        </p:style>
        <p:txBody>
          <a:bodyPr lIns="0" tIns="0" rIns="0" bIns="0" anchor="t">
            <a:normAutofit/>
          </a:bodyPr>
          <a:p>
            <a:pPr defTabSz="914400">
              <a:lnSpc>
                <a:spcPts val="2239"/>
              </a:lnSpc>
              <a:tabLst>
                <a:tab pos="0" algn="l"/>
              </a:tabLst>
            </a:pPr>
            <a:r>
              <a:rPr lang="en-US" sz="1600" b="0" u="none" strike="noStrike">
                <a:solidFill>
                  <a:srgbClr val="4F5B66"/>
                </a:solidFill>
                <a:effectLst/>
                <a:uFillTx/>
                <a:latin typeface="DM Sans"/>
                <a:ea typeface="DM Sans"/>
              </a:rPr>
              <a:t>Each answer is a query on tested tables, replacing manual downloads and spreadsheet checks.</a:t>
            </a:r>
            <a:endParaRPr lang="en-GB" sz="1600" b="0" u="none" strike="noStrike">
              <a:solidFill>
                <a:srgbClr val="000000"/>
              </a:solidFill>
              <a:effectLst/>
              <a:uFillTx/>
              <a:latin typeface="Arial"/>
            </a:endParaRPr>
          </a:p>
        </p:txBody>
      </p:sp>
      <p:sp>
        <p:nvSpPr>
          <p:cNvPr id="55" name="Text 15"/>
          <p:cNvSpPr/>
          <p:nvPr/>
        </p:nvSpPr>
        <p:spPr>
          <a:xfrm>
            <a:off x="812880" y="6238080"/>
            <a:ext cx="22028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F5B66"/>
                </a:solidFill>
                <a:effectLst/>
                <a:uFillTx/>
                <a:latin typeface="DM Sans"/>
                <a:ea typeface="DM Sans"/>
              </a:rPr>
              <a:t>EV charging data platform</a:t>
            </a:r>
            <a:endParaRPr lang="en-GB" sz="1200" b="0" u="none" strike="noStrike">
              <a:solidFill>
                <a:srgbClr val="000000"/>
              </a:solidFill>
              <a:effectLst/>
              <a:uFillTx/>
              <a:latin typeface="Arial"/>
            </a:endParaRPr>
          </a:p>
        </p:txBody>
      </p:sp>
      <p:sp>
        <p:nvSpPr>
          <p:cNvPr id="56" name="Text 16"/>
          <p:cNvSpPr/>
          <p:nvPr/>
        </p:nvSpPr>
        <p:spPr>
          <a:xfrm>
            <a:off x="11286360" y="6238080"/>
            <a:ext cx="1429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F5B66"/>
                </a:solidFill>
                <a:effectLst/>
                <a:uFillTx/>
                <a:latin typeface="DM Sans"/>
                <a:ea typeface="DM Sans"/>
              </a:rPr>
              <a:t>5</a:t>
            </a:r>
            <a:endParaRPr lang="en-GB"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57" name="Text 0"/>
          <p:cNvSpPr/>
          <p:nvPr/>
        </p:nvSpPr>
        <p:spPr>
          <a:xfrm>
            <a:off x="812880" y="812880"/>
            <a:ext cx="10882800" cy="27360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pc="198" strike="noStrike">
                <a:solidFill>
                  <a:srgbClr val="0E7C7B"/>
                </a:solidFill>
                <a:effectLst/>
                <a:uFillTx/>
                <a:latin typeface="DM Sans"/>
                <a:ea typeface="DM Sans"/>
              </a:rPr>
              <a:t>BUSINESS CONTEXT</a:t>
            </a:r>
            <a:endParaRPr lang="en-GB" sz="1400" b="0" u="none" strike="noStrike">
              <a:solidFill>
                <a:srgbClr val="000000"/>
              </a:solidFill>
              <a:effectLst/>
              <a:uFillTx/>
              <a:latin typeface="Arial"/>
            </a:endParaRPr>
          </a:p>
        </p:txBody>
      </p:sp>
      <p:sp>
        <p:nvSpPr>
          <p:cNvPr id="58" name="PlaceHolder 1"/>
          <p:cNvSpPr>
            <a:spLocks noGrp="1"/>
          </p:cNvSpPr>
          <p:nvPr>
            <p:ph type="title"/>
          </p:nvPr>
        </p:nvSpPr>
        <p:spPr>
          <a:xfrm>
            <a:off x="812880" y="1188720"/>
            <a:ext cx="10882800" cy="527400"/>
          </a:xfrm>
          <a:prstGeom prst="rect">
            <a:avLst/>
          </a:prstGeom>
          <a:noFill/>
          <a:ln w="0">
            <a:noFill/>
          </a:ln>
        </p:spPr>
        <p:txBody>
          <a:bodyPr lIns="0" tIns="0" rIns="0" bIns="0" anchor="t">
            <a:normAutofit/>
          </a:bodyPr>
          <a:p>
            <a:pPr indent="0" algn="l" defTabSz="914400">
              <a:lnSpc>
                <a:spcPts val="3960"/>
              </a:lnSpc>
              <a:buNone/>
              <a:tabLst>
                <a:tab pos="0" algn="l"/>
              </a:tabLst>
            </a:pPr>
            <a:r>
              <a:rPr lang="en-US" sz="3600" b="1" u="none" strike="noStrike">
                <a:solidFill>
                  <a:schemeClr val="dk1"/>
                </a:solidFill>
                <a:effectLst/>
                <a:uFillTx/>
                <a:latin typeface="DM Sans"/>
                <a:ea typeface="DM Sans"/>
              </a:rPr>
              <a:t>External data puts charging in context</a:t>
            </a:r>
            <a:endParaRPr lang="en-US" sz="3600" b="0" u="none" strike="noStrike">
              <a:solidFill>
                <a:schemeClr val="dk1"/>
              </a:solidFill>
              <a:effectLst/>
              <a:uFillTx/>
              <a:latin typeface="Arial"/>
            </a:endParaRPr>
          </a:p>
        </p:txBody>
      </p:sp>
      <p:sp>
        <p:nvSpPr>
          <p:cNvPr id="59" name="Shape 2"/>
          <p:cNvSpPr/>
          <p:nvPr/>
        </p:nvSpPr>
        <p:spPr>
          <a:xfrm>
            <a:off x="812880" y="2682720"/>
            <a:ext cx="3379680" cy="2369880"/>
          </a:xfrm>
          <a:prstGeom prst="roundRect">
            <a:avLst>
              <a:gd name="adj" fmla="val 5223"/>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60" name="Text 3"/>
          <p:cNvSpPr/>
          <p:nvPr/>
        </p:nvSpPr>
        <p:spPr>
          <a:xfrm>
            <a:off x="1072440" y="2843280"/>
            <a:ext cx="2952720" cy="298800"/>
          </a:xfrm>
          <a:prstGeom prst="rect">
            <a:avLst/>
          </a:prstGeom>
          <a:noFill/>
          <a:ln w="0">
            <a:noFill/>
          </a:ln>
        </p:spPr>
        <p:style>
          <a:lnRef idx="0"/>
          <a:fillRef idx="0"/>
          <a:effectRef idx="0"/>
          <a:fontRef idx="minor"/>
        </p:style>
        <p:txBody>
          <a:bodyPr lIns="0" tIns="0" rIns="0" bIns="0" anchor="t">
            <a:normAutofit/>
          </a:bodyPr>
          <a:p>
            <a:pPr defTabSz="914400">
              <a:lnSpc>
                <a:spcPts val="2160"/>
              </a:lnSpc>
              <a:tabLst>
                <a:tab pos="0" algn="l"/>
              </a:tabLst>
            </a:pPr>
            <a:r>
              <a:rPr lang="en-US" sz="1800" b="1" u="none" strike="noStrike">
                <a:solidFill>
                  <a:srgbClr val="0E7C7B"/>
                </a:solidFill>
                <a:effectLst/>
                <a:uFillTx/>
                <a:latin typeface="DM Sans"/>
                <a:ea typeface="DM Sans"/>
              </a:rPr>
              <a:t>Fuel prices</a:t>
            </a:r>
            <a:endParaRPr lang="en-GB" sz="1800" b="0" u="none" strike="noStrike">
              <a:solidFill>
                <a:srgbClr val="000000"/>
              </a:solidFill>
              <a:effectLst/>
              <a:uFillTx/>
              <a:latin typeface="Arial"/>
            </a:endParaRPr>
          </a:p>
        </p:txBody>
      </p:sp>
      <p:sp>
        <p:nvSpPr>
          <p:cNvPr id="61" name="Text 4"/>
          <p:cNvSpPr/>
          <p:nvPr/>
        </p:nvSpPr>
        <p:spPr>
          <a:xfrm>
            <a:off x="1072440" y="3260880"/>
            <a:ext cx="2952720" cy="188352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F5B66"/>
                </a:solidFill>
                <a:effectLst/>
                <a:uFillTx/>
                <a:latin typeface="DM Sans"/>
                <a:ea typeface="DM Sans"/>
              </a:rPr>
              <a:t>Asia fuel prices from Kaggle show what drivers pay for petrol, the benchmark for EV charging costs. Singapore has the highest average monthly income, gasoline price and fuel affordability index</a:t>
            </a:r>
            <a:endParaRPr lang="en-GB" sz="1400" b="0" u="none" strike="noStrike">
              <a:solidFill>
                <a:srgbClr val="000000"/>
              </a:solidFill>
              <a:effectLst/>
              <a:uFillTx/>
              <a:latin typeface="Arial"/>
            </a:endParaRPr>
          </a:p>
          <a:p>
            <a:pPr defTabSz="914400">
              <a:lnSpc>
                <a:spcPts val="1959"/>
              </a:lnSpc>
              <a:tabLst>
                <a:tab pos="0" algn="l"/>
              </a:tabLst>
            </a:pPr>
            <a:endParaRPr lang="en-GB" sz="1400" b="0" u="none" strike="noStrike">
              <a:solidFill>
                <a:srgbClr val="000000"/>
              </a:solidFill>
              <a:effectLst/>
              <a:uFillTx/>
              <a:latin typeface="Arial"/>
            </a:endParaRPr>
          </a:p>
        </p:txBody>
      </p:sp>
      <p:sp>
        <p:nvSpPr>
          <p:cNvPr id="62" name="Text 12"/>
          <p:cNvSpPr/>
          <p:nvPr/>
        </p:nvSpPr>
        <p:spPr>
          <a:xfrm>
            <a:off x="812880" y="6238080"/>
            <a:ext cx="22028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F5B66"/>
                </a:solidFill>
                <a:effectLst/>
                <a:uFillTx/>
                <a:latin typeface="DM Sans"/>
                <a:ea typeface="DM Sans"/>
              </a:rPr>
              <a:t>EV charging data platform</a:t>
            </a:r>
            <a:endParaRPr lang="en-GB" sz="1200" b="0" u="none" strike="noStrike">
              <a:solidFill>
                <a:srgbClr val="000000"/>
              </a:solidFill>
              <a:effectLst/>
              <a:uFillTx/>
              <a:latin typeface="Arial"/>
            </a:endParaRPr>
          </a:p>
        </p:txBody>
      </p:sp>
      <p:sp>
        <p:nvSpPr>
          <p:cNvPr id="63" name="Text 13"/>
          <p:cNvSpPr/>
          <p:nvPr/>
        </p:nvSpPr>
        <p:spPr>
          <a:xfrm>
            <a:off x="11283480" y="6238080"/>
            <a:ext cx="14580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F5B66"/>
                </a:solidFill>
                <a:effectLst/>
                <a:uFillTx/>
                <a:latin typeface="DM Sans"/>
                <a:ea typeface="DM Sans"/>
              </a:rPr>
              <a:t>6</a:t>
            </a:r>
            <a:endParaRPr lang="en-GB" sz="1200" b="0" u="none" strike="noStrike">
              <a:solidFill>
                <a:srgbClr val="000000"/>
              </a:solidFill>
              <a:effectLst/>
              <a:uFillTx/>
              <a:latin typeface="Arial"/>
            </a:endParaRPr>
          </a:p>
        </p:txBody>
      </p:sp>
      <p:pic>
        <p:nvPicPr>
          <p:cNvPr id="64" name="Picture 17"/>
          <p:cNvPicPr/>
          <p:nvPr/>
        </p:nvPicPr>
        <p:blipFill>
          <a:blip r:embed="rId1"/>
          <a:stretch/>
        </p:blipFill>
        <p:spPr>
          <a:xfrm>
            <a:off x="4692960" y="1929240"/>
            <a:ext cx="6736320" cy="4308120"/>
          </a:xfrm>
          <a:prstGeom prst="rect">
            <a:avLst/>
          </a:prstGeom>
          <a:noFill/>
          <a:ln w="0">
            <a:noFill/>
          </a:ln>
        </p:spPr>
      </p:pic>
      <p:sp>
        <p:nvSpPr>
          <p:cNvPr id="65" name="Text 12"/>
          <p:cNvSpPr/>
          <p:nvPr/>
        </p:nvSpPr>
        <p:spPr>
          <a:xfrm>
            <a:off x="4295160" y="6491160"/>
            <a:ext cx="7725600" cy="237960"/>
          </a:xfrm>
          <a:prstGeom prst="rect">
            <a:avLst/>
          </a:prstGeom>
          <a:noFill/>
          <a:ln w="0">
            <a:noFill/>
          </a:ln>
        </p:spPr>
        <p:style>
          <a:lnRef idx="0"/>
          <a:fillRef idx="0"/>
          <a:effectRef idx="0"/>
          <a:fontRef idx="minor"/>
        </p:style>
        <p:txBody>
          <a:bodyPr lIns="0" tIns="0" rIns="0" bIns="0" anchor="t">
            <a:normAutofit fontScale="77500" lnSpcReduction="19999"/>
          </a:bodyPr>
          <a:p>
            <a:pPr defTabSz="914400">
              <a:lnSpc>
                <a:spcPct val="100000"/>
              </a:lnSpc>
            </a:pPr>
            <a:r>
              <a:rPr lang="en-US" sz="1800" b="0" u="none" strike="noStrike">
                <a:solidFill>
                  <a:schemeClr val="dk1"/>
                </a:solidFill>
                <a:effectLst/>
                <a:uFillTx/>
                <a:latin typeface="DM Sans"/>
                <a:ea typeface="DejaVu Sans"/>
              </a:rPr>
              <a:t>Reference: https://www.kaggle.com/datasets/zkskhurram/world-vs-asia-fuel-prices/data</a:t>
            </a:r>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871560" y="435960"/>
            <a:ext cx="10565640" cy="327960"/>
          </a:xfrm>
          <a:prstGeom prst="rect">
            <a:avLst/>
          </a:prstGeom>
          <a:noFill/>
          <a:ln w="0">
            <a:noFill/>
          </a:ln>
        </p:spPr>
        <p:txBody>
          <a:bodyPr lIns="0" tIns="0" rIns="0" bIns="0" anchor="t">
            <a:noAutofit/>
          </a:bodyPr>
          <a:p>
            <a:pPr indent="0" algn="l" defTabSz="914400">
              <a:lnSpc>
                <a:spcPct val="115000"/>
              </a:lnSpc>
              <a:buNone/>
              <a:tabLst>
                <a:tab pos="0" algn="l"/>
              </a:tabLst>
            </a:pPr>
            <a:r>
              <a:rPr lang="en-US" sz="1400" b="1" u="none" spc="198" strike="noStrike">
                <a:solidFill>
                  <a:schemeClr val="dk1"/>
                </a:solidFill>
                <a:effectLst/>
                <a:uFillTx/>
                <a:latin typeface="DM Sans"/>
                <a:ea typeface="DM Sans"/>
              </a:rPr>
              <a:t>BUSINESS CONTEXT (Cont’d)</a:t>
            </a:r>
            <a:br>
              <a:rPr sz="3600"/>
            </a:br>
            <a:r>
              <a:rPr lang="en-US" sz="3600" b="1" u="none" strike="noStrike">
                <a:solidFill>
                  <a:schemeClr val="dk1"/>
                </a:solidFill>
                <a:effectLst/>
                <a:uFillTx/>
                <a:latin typeface="DM Sans"/>
                <a:ea typeface="DM Sans"/>
              </a:rPr>
              <a:t>External data puts charging in context</a:t>
            </a:r>
            <a:endParaRPr lang="en-US" sz="3600" b="0" u="none" strike="noStrike">
              <a:solidFill>
                <a:schemeClr val="dk1"/>
              </a:solidFill>
              <a:effectLst/>
              <a:uFillTx/>
              <a:latin typeface="Arial"/>
            </a:endParaRPr>
          </a:p>
        </p:txBody>
      </p:sp>
      <p:pic>
        <p:nvPicPr>
          <p:cNvPr id="67" name="Picture 24"/>
          <p:cNvPicPr/>
          <p:nvPr/>
        </p:nvPicPr>
        <p:blipFill>
          <a:blip r:embed="rId1"/>
          <a:stretch/>
        </p:blipFill>
        <p:spPr>
          <a:xfrm>
            <a:off x="754200" y="1685880"/>
            <a:ext cx="10624320" cy="3944520"/>
          </a:xfrm>
          <a:prstGeom prst="rect">
            <a:avLst/>
          </a:prstGeom>
          <a:noFill/>
          <a:ln w="0">
            <a:noFill/>
          </a:ln>
        </p:spPr>
      </p:pic>
      <p:sp>
        <p:nvSpPr>
          <p:cNvPr id="68" name="Text 11"/>
          <p:cNvSpPr/>
          <p:nvPr/>
        </p:nvSpPr>
        <p:spPr>
          <a:xfrm>
            <a:off x="1336680" y="5742720"/>
            <a:ext cx="9663840" cy="247680"/>
          </a:xfrm>
          <a:prstGeom prst="rect">
            <a:avLst/>
          </a:prstGeom>
          <a:noFill/>
          <a:ln w="0">
            <a:noFill/>
          </a:ln>
        </p:spPr>
        <p:style>
          <a:lnRef idx="0"/>
          <a:fillRef idx="0"/>
          <a:effectRef idx="0"/>
          <a:fontRef idx="minor"/>
        </p:style>
        <p:txBody>
          <a:bodyPr lIns="0" tIns="0" rIns="0" bIns="0" anchor="t">
            <a:normAutofit lnSpcReduction="9999"/>
          </a:bodyPr>
          <a:p>
            <a:pPr defTabSz="914400">
              <a:lnSpc>
                <a:spcPct val="100000"/>
              </a:lnSpc>
            </a:pPr>
            <a:r>
              <a:rPr lang="en-US" sz="1500" b="0" u="none" strike="noStrike">
                <a:solidFill>
                  <a:srgbClr val="4F5B66"/>
                </a:solidFill>
                <a:effectLst/>
                <a:uFillTx/>
                <a:latin typeface="DM Sans"/>
                <a:ea typeface="DejaVu Sans"/>
              </a:rPr>
              <a:t>Reference: </a:t>
            </a:r>
            <a:r>
              <a:rPr lang="en-US" sz="1500" b="0" u="sng" strike="noStrike">
                <a:solidFill>
                  <a:srgbClr val="0563C1"/>
                </a:solidFill>
                <a:effectLst/>
                <a:uFillTx/>
                <a:latin typeface="DM Sans"/>
                <a:ea typeface="DejaVu Sans"/>
                <a:hlinkClick r:id="rId2"/>
              </a:rPr>
              <a:t>https://datamall.lta.gov.sg</a:t>
            </a:r>
            <a:r>
              <a:rPr lang="en-US" sz="1500" b="0" u="none" strike="noStrike">
                <a:solidFill>
                  <a:srgbClr val="4F5B66"/>
                </a:solidFill>
                <a:effectLst/>
                <a:uFillTx/>
                <a:latin typeface="DM Sans"/>
                <a:ea typeface="DejaVu Sans"/>
              </a:rPr>
              <a:t>, “COE bidding results” &amp; “</a:t>
            </a:r>
            <a:r>
              <a:rPr lang="en-US" sz="1500" b="0" u="none" strike="noStrike">
                <a:solidFill>
                  <a:schemeClr val="dk1"/>
                </a:solidFill>
                <a:effectLst/>
                <a:uFillTx/>
                <a:latin typeface="DM Sans"/>
                <a:ea typeface="DejaVu Sans"/>
              </a:rPr>
              <a:t>Monthly New Registration of Cars by Make”</a:t>
            </a:r>
            <a:endParaRPr lang="en-GB" sz="1500" b="0" u="none" strike="noStrike">
              <a:solidFill>
                <a:srgbClr val="000000"/>
              </a:solidFill>
              <a:effectLst/>
              <a:uFillTx/>
              <a:latin typeface="Arial"/>
            </a:endParaRPr>
          </a:p>
          <a:p>
            <a:pPr defTabSz="914400">
              <a:lnSpc>
                <a:spcPts val="2100"/>
              </a:lnSpc>
              <a:tabLst>
                <a:tab pos="0" algn="l"/>
              </a:tabLst>
            </a:pPr>
            <a:endParaRPr lang="en-GB"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69" name="Text 0"/>
          <p:cNvSpPr/>
          <p:nvPr/>
        </p:nvSpPr>
        <p:spPr>
          <a:xfrm>
            <a:off x="812880" y="6238080"/>
            <a:ext cx="22028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F5B66"/>
                </a:solidFill>
                <a:effectLst/>
                <a:uFillTx/>
                <a:latin typeface="DM Sans"/>
                <a:ea typeface="DM Sans"/>
              </a:rPr>
              <a:t>EV charging data platform</a:t>
            </a:r>
            <a:endParaRPr lang="en-GB" sz="1200" b="0" u="none" strike="noStrike">
              <a:solidFill>
                <a:srgbClr val="000000"/>
              </a:solidFill>
              <a:effectLst/>
              <a:uFillTx/>
              <a:latin typeface="Arial"/>
            </a:endParaRPr>
          </a:p>
        </p:txBody>
      </p:sp>
      <p:sp>
        <p:nvSpPr>
          <p:cNvPr id="70" name="Text 1"/>
          <p:cNvSpPr/>
          <p:nvPr/>
        </p:nvSpPr>
        <p:spPr>
          <a:xfrm>
            <a:off x="11297880" y="6238080"/>
            <a:ext cx="13140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F5B66"/>
                </a:solidFill>
                <a:effectLst/>
                <a:uFillTx/>
                <a:latin typeface="DM Sans"/>
                <a:ea typeface="DM Sans"/>
              </a:rPr>
              <a:t>7</a:t>
            </a:r>
            <a:endParaRPr lang="en-GB" sz="1200" b="0" u="none" strike="noStrike">
              <a:solidFill>
                <a:srgbClr val="000000"/>
              </a:solidFill>
              <a:effectLst/>
              <a:uFillTx/>
              <a:latin typeface="Arial"/>
            </a:endParaRPr>
          </a:p>
        </p:txBody>
      </p:sp>
      <p:sp>
        <p:nvSpPr>
          <p:cNvPr id="71" name="Text 2"/>
          <p:cNvSpPr/>
          <p:nvPr/>
        </p:nvSpPr>
        <p:spPr>
          <a:xfrm>
            <a:off x="812880" y="812880"/>
            <a:ext cx="10882800" cy="27360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pc="198" strike="noStrike">
                <a:solidFill>
                  <a:srgbClr val="0E7C7B"/>
                </a:solidFill>
                <a:effectLst/>
                <a:uFillTx/>
                <a:latin typeface="DM Sans"/>
                <a:ea typeface="DM Sans"/>
              </a:rPr>
              <a:t>TECHNICAL OVERVIEW</a:t>
            </a:r>
            <a:endParaRPr lang="en-GB" sz="1400" b="0" u="none" strike="noStrike">
              <a:solidFill>
                <a:srgbClr val="000000"/>
              </a:solidFill>
              <a:effectLst/>
              <a:uFillTx/>
              <a:latin typeface="Arial"/>
            </a:endParaRPr>
          </a:p>
        </p:txBody>
      </p:sp>
      <p:sp>
        <p:nvSpPr>
          <p:cNvPr id="72" name="PlaceHolder 1"/>
          <p:cNvSpPr>
            <a:spLocks noGrp="1"/>
          </p:cNvSpPr>
          <p:nvPr>
            <p:ph type="title"/>
          </p:nvPr>
        </p:nvSpPr>
        <p:spPr>
          <a:xfrm>
            <a:off x="812880" y="1188720"/>
            <a:ext cx="10882800" cy="527400"/>
          </a:xfrm>
          <a:prstGeom prst="rect">
            <a:avLst/>
          </a:prstGeom>
          <a:noFill/>
          <a:ln w="0">
            <a:noFill/>
          </a:ln>
        </p:spPr>
        <p:txBody>
          <a:bodyPr lIns="0" tIns="0" rIns="0" bIns="0" anchor="t">
            <a:normAutofit/>
          </a:bodyPr>
          <a:p>
            <a:pPr indent="0" algn="l" defTabSz="914400">
              <a:lnSpc>
                <a:spcPts val="3960"/>
              </a:lnSpc>
              <a:buNone/>
              <a:tabLst>
                <a:tab pos="0" algn="l"/>
              </a:tabLst>
            </a:pPr>
            <a:r>
              <a:rPr lang="en-US" sz="3600" b="1" u="none" strike="noStrike">
                <a:solidFill>
                  <a:schemeClr val="dk1"/>
                </a:solidFill>
                <a:effectLst/>
                <a:uFillTx/>
                <a:latin typeface="DM Sans"/>
                <a:ea typeface="DM Sans"/>
              </a:rPr>
              <a:t>Data flows through four layers</a:t>
            </a:r>
            <a:endParaRPr lang="en-US" sz="3600" b="0" u="none" strike="noStrike">
              <a:solidFill>
                <a:schemeClr val="dk1"/>
              </a:solidFill>
              <a:effectLst/>
              <a:uFillTx/>
              <a:latin typeface="Arial"/>
            </a:endParaRPr>
          </a:p>
        </p:txBody>
      </p:sp>
      <p:sp>
        <p:nvSpPr>
          <p:cNvPr id="73" name="Shape 4"/>
          <p:cNvSpPr/>
          <p:nvPr/>
        </p:nvSpPr>
        <p:spPr>
          <a:xfrm>
            <a:off x="816120" y="1920960"/>
            <a:ext cx="1661400" cy="1510200"/>
          </a:xfrm>
          <a:prstGeom prst="roundRect">
            <a:avLst>
              <a:gd name="adj" fmla="val 6514"/>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74" name="Text 5"/>
          <p:cNvSpPr/>
          <p:nvPr/>
        </p:nvSpPr>
        <p:spPr>
          <a:xfrm>
            <a:off x="970920" y="2075760"/>
            <a:ext cx="140256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0E7C7B"/>
                </a:solidFill>
                <a:effectLst/>
                <a:uFillTx/>
                <a:latin typeface="DM Sans"/>
                <a:ea typeface="DM Sans"/>
              </a:rPr>
              <a:t>1 · Source</a:t>
            </a:r>
            <a:endParaRPr lang="en-GB" sz="1200" b="0" u="none" strike="noStrike">
              <a:solidFill>
                <a:srgbClr val="000000"/>
              </a:solidFill>
              <a:effectLst/>
              <a:uFillTx/>
              <a:latin typeface="Arial"/>
            </a:endParaRPr>
          </a:p>
        </p:txBody>
      </p:sp>
      <p:sp>
        <p:nvSpPr>
          <p:cNvPr id="75" name="Text 6"/>
          <p:cNvSpPr/>
          <p:nvPr/>
        </p:nvSpPr>
        <p:spPr>
          <a:xfrm>
            <a:off x="970920" y="2352600"/>
            <a:ext cx="1402560" cy="26856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4232E"/>
                </a:solidFill>
                <a:effectLst/>
                <a:uFillTx/>
                <a:latin typeface="DM Sans"/>
                <a:ea typeface="DM Sans"/>
              </a:rPr>
              <a:t>DataMall API</a:t>
            </a:r>
            <a:endParaRPr lang="en-GB" sz="1600" b="0" u="none" strike="noStrike">
              <a:solidFill>
                <a:srgbClr val="000000"/>
              </a:solidFill>
              <a:effectLst/>
              <a:uFillTx/>
              <a:latin typeface="Arial"/>
            </a:endParaRPr>
          </a:p>
        </p:txBody>
      </p:sp>
      <p:sp>
        <p:nvSpPr>
          <p:cNvPr id="76" name="Text 7"/>
          <p:cNvSpPr/>
          <p:nvPr/>
        </p:nvSpPr>
        <p:spPr>
          <a:xfrm>
            <a:off x="970920" y="2660040"/>
            <a:ext cx="1402560" cy="641880"/>
          </a:xfrm>
          <a:prstGeom prst="rect">
            <a:avLst/>
          </a:prstGeom>
          <a:noFill/>
          <a:ln w="0">
            <a:noFill/>
          </a:ln>
        </p:spPr>
        <p:style>
          <a:lnRef idx="0"/>
          <a:fillRef idx="0"/>
          <a:effectRef idx="0"/>
          <a:fontRef idx="minor"/>
        </p:style>
        <p:txBody>
          <a:bodyPr lIns="0" tIns="0" rIns="0" bIns="0" anchor="t">
            <a:normAutofit/>
          </a:bodyPr>
          <a:p>
            <a:pPr defTabSz="914400">
              <a:lnSpc>
                <a:spcPts val="1621"/>
              </a:lnSpc>
              <a:tabLst>
                <a:tab pos="0" algn="l"/>
              </a:tabLst>
            </a:pPr>
            <a:r>
              <a:rPr lang="en-US" sz="1200" b="0" u="none" strike="noStrike">
                <a:solidFill>
                  <a:srgbClr val="4F5B66"/>
                </a:solidFill>
                <a:effectLst/>
                <a:uFillTx/>
                <a:latin typeface="DM Sans"/>
                <a:ea typeface="DM Sans"/>
              </a:rPr>
              <a:t>Daily batch of every charging point</a:t>
            </a:r>
            <a:endParaRPr lang="en-GB" sz="1200" b="0" u="none" strike="noStrike">
              <a:solidFill>
                <a:srgbClr val="000000"/>
              </a:solidFill>
              <a:effectLst/>
              <a:uFillTx/>
              <a:latin typeface="Arial"/>
            </a:endParaRPr>
          </a:p>
          <a:p>
            <a:pPr defTabSz="914400">
              <a:lnSpc>
                <a:spcPts val="1621"/>
              </a:lnSpc>
              <a:tabLst>
                <a:tab pos="0" algn="l"/>
              </a:tabLst>
            </a:pPr>
            <a:endParaRPr lang="en-GB" sz="1200" b="0" u="none" strike="noStrike">
              <a:solidFill>
                <a:srgbClr val="000000"/>
              </a:solidFill>
              <a:effectLst/>
              <a:uFillTx/>
              <a:latin typeface="Arial"/>
            </a:endParaRPr>
          </a:p>
        </p:txBody>
      </p:sp>
      <p:pic>
        <p:nvPicPr>
          <p:cNvPr id="77" name="Image 0" descr="arrow-right"/>
          <p:cNvPicPr/>
          <p:nvPr/>
        </p:nvPicPr>
        <p:blipFill>
          <a:blip r:embed="rId1"/>
          <a:stretch/>
        </p:blipFill>
        <p:spPr>
          <a:xfrm>
            <a:off x="2583000" y="2575080"/>
            <a:ext cx="354960" cy="202320"/>
          </a:xfrm>
          <a:prstGeom prst="rect">
            <a:avLst/>
          </a:prstGeom>
          <a:noFill/>
          <a:ln w="0">
            <a:noFill/>
          </a:ln>
        </p:spPr>
      </p:pic>
      <p:sp>
        <p:nvSpPr>
          <p:cNvPr id="78" name="Shape 8"/>
          <p:cNvSpPr/>
          <p:nvPr/>
        </p:nvSpPr>
        <p:spPr>
          <a:xfrm>
            <a:off x="3043080" y="2023920"/>
            <a:ext cx="1661400" cy="1304640"/>
          </a:xfrm>
          <a:prstGeom prst="roundRect">
            <a:avLst>
              <a:gd name="adj" fmla="val 7540"/>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79" name="Text 9"/>
          <p:cNvSpPr/>
          <p:nvPr/>
        </p:nvSpPr>
        <p:spPr>
          <a:xfrm>
            <a:off x="3198240" y="2178720"/>
            <a:ext cx="140256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0E7C7B"/>
                </a:solidFill>
                <a:effectLst/>
                <a:uFillTx/>
                <a:latin typeface="DM Sans"/>
                <a:ea typeface="DM Sans"/>
              </a:rPr>
              <a:t>2 · Raw</a:t>
            </a:r>
            <a:endParaRPr lang="en-GB" sz="1200" b="0" u="none" strike="noStrike">
              <a:solidFill>
                <a:srgbClr val="000000"/>
              </a:solidFill>
              <a:effectLst/>
              <a:uFillTx/>
              <a:latin typeface="Arial"/>
            </a:endParaRPr>
          </a:p>
        </p:txBody>
      </p:sp>
      <p:sp>
        <p:nvSpPr>
          <p:cNvPr id="80" name="Text 10"/>
          <p:cNvSpPr/>
          <p:nvPr/>
        </p:nvSpPr>
        <p:spPr>
          <a:xfrm>
            <a:off x="3198240" y="2455560"/>
            <a:ext cx="1402560" cy="26856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4232E"/>
                </a:solidFill>
                <a:effectLst/>
                <a:uFillTx/>
                <a:latin typeface="DM Sans"/>
                <a:ea typeface="DM Sans"/>
              </a:rPr>
              <a:t>ev_raw</a:t>
            </a:r>
            <a:endParaRPr lang="en-GB" sz="1600" b="0" u="none" strike="noStrike">
              <a:solidFill>
                <a:srgbClr val="000000"/>
              </a:solidFill>
              <a:effectLst/>
              <a:uFillTx/>
              <a:latin typeface="Arial"/>
            </a:endParaRPr>
          </a:p>
        </p:txBody>
      </p:sp>
      <p:sp>
        <p:nvSpPr>
          <p:cNvPr id="81" name="Text 11"/>
          <p:cNvSpPr/>
          <p:nvPr/>
        </p:nvSpPr>
        <p:spPr>
          <a:xfrm>
            <a:off x="3198240" y="2763000"/>
            <a:ext cx="1402560" cy="435960"/>
          </a:xfrm>
          <a:prstGeom prst="rect">
            <a:avLst/>
          </a:prstGeom>
          <a:noFill/>
          <a:ln w="0">
            <a:noFill/>
          </a:ln>
        </p:spPr>
        <p:style>
          <a:lnRef idx="0"/>
          <a:fillRef idx="0"/>
          <a:effectRef idx="0"/>
          <a:fontRef idx="minor"/>
        </p:style>
        <p:txBody>
          <a:bodyPr lIns="0" tIns="0" rIns="0" bIns="0" anchor="t">
            <a:normAutofit/>
          </a:bodyPr>
          <a:p>
            <a:pPr defTabSz="914400">
              <a:lnSpc>
                <a:spcPts val="1621"/>
              </a:lnSpc>
              <a:tabLst>
                <a:tab pos="0" algn="l"/>
              </a:tabLst>
            </a:pPr>
            <a:r>
              <a:rPr lang="en-US" sz="1200" b="0" u="none" strike="noStrike">
                <a:solidFill>
                  <a:srgbClr val="4F5B66"/>
                </a:solidFill>
                <a:effectLst/>
                <a:uFillTx/>
                <a:latin typeface="DM Sans"/>
                <a:ea typeface="DM Sans"/>
              </a:rPr>
              <a:t>Every load kept as ingested</a:t>
            </a:r>
            <a:endParaRPr lang="en-GB" sz="1200" b="0" u="none" strike="noStrike">
              <a:solidFill>
                <a:srgbClr val="000000"/>
              </a:solidFill>
              <a:effectLst/>
              <a:uFillTx/>
              <a:latin typeface="Arial"/>
            </a:endParaRPr>
          </a:p>
        </p:txBody>
      </p:sp>
      <p:pic>
        <p:nvPicPr>
          <p:cNvPr id="82" name="Image 1" descr="arrow-right"/>
          <p:cNvPicPr/>
          <p:nvPr/>
        </p:nvPicPr>
        <p:blipFill>
          <a:blip r:embed="rId2"/>
          <a:stretch/>
        </p:blipFill>
        <p:spPr>
          <a:xfrm>
            <a:off x="4810320" y="2575080"/>
            <a:ext cx="354960" cy="202320"/>
          </a:xfrm>
          <a:prstGeom prst="rect">
            <a:avLst/>
          </a:prstGeom>
          <a:noFill/>
          <a:ln w="0">
            <a:noFill/>
          </a:ln>
        </p:spPr>
      </p:pic>
      <p:sp>
        <p:nvSpPr>
          <p:cNvPr id="83" name="Shape 12"/>
          <p:cNvSpPr/>
          <p:nvPr/>
        </p:nvSpPr>
        <p:spPr>
          <a:xfrm>
            <a:off x="5270400" y="2023920"/>
            <a:ext cx="1661400" cy="1304640"/>
          </a:xfrm>
          <a:prstGeom prst="roundRect">
            <a:avLst>
              <a:gd name="adj" fmla="val 7540"/>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84" name="Text 13"/>
          <p:cNvSpPr/>
          <p:nvPr/>
        </p:nvSpPr>
        <p:spPr>
          <a:xfrm>
            <a:off x="5425560" y="2178720"/>
            <a:ext cx="140256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0E7C7B"/>
                </a:solidFill>
                <a:effectLst/>
                <a:uFillTx/>
                <a:latin typeface="DM Sans"/>
                <a:ea typeface="DM Sans"/>
              </a:rPr>
              <a:t>3 · Staging</a:t>
            </a:r>
            <a:endParaRPr lang="en-GB" sz="1200" b="0" u="none" strike="noStrike">
              <a:solidFill>
                <a:srgbClr val="000000"/>
              </a:solidFill>
              <a:effectLst/>
              <a:uFillTx/>
              <a:latin typeface="Arial"/>
            </a:endParaRPr>
          </a:p>
        </p:txBody>
      </p:sp>
      <p:sp>
        <p:nvSpPr>
          <p:cNvPr id="85" name="Text 14"/>
          <p:cNvSpPr/>
          <p:nvPr/>
        </p:nvSpPr>
        <p:spPr>
          <a:xfrm>
            <a:off x="5425560" y="2455560"/>
            <a:ext cx="1402560" cy="26856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4232E"/>
                </a:solidFill>
                <a:effectLst/>
                <a:uFillTx/>
                <a:latin typeface="DM Sans"/>
                <a:ea typeface="DM Sans"/>
              </a:rPr>
              <a:t>ev_staging</a:t>
            </a:r>
            <a:endParaRPr lang="en-GB" sz="1600" b="0" u="none" strike="noStrike">
              <a:solidFill>
                <a:srgbClr val="000000"/>
              </a:solidFill>
              <a:effectLst/>
              <a:uFillTx/>
              <a:latin typeface="Arial"/>
            </a:endParaRPr>
          </a:p>
        </p:txBody>
      </p:sp>
      <p:sp>
        <p:nvSpPr>
          <p:cNvPr id="86" name="Text 15"/>
          <p:cNvSpPr/>
          <p:nvPr/>
        </p:nvSpPr>
        <p:spPr>
          <a:xfrm>
            <a:off x="5425560" y="2763000"/>
            <a:ext cx="1402560" cy="435960"/>
          </a:xfrm>
          <a:prstGeom prst="rect">
            <a:avLst/>
          </a:prstGeom>
          <a:noFill/>
          <a:ln w="0">
            <a:noFill/>
          </a:ln>
        </p:spPr>
        <p:style>
          <a:lnRef idx="0"/>
          <a:fillRef idx="0"/>
          <a:effectRef idx="0"/>
          <a:fontRef idx="minor"/>
        </p:style>
        <p:txBody>
          <a:bodyPr lIns="0" tIns="0" rIns="0" bIns="0" anchor="t">
            <a:normAutofit/>
          </a:bodyPr>
          <a:p>
            <a:pPr defTabSz="914400">
              <a:lnSpc>
                <a:spcPts val="1621"/>
              </a:lnSpc>
              <a:tabLst>
                <a:tab pos="0" algn="l"/>
              </a:tabLst>
            </a:pPr>
            <a:r>
              <a:rPr lang="en-US" sz="1200" b="0" u="none" strike="noStrike">
                <a:solidFill>
                  <a:srgbClr val="4F5B66"/>
                </a:solidFill>
                <a:effectLst/>
                <a:uFillTx/>
                <a:latin typeface="DM Sans"/>
                <a:ea typeface="DM Sans"/>
              </a:rPr>
              <a:t>dbt cleans and types the data</a:t>
            </a:r>
            <a:endParaRPr lang="en-GB" sz="1200" b="0" u="none" strike="noStrike">
              <a:solidFill>
                <a:srgbClr val="000000"/>
              </a:solidFill>
              <a:effectLst/>
              <a:uFillTx/>
              <a:latin typeface="Arial"/>
            </a:endParaRPr>
          </a:p>
        </p:txBody>
      </p:sp>
      <p:pic>
        <p:nvPicPr>
          <p:cNvPr id="87" name="Image 2" descr="arrow-right"/>
          <p:cNvPicPr/>
          <p:nvPr/>
        </p:nvPicPr>
        <p:blipFill>
          <a:blip r:embed="rId3"/>
          <a:stretch/>
        </p:blipFill>
        <p:spPr>
          <a:xfrm>
            <a:off x="7037640" y="2575080"/>
            <a:ext cx="354960" cy="202320"/>
          </a:xfrm>
          <a:prstGeom prst="rect">
            <a:avLst/>
          </a:prstGeom>
          <a:noFill/>
          <a:ln w="0">
            <a:noFill/>
          </a:ln>
        </p:spPr>
      </p:pic>
      <p:sp>
        <p:nvSpPr>
          <p:cNvPr id="88" name="Shape 16"/>
          <p:cNvSpPr/>
          <p:nvPr/>
        </p:nvSpPr>
        <p:spPr>
          <a:xfrm>
            <a:off x="7497720" y="2023920"/>
            <a:ext cx="1661400" cy="1304640"/>
          </a:xfrm>
          <a:prstGeom prst="roundRect">
            <a:avLst>
              <a:gd name="adj" fmla="val 7540"/>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89" name="Text 17"/>
          <p:cNvSpPr/>
          <p:nvPr/>
        </p:nvSpPr>
        <p:spPr>
          <a:xfrm>
            <a:off x="7652880" y="2178720"/>
            <a:ext cx="140256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0E7C7B"/>
                </a:solidFill>
                <a:effectLst/>
                <a:uFillTx/>
                <a:latin typeface="DM Sans"/>
                <a:ea typeface="DM Sans"/>
              </a:rPr>
              <a:t>4 · Analytics</a:t>
            </a:r>
            <a:endParaRPr lang="en-GB" sz="1200" b="0" u="none" strike="noStrike">
              <a:solidFill>
                <a:srgbClr val="000000"/>
              </a:solidFill>
              <a:effectLst/>
              <a:uFillTx/>
              <a:latin typeface="Arial"/>
            </a:endParaRPr>
          </a:p>
        </p:txBody>
      </p:sp>
      <p:sp>
        <p:nvSpPr>
          <p:cNvPr id="90" name="Text 18"/>
          <p:cNvSpPr/>
          <p:nvPr/>
        </p:nvSpPr>
        <p:spPr>
          <a:xfrm>
            <a:off x="7652880" y="2455560"/>
            <a:ext cx="1402560" cy="26856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4232E"/>
                </a:solidFill>
                <a:effectLst/>
                <a:uFillTx/>
                <a:latin typeface="DM Sans"/>
                <a:ea typeface="DM Sans"/>
              </a:rPr>
              <a:t>ev_analytics</a:t>
            </a:r>
            <a:endParaRPr lang="en-GB" sz="1600" b="0" u="none" strike="noStrike">
              <a:solidFill>
                <a:srgbClr val="000000"/>
              </a:solidFill>
              <a:effectLst/>
              <a:uFillTx/>
              <a:latin typeface="Arial"/>
            </a:endParaRPr>
          </a:p>
        </p:txBody>
      </p:sp>
      <p:sp>
        <p:nvSpPr>
          <p:cNvPr id="91" name="Text 19"/>
          <p:cNvSpPr/>
          <p:nvPr/>
        </p:nvSpPr>
        <p:spPr>
          <a:xfrm>
            <a:off x="7652880" y="2763000"/>
            <a:ext cx="1402560" cy="435960"/>
          </a:xfrm>
          <a:prstGeom prst="rect">
            <a:avLst/>
          </a:prstGeom>
          <a:noFill/>
          <a:ln w="0">
            <a:noFill/>
          </a:ln>
        </p:spPr>
        <p:style>
          <a:lnRef idx="0"/>
          <a:fillRef idx="0"/>
          <a:effectRef idx="0"/>
          <a:fontRef idx="minor"/>
        </p:style>
        <p:txBody>
          <a:bodyPr lIns="0" tIns="0" rIns="0" bIns="0" anchor="t">
            <a:normAutofit/>
          </a:bodyPr>
          <a:p>
            <a:pPr defTabSz="914400">
              <a:lnSpc>
                <a:spcPts val="1621"/>
              </a:lnSpc>
              <a:tabLst>
                <a:tab pos="0" algn="l"/>
              </a:tabLst>
            </a:pPr>
            <a:r>
              <a:rPr lang="en-US" sz="1200" b="0" u="none" strike="noStrike">
                <a:solidFill>
                  <a:srgbClr val="4F5B66"/>
                </a:solidFill>
                <a:effectLst/>
                <a:uFillTx/>
                <a:latin typeface="DM Sans"/>
                <a:ea typeface="DM Sans"/>
              </a:rPr>
              <a:t>Star schema and summaries</a:t>
            </a:r>
            <a:endParaRPr lang="en-GB" sz="1200" b="0" u="none" strike="noStrike">
              <a:solidFill>
                <a:srgbClr val="000000"/>
              </a:solidFill>
              <a:effectLst/>
              <a:uFillTx/>
              <a:latin typeface="Arial"/>
            </a:endParaRPr>
          </a:p>
        </p:txBody>
      </p:sp>
      <p:pic>
        <p:nvPicPr>
          <p:cNvPr id="92" name="Image 3" descr="arrow-right"/>
          <p:cNvPicPr/>
          <p:nvPr/>
        </p:nvPicPr>
        <p:blipFill>
          <a:blip r:embed="rId4"/>
          <a:stretch/>
        </p:blipFill>
        <p:spPr>
          <a:xfrm>
            <a:off x="9264960" y="2575080"/>
            <a:ext cx="354960" cy="202320"/>
          </a:xfrm>
          <a:prstGeom prst="rect">
            <a:avLst/>
          </a:prstGeom>
          <a:noFill/>
          <a:ln w="0">
            <a:noFill/>
          </a:ln>
        </p:spPr>
      </p:pic>
      <p:sp>
        <p:nvSpPr>
          <p:cNvPr id="93" name="Shape 20"/>
          <p:cNvSpPr/>
          <p:nvPr/>
        </p:nvSpPr>
        <p:spPr>
          <a:xfrm>
            <a:off x="9722160" y="2026440"/>
            <a:ext cx="1656360" cy="1299600"/>
          </a:xfrm>
          <a:prstGeom prst="roundRect">
            <a:avLst>
              <a:gd name="adj" fmla="val 7813"/>
            </a:avLst>
          </a:prstGeom>
          <a:solidFill>
            <a:srgbClr val="14232E"/>
          </a:solidFill>
          <a:ln w="0">
            <a:noFill/>
          </a:ln>
        </p:spPr>
        <p:style>
          <a:lnRef idx="0"/>
          <a:fillRef idx="0"/>
          <a:effectRef idx="0"/>
          <a:fontRef idx="minor"/>
        </p:style>
        <p:txBody>
          <a:bodyPr lIns="90000" tIns="45000" rIns="90000" bIns="45000" anchor="t">
            <a:noAutofit/>
          </a:bodyPr>
          <a:p>
            <a:pPr/>
            <a:endParaRPr lang="en-GB" sz="1800" b="0" u="none" strike="noStrike">
              <a:solidFill>
                <a:srgbClr val="FFFFFF"/>
              </a:solidFill>
              <a:effectLst/>
              <a:uFillTx/>
              <a:latin typeface="Arial"/>
            </a:endParaRPr>
          </a:p>
        </p:txBody>
      </p:sp>
      <p:sp>
        <p:nvSpPr>
          <p:cNvPr id="94" name="Text 21"/>
          <p:cNvSpPr/>
          <p:nvPr/>
        </p:nvSpPr>
        <p:spPr>
          <a:xfrm>
            <a:off x="9874440" y="2178720"/>
            <a:ext cx="140256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5CC8C4"/>
                </a:solidFill>
                <a:effectLst/>
                <a:uFillTx/>
                <a:latin typeface="DM Sans"/>
                <a:ea typeface="DM Sans"/>
              </a:rPr>
              <a:t>5 · Use</a:t>
            </a:r>
            <a:endParaRPr lang="en-GB" sz="1200" b="0" u="none" strike="noStrike">
              <a:solidFill>
                <a:srgbClr val="000000"/>
              </a:solidFill>
              <a:effectLst/>
              <a:uFillTx/>
              <a:latin typeface="Arial"/>
            </a:endParaRPr>
          </a:p>
        </p:txBody>
      </p:sp>
      <p:sp>
        <p:nvSpPr>
          <p:cNvPr id="95" name="Text 22"/>
          <p:cNvSpPr/>
          <p:nvPr/>
        </p:nvSpPr>
        <p:spPr>
          <a:xfrm>
            <a:off x="9874440" y="2455560"/>
            <a:ext cx="1402560" cy="26856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F6F5F0"/>
                </a:solidFill>
                <a:effectLst/>
                <a:uFillTx/>
                <a:latin typeface="DM Sans"/>
                <a:ea typeface="DM Sans"/>
              </a:rPr>
              <a:t>Notebooks</a:t>
            </a:r>
            <a:endParaRPr lang="en-GB" sz="1600" b="0" u="none" strike="noStrike">
              <a:solidFill>
                <a:srgbClr val="000000"/>
              </a:solidFill>
              <a:effectLst/>
              <a:uFillTx/>
              <a:latin typeface="Arial"/>
            </a:endParaRPr>
          </a:p>
        </p:txBody>
      </p:sp>
      <p:sp>
        <p:nvSpPr>
          <p:cNvPr id="96" name="Text 23"/>
          <p:cNvSpPr/>
          <p:nvPr/>
        </p:nvSpPr>
        <p:spPr>
          <a:xfrm>
            <a:off x="9874440" y="2763000"/>
            <a:ext cx="1402560" cy="435960"/>
          </a:xfrm>
          <a:prstGeom prst="rect">
            <a:avLst/>
          </a:prstGeom>
          <a:noFill/>
          <a:ln w="0">
            <a:noFill/>
          </a:ln>
        </p:spPr>
        <p:style>
          <a:lnRef idx="0"/>
          <a:fillRef idx="0"/>
          <a:effectRef idx="0"/>
          <a:fontRef idx="minor"/>
        </p:style>
        <p:txBody>
          <a:bodyPr lIns="0" tIns="0" rIns="0" bIns="0" anchor="t">
            <a:normAutofit/>
          </a:bodyPr>
          <a:p>
            <a:pPr defTabSz="914400">
              <a:lnSpc>
                <a:spcPts val="1621"/>
              </a:lnSpc>
              <a:tabLst>
                <a:tab pos="0" algn="l"/>
              </a:tabLst>
            </a:pPr>
            <a:r>
              <a:rPr lang="en-US" sz="1200" b="0" u="none" strike="noStrike">
                <a:solidFill>
                  <a:srgbClr val="B9C4CC"/>
                </a:solidFill>
                <a:effectLst/>
                <a:uFillTx/>
                <a:latin typeface="DM Sans"/>
                <a:ea typeface="DM Sans"/>
              </a:rPr>
              <a:t>BigQuery Python client and pandas</a:t>
            </a:r>
            <a:endParaRPr lang="en-GB" sz="1200" b="0" u="none" strike="noStrike">
              <a:solidFill>
                <a:srgbClr val="000000"/>
              </a:solidFill>
              <a:effectLst/>
              <a:uFillTx/>
              <a:latin typeface="Arial"/>
            </a:endParaRPr>
          </a:p>
        </p:txBody>
      </p:sp>
      <p:sp>
        <p:nvSpPr>
          <p:cNvPr id="97" name="Text 24"/>
          <p:cNvSpPr/>
          <p:nvPr/>
        </p:nvSpPr>
        <p:spPr>
          <a:xfrm>
            <a:off x="731520" y="4226040"/>
            <a:ext cx="10565640" cy="843840"/>
          </a:xfrm>
          <a:prstGeom prst="roundRect">
            <a:avLst>
              <a:gd name="adj" fmla="val 12030"/>
            </a:avLst>
          </a:prstGeom>
          <a:solidFill>
            <a:srgbClr val="E3F1F0"/>
          </a:solidFill>
          <a:ln w="0">
            <a:noFill/>
          </a:ln>
        </p:spPr>
        <p:style>
          <a:lnRef idx="0"/>
          <a:fillRef idx="0"/>
          <a:effectRef idx="0"/>
          <a:fontRef idx="minor"/>
        </p:style>
        <p:txBody>
          <a:bodyPr lIns="198720" tIns="147960" rIns="198720" bIns="147960" anchor="ctr">
            <a:normAutofit/>
          </a:bodyPr>
          <a:p>
            <a:pPr defTabSz="914400">
              <a:lnSpc>
                <a:spcPts val="1919"/>
              </a:lnSpc>
              <a:tabLst>
                <a:tab pos="0" algn="l"/>
              </a:tabLst>
            </a:pPr>
            <a:r>
              <a:rPr lang="en-US" sz="1600" b="1" u="none" strike="noStrike">
                <a:solidFill>
                  <a:srgbClr val="0E7C7B"/>
                </a:solidFill>
                <a:effectLst/>
                <a:uFillTx/>
                <a:latin typeface="DM Sans"/>
                <a:ea typeface="DM Sans"/>
              </a:rPr>
              <a:t>Quality gate</a:t>
            </a:r>
            <a:endParaRPr lang="en-GB" sz="1600" b="0" u="none" strike="noStrike">
              <a:solidFill>
                <a:srgbClr val="000000"/>
              </a:solidFill>
              <a:effectLst/>
              <a:uFillTx/>
              <a:latin typeface="Arial"/>
            </a:endParaRPr>
          </a:p>
        </p:txBody>
      </p:sp>
      <p:sp>
        <p:nvSpPr>
          <p:cNvPr id="98" name="Text 25"/>
          <p:cNvSpPr/>
          <p:nvPr/>
        </p:nvSpPr>
        <p:spPr>
          <a:xfrm>
            <a:off x="731520" y="5273640"/>
            <a:ext cx="10565640" cy="843840"/>
          </a:xfrm>
          <a:prstGeom prst="roundRect">
            <a:avLst>
              <a:gd name="adj" fmla="val 12030"/>
            </a:avLst>
          </a:prstGeom>
          <a:solidFill>
            <a:srgbClr val="FBEBD6"/>
          </a:solidFill>
          <a:ln w="0">
            <a:noFill/>
          </a:ln>
        </p:spPr>
        <p:style>
          <a:lnRef idx="0"/>
          <a:fillRef idx="0"/>
          <a:effectRef idx="0"/>
          <a:fontRef idx="minor"/>
        </p:style>
        <p:txBody>
          <a:bodyPr lIns="198720" tIns="147960" rIns="198720" bIns="147960" anchor="ctr">
            <a:normAutofit/>
          </a:bodyPr>
          <a:p>
            <a:pPr defTabSz="914400">
              <a:lnSpc>
                <a:spcPts val="1919"/>
              </a:lnSpc>
              <a:tabLst>
                <a:tab pos="0" algn="l"/>
              </a:tabLst>
            </a:pPr>
            <a:r>
              <a:rPr lang="en-US" sz="1600" b="1" u="none" strike="noStrike">
                <a:solidFill>
                  <a:srgbClr val="A85A00"/>
                </a:solidFill>
                <a:effectLst/>
                <a:uFillTx/>
                <a:latin typeface="DM Sans"/>
                <a:ea typeface="DM Sans"/>
              </a:rPr>
              <a:t>Orchestration</a:t>
            </a:r>
            <a:endParaRPr lang="en-GB" sz="1600" b="0" u="none" strike="noStrike">
              <a:solidFill>
                <a:srgbClr val="000000"/>
              </a:solidFill>
              <a:effectLst/>
              <a:uFillTx/>
              <a:latin typeface="Arial"/>
            </a:endParaRPr>
          </a:p>
        </p:txBody>
      </p:sp>
      <p:sp>
        <p:nvSpPr>
          <p:cNvPr id="99" name="Text 26"/>
          <p:cNvSpPr/>
          <p:nvPr/>
        </p:nvSpPr>
        <p:spPr>
          <a:xfrm>
            <a:off x="2554200" y="5562000"/>
            <a:ext cx="8756640" cy="504720"/>
          </a:xfrm>
          <a:prstGeom prst="rect">
            <a:avLst/>
          </a:prstGeom>
          <a:noFill/>
          <a:ln w="0">
            <a:noFill/>
          </a:ln>
        </p:spPr>
        <p:style>
          <a:lnRef idx="0"/>
          <a:fillRef idx="0"/>
          <a:effectRef idx="0"/>
          <a:fontRef idx="minor"/>
        </p:style>
        <p:txBody>
          <a:bodyPr lIns="0" tIns="0" rIns="0" bIns="0" anchor="t">
            <a:normAutofit/>
          </a:bodyPr>
          <a:p>
            <a:pPr defTabSz="914400">
              <a:lnSpc>
                <a:spcPts val="1891"/>
              </a:lnSpc>
              <a:tabLst>
                <a:tab pos="0" algn="l"/>
              </a:tabLst>
            </a:pPr>
            <a:r>
              <a:rPr lang="en-US" sz="1400" b="0" u="none" strike="noStrike">
                <a:solidFill>
                  <a:srgbClr val="14232E"/>
                </a:solidFill>
                <a:effectLst/>
                <a:uFillTx/>
                <a:latin typeface="DM Sans"/>
                <a:ea typeface="DM Sans"/>
              </a:rPr>
              <a:t>Cloud Scheduler triggers a Cloud Run job daily at 09:30. Dagster on Docker runs the full pipeline manually.</a:t>
            </a:r>
            <a:endParaRPr lang="en-GB" sz="1400" b="0" u="none" strike="noStrike">
              <a:solidFill>
                <a:srgbClr val="000000"/>
              </a:solidFill>
              <a:effectLst/>
              <a:uFillTx/>
              <a:latin typeface="Arial"/>
            </a:endParaRPr>
          </a:p>
        </p:txBody>
      </p:sp>
      <p:sp>
        <p:nvSpPr>
          <p:cNvPr id="100" name="Text 27"/>
          <p:cNvSpPr/>
          <p:nvPr/>
        </p:nvSpPr>
        <p:spPr>
          <a:xfrm>
            <a:off x="2520000" y="4535640"/>
            <a:ext cx="8756640" cy="504720"/>
          </a:xfrm>
          <a:prstGeom prst="rect">
            <a:avLst/>
          </a:prstGeom>
          <a:noFill/>
          <a:ln w="0">
            <a:noFill/>
          </a:ln>
        </p:spPr>
        <p:style>
          <a:lnRef idx="0"/>
          <a:fillRef idx="0"/>
          <a:effectRef idx="0"/>
          <a:fontRef idx="minor"/>
        </p:style>
        <p:txBody>
          <a:bodyPr lIns="0" tIns="0" rIns="0" bIns="0" anchor="t">
            <a:normAutofit/>
          </a:bodyPr>
          <a:p>
            <a:pPr defTabSz="914400">
              <a:lnSpc>
                <a:spcPts val="1891"/>
              </a:lnSpc>
              <a:tabLst>
                <a:tab pos="0" algn="l"/>
              </a:tabLst>
            </a:pPr>
            <a:r>
              <a:rPr lang="en-US" sz="1400" b="0" u="none" strike="noStrike">
                <a:solidFill>
                  <a:srgbClr val="14232E"/>
                </a:solidFill>
                <a:effectLst/>
                <a:uFillTx/>
                <a:latin typeface="DM Sans"/>
                <a:ea typeface="DM Sans"/>
              </a:rPr>
              <a:t>Great Expectations checks every layer (58 tests on 9 tables), plus dbt tests and a Pandas and Polars cross-check.</a:t>
            </a:r>
            <a:endParaRPr lang="en-GB" sz="1400" b="0" u="none" strike="noStrike">
              <a:solidFill>
                <a:srgbClr val="000000"/>
              </a:solidFill>
              <a:effectLst/>
              <a:uFillTx/>
              <a:latin typeface="Arial"/>
            </a:endParaRPr>
          </a:p>
        </p:txBody>
      </p:sp>
      <p:pic>
        <p:nvPicPr>
          <p:cNvPr id="101" name="Picture 36"/>
          <p:cNvPicPr/>
          <p:nvPr/>
        </p:nvPicPr>
        <p:blipFill>
          <a:blip r:embed="rId5"/>
          <a:stretch/>
        </p:blipFill>
        <p:spPr>
          <a:xfrm>
            <a:off x="1156320" y="3490200"/>
            <a:ext cx="981000" cy="566280"/>
          </a:xfrm>
          <a:prstGeom prst="rect">
            <a:avLst/>
          </a:prstGeom>
          <a:noFill/>
          <a:ln w="0">
            <a:noFill/>
          </a:ln>
        </p:spPr>
      </p:pic>
      <p:pic>
        <p:nvPicPr>
          <p:cNvPr id="102" name="Picture 38"/>
          <p:cNvPicPr/>
          <p:nvPr/>
        </p:nvPicPr>
        <p:blipFill>
          <a:blip r:embed="rId6"/>
          <a:stretch/>
        </p:blipFill>
        <p:spPr>
          <a:xfrm>
            <a:off x="3389760" y="3395160"/>
            <a:ext cx="974880" cy="310320"/>
          </a:xfrm>
          <a:prstGeom prst="rect">
            <a:avLst/>
          </a:prstGeom>
          <a:noFill/>
          <a:ln w="0">
            <a:noFill/>
          </a:ln>
        </p:spPr>
      </p:pic>
      <p:pic>
        <p:nvPicPr>
          <p:cNvPr id="103" name="Picture 40"/>
          <p:cNvPicPr/>
          <p:nvPr/>
        </p:nvPicPr>
        <p:blipFill>
          <a:blip r:embed="rId7"/>
          <a:stretch/>
        </p:blipFill>
        <p:spPr>
          <a:xfrm>
            <a:off x="3383640" y="3746880"/>
            <a:ext cx="981000" cy="493200"/>
          </a:xfrm>
          <a:prstGeom prst="rect">
            <a:avLst/>
          </a:prstGeom>
          <a:noFill/>
          <a:ln w="0">
            <a:noFill/>
          </a:ln>
        </p:spPr>
      </p:pic>
      <p:pic>
        <p:nvPicPr>
          <p:cNvPr id="104" name="Picture 42"/>
          <p:cNvPicPr/>
          <p:nvPr/>
        </p:nvPicPr>
        <p:blipFill>
          <a:blip r:embed="rId8"/>
          <a:stretch/>
        </p:blipFill>
        <p:spPr>
          <a:xfrm>
            <a:off x="6806520" y="3718080"/>
            <a:ext cx="981000" cy="493200"/>
          </a:xfrm>
          <a:prstGeom prst="rect">
            <a:avLst/>
          </a:prstGeom>
          <a:noFill/>
          <a:ln w="0">
            <a:noFill/>
          </a:ln>
        </p:spPr>
      </p:pic>
      <p:pic>
        <p:nvPicPr>
          <p:cNvPr id="105" name="Picture 50"/>
          <p:cNvPicPr/>
          <p:nvPr/>
        </p:nvPicPr>
        <p:blipFill>
          <a:blip r:embed="rId9"/>
          <a:stretch/>
        </p:blipFill>
        <p:spPr>
          <a:xfrm>
            <a:off x="6878880" y="3388680"/>
            <a:ext cx="788760" cy="310320"/>
          </a:xfrm>
          <a:prstGeom prst="rect">
            <a:avLst/>
          </a:prstGeom>
          <a:noFill/>
          <a:ln w="0">
            <a:noFill/>
          </a:ln>
        </p:spPr>
      </p:pic>
      <p:pic>
        <p:nvPicPr>
          <p:cNvPr id="106" name="Picture 52"/>
          <p:cNvPicPr/>
          <p:nvPr/>
        </p:nvPicPr>
        <p:blipFill>
          <a:blip r:embed="rId10"/>
          <a:stretch/>
        </p:blipFill>
        <p:spPr>
          <a:xfrm>
            <a:off x="10194840" y="3746880"/>
            <a:ext cx="712440" cy="414000"/>
          </a:xfrm>
          <a:prstGeom prst="rect">
            <a:avLst/>
          </a:prstGeom>
          <a:noFill/>
          <a:ln w="0">
            <a:noFill/>
          </a:ln>
        </p:spPr>
      </p:pic>
      <p:pic>
        <p:nvPicPr>
          <p:cNvPr id="107" name="Picture 54"/>
          <p:cNvPicPr/>
          <p:nvPr/>
        </p:nvPicPr>
        <p:blipFill>
          <a:blip r:embed="rId11"/>
          <a:stretch/>
        </p:blipFill>
        <p:spPr>
          <a:xfrm>
            <a:off x="10043280" y="3375720"/>
            <a:ext cx="974880" cy="310320"/>
          </a:xfrm>
          <a:prstGeom prst="rect">
            <a:avLst/>
          </a:prstGeom>
          <a:noFill/>
          <a:ln w="0">
            <a:noFill/>
          </a:ln>
        </p:spPr>
      </p:pic>
      <p:pic>
        <p:nvPicPr>
          <p:cNvPr id="108" name="Picture 56"/>
          <p:cNvPicPr/>
          <p:nvPr/>
        </p:nvPicPr>
        <p:blipFill>
          <a:blip r:embed="rId12"/>
          <a:stretch/>
        </p:blipFill>
        <p:spPr>
          <a:xfrm>
            <a:off x="2882520" y="5835240"/>
            <a:ext cx="1336320" cy="542880"/>
          </a:xfrm>
          <a:prstGeom prst="rect">
            <a:avLst/>
          </a:prstGeom>
          <a:noFill/>
          <a:ln w="0">
            <a:noFill/>
          </a:ln>
        </p:spPr>
      </p:pic>
      <p:pic>
        <p:nvPicPr>
          <p:cNvPr id="109" name="Picture 58"/>
          <p:cNvPicPr/>
          <p:nvPr/>
        </p:nvPicPr>
        <p:blipFill>
          <a:blip r:embed="rId13"/>
          <a:stretch/>
        </p:blipFill>
        <p:spPr>
          <a:xfrm>
            <a:off x="4401720" y="5829480"/>
            <a:ext cx="663840" cy="511560"/>
          </a:xfrm>
          <a:prstGeom prst="rect">
            <a:avLst/>
          </a:prstGeom>
          <a:noFill/>
          <a:ln w="0">
            <a:noFill/>
          </a:ln>
        </p:spPr>
      </p:pic>
      <p:pic>
        <p:nvPicPr>
          <p:cNvPr id="110" name="Picture 60"/>
          <p:cNvPicPr/>
          <p:nvPr/>
        </p:nvPicPr>
        <p:blipFill>
          <a:blip r:embed="rId14"/>
          <a:stretch/>
        </p:blipFill>
        <p:spPr>
          <a:xfrm>
            <a:off x="5235480" y="5834880"/>
            <a:ext cx="758160" cy="511560"/>
          </a:xfrm>
          <a:prstGeom prst="rect">
            <a:avLst/>
          </a:prstGeom>
          <a:noFill/>
          <a:ln w="0">
            <a:noFill/>
          </a:ln>
        </p:spPr>
      </p:pic>
      <p:sp>
        <p:nvSpPr>
          <p:cNvPr id="111" name="Text 11"/>
          <p:cNvSpPr/>
          <p:nvPr/>
        </p:nvSpPr>
        <p:spPr>
          <a:xfrm>
            <a:off x="2452680" y="3618000"/>
            <a:ext cx="681480" cy="414000"/>
          </a:xfrm>
          <a:prstGeom prst="rect">
            <a:avLst/>
          </a:prstGeom>
          <a:noFill/>
          <a:ln w="0">
            <a:noFill/>
          </a:ln>
        </p:spPr>
        <p:style>
          <a:lnRef idx="0"/>
          <a:fillRef idx="0"/>
          <a:effectRef idx="0"/>
          <a:fontRef idx="minor"/>
        </p:style>
        <p:txBody>
          <a:bodyPr lIns="0" tIns="0" rIns="0" bIns="0" anchor="t">
            <a:normAutofit/>
          </a:bodyPr>
          <a:p>
            <a:pPr algn="ctr" defTabSz="914400">
              <a:lnSpc>
                <a:spcPts val="1621"/>
              </a:lnSpc>
              <a:tabLst>
                <a:tab pos="0" algn="l"/>
              </a:tabLst>
            </a:pPr>
            <a:r>
              <a:rPr lang="en-US" sz="1400" b="1" u="none" strike="noStrike">
                <a:solidFill>
                  <a:schemeClr val="accent4">
                    <a:lumMod val="60000"/>
                    <a:lumOff val="40000"/>
                  </a:schemeClr>
                </a:solidFill>
                <a:effectLst/>
                <a:uFillTx/>
                <a:latin typeface="DM Sans"/>
                <a:ea typeface="DejaVu Sans"/>
              </a:rPr>
              <a:t>Extract </a:t>
            </a:r>
            <a:endParaRPr lang="en-GB" sz="1400" b="0" u="none" strike="noStrike">
              <a:solidFill>
                <a:srgbClr val="000000"/>
              </a:solidFill>
              <a:effectLst/>
              <a:uFillTx/>
              <a:latin typeface="Arial"/>
            </a:endParaRPr>
          </a:p>
          <a:p>
            <a:pPr algn="ctr" defTabSz="914400">
              <a:lnSpc>
                <a:spcPts val="1621"/>
              </a:lnSpc>
              <a:tabLst>
                <a:tab pos="0" algn="l"/>
              </a:tabLst>
            </a:pPr>
            <a:r>
              <a:rPr lang="en-US" sz="1400" b="1" u="none" strike="noStrike">
                <a:solidFill>
                  <a:schemeClr val="accent4">
                    <a:lumMod val="60000"/>
                    <a:lumOff val="40000"/>
                  </a:schemeClr>
                </a:solidFill>
                <a:effectLst/>
                <a:uFillTx/>
                <a:latin typeface="DM Sans"/>
                <a:ea typeface="DejaVu Sans"/>
              </a:rPr>
              <a:t>Load</a:t>
            </a:r>
            <a:endParaRPr lang="en-GB" sz="1400" b="0" u="none" strike="noStrike">
              <a:solidFill>
                <a:srgbClr val="000000"/>
              </a:solidFill>
              <a:effectLst/>
              <a:uFillTx/>
              <a:latin typeface="Arial"/>
            </a:endParaRPr>
          </a:p>
        </p:txBody>
      </p:sp>
      <p:sp>
        <p:nvSpPr>
          <p:cNvPr id="112" name="Text 11"/>
          <p:cNvSpPr/>
          <p:nvPr/>
        </p:nvSpPr>
        <p:spPr>
          <a:xfrm>
            <a:off x="4618080" y="3647160"/>
            <a:ext cx="947520" cy="239760"/>
          </a:xfrm>
          <a:prstGeom prst="rect">
            <a:avLst/>
          </a:prstGeom>
          <a:noFill/>
          <a:ln w="0">
            <a:noFill/>
          </a:ln>
        </p:spPr>
        <p:style>
          <a:lnRef idx="0"/>
          <a:fillRef idx="0"/>
          <a:effectRef idx="0"/>
          <a:fontRef idx="minor"/>
        </p:style>
        <p:txBody>
          <a:bodyPr lIns="0" tIns="0" rIns="0" bIns="0" anchor="t">
            <a:normAutofit/>
          </a:bodyPr>
          <a:p>
            <a:pPr algn="ctr" defTabSz="914400">
              <a:lnSpc>
                <a:spcPts val="1621"/>
              </a:lnSpc>
              <a:tabLst>
                <a:tab pos="0" algn="l"/>
              </a:tabLst>
            </a:pPr>
            <a:r>
              <a:rPr lang="en-US" sz="1400" b="1" u="none" strike="noStrike">
                <a:solidFill>
                  <a:schemeClr val="accent4">
                    <a:lumMod val="60000"/>
                    <a:lumOff val="40000"/>
                  </a:schemeClr>
                </a:solidFill>
                <a:effectLst/>
                <a:uFillTx/>
                <a:latin typeface="DM Sans"/>
                <a:ea typeface="DejaVu Sans"/>
              </a:rPr>
              <a:t>Transform</a:t>
            </a:r>
            <a:endParaRPr lang="en-GB" sz="1400" b="0" u="none" strike="noStrike">
              <a:solidFill>
                <a:srgbClr val="000000"/>
              </a:solidFill>
              <a:effectLst/>
              <a:uFillTx/>
              <a:latin typeface="Arial"/>
            </a:endParaRPr>
          </a:p>
        </p:txBody>
      </p:sp>
      <p:pic>
        <p:nvPicPr>
          <p:cNvPr id="113" name="Picture 70"/>
          <p:cNvPicPr/>
          <p:nvPr/>
        </p:nvPicPr>
        <p:blipFill>
          <a:blip r:embed="rId15"/>
          <a:stretch/>
        </p:blipFill>
        <p:spPr>
          <a:xfrm>
            <a:off x="3741120" y="4784400"/>
            <a:ext cx="1558080" cy="459000"/>
          </a:xfrm>
          <a:prstGeom prst="rect">
            <a:avLst/>
          </a:prstGeom>
          <a:noFill/>
          <a:ln w="0">
            <a:noFill/>
          </a:ln>
        </p:spPr>
      </p:pic>
      <p:pic>
        <p:nvPicPr>
          <p:cNvPr id="114" name="Picture 74"/>
          <p:cNvPicPr/>
          <p:nvPr/>
        </p:nvPicPr>
        <p:blipFill>
          <a:blip r:embed="rId16"/>
          <a:stretch/>
        </p:blipFill>
        <p:spPr>
          <a:xfrm>
            <a:off x="5425560" y="4803480"/>
            <a:ext cx="712440" cy="414000"/>
          </a:xfrm>
          <a:prstGeom prst="rect">
            <a:avLst/>
          </a:prstGeom>
          <a:noFill/>
          <a:ln w="0">
            <a:noFill/>
          </a:ln>
        </p:spPr>
      </p:pic>
      <p:pic>
        <p:nvPicPr>
          <p:cNvPr id="115" name="Picture 76"/>
          <p:cNvPicPr/>
          <p:nvPr/>
        </p:nvPicPr>
        <p:blipFill>
          <a:blip r:embed="rId17"/>
          <a:stretch/>
        </p:blipFill>
        <p:spPr>
          <a:xfrm>
            <a:off x="6248160" y="4854240"/>
            <a:ext cx="712440" cy="31032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116" name="Text 0"/>
          <p:cNvSpPr/>
          <p:nvPr/>
        </p:nvSpPr>
        <p:spPr>
          <a:xfrm>
            <a:off x="812880" y="812880"/>
            <a:ext cx="10882800" cy="27360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pc="198" strike="noStrike">
                <a:solidFill>
                  <a:srgbClr val="0E7C7B"/>
                </a:solidFill>
                <a:effectLst/>
                <a:uFillTx/>
                <a:latin typeface="DM Sans"/>
                <a:ea typeface="DM Sans"/>
              </a:rPr>
              <a:t>SCHEMA DESIGN</a:t>
            </a:r>
            <a:endParaRPr lang="en-GB" sz="1400" b="0" u="none" strike="noStrike">
              <a:solidFill>
                <a:srgbClr val="000000"/>
              </a:solidFill>
              <a:effectLst/>
              <a:uFillTx/>
              <a:latin typeface="Arial"/>
            </a:endParaRPr>
          </a:p>
        </p:txBody>
      </p:sp>
      <p:sp>
        <p:nvSpPr>
          <p:cNvPr id="117" name="PlaceHolder 1"/>
          <p:cNvSpPr>
            <a:spLocks noGrp="1"/>
          </p:cNvSpPr>
          <p:nvPr>
            <p:ph type="title"/>
          </p:nvPr>
        </p:nvSpPr>
        <p:spPr>
          <a:xfrm>
            <a:off x="812880" y="1188720"/>
            <a:ext cx="10882800" cy="527400"/>
          </a:xfrm>
          <a:prstGeom prst="rect">
            <a:avLst/>
          </a:prstGeom>
          <a:noFill/>
          <a:ln w="0">
            <a:noFill/>
          </a:ln>
        </p:spPr>
        <p:txBody>
          <a:bodyPr lIns="0" tIns="0" rIns="0" bIns="0" anchor="t">
            <a:normAutofit/>
          </a:bodyPr>
          <a:p>
            <a:pPr indent="0" algn="l" defTabSz="914400">
              <a:lnSpc>
                <a:spcPts val="3960"/>
              </a:lnSpc>
              <a:buNone/>
              <a:tabLst>
                <a:tab pos="0" algn="l"/>
              </a:tabLst>
            </a:pPr>
            <a:r>
              <a:rPr lang="en-US" sz="3600" b="1" u="none" strike="noStrike">
                <a:solidFill>
                  <a:schemeClr val="dk1"/>
                </a:solidFill>
                <a:effectLst/>
                <a:uFillTx/>
                <a:latin typeface="DM Sans"/>
                <a:ea typeface="DM Sans"/>
              </a:rPr>
              <a:t>A star schema keeps queries simple</a:t>
            </a:r>
            <a:endParaRPr lang="en-US" sz="3600" b="0" u="none" strike="noStrike">
              <a:solidFill>
                <a:schemeClr val="dk1"/>
              </a:solidFill>
              <a:effectLst/>
              <a:uFillTx/>
              <a:latin typeface="Arial"/>
            </a:endParaRPr>
          </a:p>
        </p:txBody>
      </p:sp>
      <p:sp>
        <p:nvSpPr>
          <p:cNvPr id="118" name="Shape 2"/>
          <p:cNvSpPr/>
          <p:nvPr/>
        </p:nvSpPr>
        <p:spPr>
          <a:xfrm>
            <a:off x="816120" y="1999440"/>
            <a:ext cx="3078720" cy="1925640"/>
          </a:xfrm>
          <a:prstGeom prst="roundRect">
            <a:avLst>
              <a:gd name="adj" fmla="val 5826"/>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119" name="Text 3"/>
          <p:cNvSpPr/>
          <p:nvPr/>
        </p:nvSpPr>
        <p:spPr>
          <a:xfrm>
            <a:off x="1021680" y="2205360"/>
            <a:ext cx="274716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0E7C7B"/>
                </a:solidFill>
                <a:effectLst/>
                <a:uFillTx/>
                <a:latin typeface="DM Sans"/>
                <a:ea typeface="DM Sans"/>
              </a:rPr>
              <a:t>Dimension</a:t>
            </a:r>
            <a:endParaRPr lang="en-GB" sz="1200" b="0" u="none" strike="noStrike">
              <a:solidFill>
                <a:srgbClr val="000000"/>
              </a:solidFill>
              <a:effectLst/>
              <a:uFillTx/>
              <a:latin typeface="Arial"/>
            </a:endParaRPr>
          </a:p>
        </p:txBody>
      </p:sp>
      <p:sp>
        <p:nvSpPr>
          <p:cNvPr id="120" name="Text 4"/>
          <p:cNvSpPr/>
          <p:nvPr/>
        </p:nvSpPr>
        <p:spPr>
          <a:xfrm>
            <a:off x="1021680" y="2494800"/>
            <a:ext cx="2747160" cy="26856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4232E"/>
                </a:solidFill>
                <a:effectLst/>
                <a:uFillTx/>
                <a:latin typeface="DM Sans"/>
                <a:ea typeface="DM Sans"/>
              </a:rPr>
              <a:t>dim_ev_charger</a:t>
            </a:r>
            <a:endParaRPr lang="en-GB" sz="1600" b="0" u="none" strike="noStrike">
              <a:solidFill>
                <a:srgbClr val="000000"/>
              </a:solidFill>
              <a:effectLst/>
              <a:uFillTx/>
              <a:latin typeface="Arial"/>
            </a:endParaRPr>
          </a:p>
        </p:txBody>
      </p:sp>
      <p:sp>
        <p:nvSpPr>
          <p:cNvPr id="121" name="Text 5"/>
          <p:cNvSpPr/>
          <p:nvPr/>
        </p:nvSpPr>
        <p:spPr>
          <a:xfrm>
            <a:off x="1021680" y="2814840"/>
            <a:ext cx="2747160" cy="693360"/>
          </a:xfrm>
          <a:prstGeom prst="rect">
            <a:avLst/>
          </a:prstGeom>
          <a:noFill/>
          <a:ln w="0">
            <a:noFill/>
          </a:ln>
        </p:spPr>
        <p:style>
          <a:lnRef idx="0"/>
          <a:fillRef idx="0"/>
          <a:effectRef idx="0"/>
          <a:fontRef idx="minor"/>
        </p:style>
        <p:txBody>
          <a:bodyPr lIns="0" tIns="0" rIns="0" bIns="0" anchor="t">
            <a:normAutofit/>
          </a:bodyPr>
          <a:p>
            <a:pPr defTabSz="914400">
              <a:lnSpc>
                <a:spcPts val="1755"/>
              </a:lnSpc>
              <a:tabLst>
                <a:tab pos="0" algn="l"/>
              </a:tabLst>
            </a:pPr>
            <a:r>
              <a:rPr lang="en-US" sz="1300" b="0" u="none" strike="noStrike">
                <a:solidFill>
                  <a:srgbClr val="4F5B66"/>
                </a:solidFill>
                <a:effectLst/>
                <a:uFillTx/>
                <a:latin typeface="DM Sans"/>
                <a:ea typeface="DM Sans"/>
              </a:rPr>
              <a:t>One row per charging point: operator, location, plug and power. 11,684 rows.</a:t>
            </a:r>
            <a:endParaRPr lang="en-GB" sz="1300" b="0" u="none" strike="noStrike">
              <a:solidFill>
                <a:srgbClr val="000000"/>
              </a:solidFill>
              <a:effectLst/>
              <a:uFillTx/>
              <a:latin typeface="Arial"/>
            </a:endParaRPr>
          </a:p>
        </p:txBody>
      </p:sp>
      <p:pic>
        <p:nvPicPr>
          <p:cNvPr id="122" name="Image 0" descr="arrow-left"/>
          <p:cNvPicPr/>
          <p:nvPr/>
        </p:nvPicPr>
        <p:blipFill>
          <a:blip r:embed="rId1"/>
          <a:stretch/>
        </p:blipFill>
        <p:spPr>
          <a:xfrm>
            <a:off x="4050720" y="2742840"/>
            <a:ext cx="354960" cy="202320"/>
          </a:xfrm>
          <a:prstGeom prst="rect">
            <a:avLst/>
          </a:prstGeom>
          <a:noFill/>
          <a:ln w="0">
            <a:noFill/>
          </a:ln>
        </p:spPr>
      </p:pic>
      <p:sp>
        <p:nvSpPr>
          <p:cNvPr id="123" name="Shape 6"/>
          <p:cNvSpPr/>
          <p:nvPr/>
        </p:nvSpPr>
        <p:spPr>
          <a:xfrm>
            <a:off x="4558680" y="2001960"/>
            <a:ext cx="3073680" cy="1923120"/>
          </a:xfrm>
          <a:prstGeom prst="roundRect">
            <a:avLst>
              <a:gd name="adj" fmla="val 6031"/>
            </a:avLst>
          </a:prstGeom>
          <a:solidFill>
            <a:srgbClr val="14232E"/>
          </a:solidFill>
          <a:ln w="0">
            <a:noFill/>
          </a:ln>
        </p:spPr>
        <p:style>
          <a:lnRef idx="0"/>
          <a:fillRef idx="0"/>
          <a:effectRef idx="0"/>
          <a:fontRef idx="minor"/>
        </p:style>
        <p:txBody>
          <a:bodyPr lIns="90000" tIns="45000" rIns="90000" bIns="45000" anchor="t">
            <a:noAutofit/>
          </a:bodyPr>
          <a:p>
            <a:pPr/>
            <a:endParaRPr lang="en-GB" sz="1800" b="0" u="none" strike="noStrike">
              <a:solidFill>
                <a:srgbClr val="FFFFFF"/>
              </a:solidFill>
              <a:effectLst/>
              <a:uFillTx/>
              <a:latin typeface="Arial"/>
            </a:endParaRPr>
          </a:p>
        </p:txBody>
      </p:sp>
      <p:sp>
        <p:nvSpPr>
          <p:cNvPr id="124" name="Text 7"/>
          <p:cNvSpPr/>
          <p:nvPr/>
        </p:nvSpPr>
        <p:spPr>
          <a:xfrm>
            <a:off x="4762080" y="2205360"/>
            <a:ext cx="274716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5CC8C4"/>
                </a:solidFill>
                <a:effectLst/>
                <a:uFillTx/>
                <a:latin typeface="DM Sans"/>
                <a:ea typeface="DM Sans"/>
              </a:rPr>
              <a:t>Fact</a:t>
            </a:r>
            <a:endParaRPr lang="en-GB" sz="1200" b="0" u="none" strike="noStrike">
              <a:solidFill>
                <a:srgbClr val="000000"/>
              </a:solidFill>
              <a:effectLst/>
              <a:uFillTx/>
              <a:latin typeface="Arial"/>
            </a:endParaRPr>
          </a:p>
        </p:txBody>
      </p:sp>
      <p:sp>
        <p:nvSpPr>
          <p:cNvPr id="125" name="Text 8"/>
          <p:cNvSpPr/>
          <p:nvPr/>
        </p:nvSpPr>
        <p:spPr>
          <a:xfrm>
            <a:off x="4762080" y="2494800"/>
            <a:ext cx="2747160" cy="26856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F6F5F0"/>
                </a:solidFill>
                <a:effectLst/>
                <a:uFillTx/>
                <a:latin typeface="DM Sans"/>
                <a:ea typeface="DM Sans"/>
              </a:rPr>
              <a:t>fct_ev_charging_points</a:t>
            </a:r>
            <a:endParaRPr lang="en-GB" sz="1600" b="0" u="none" strike="noStrike">
              <a:solidFill>
                <a:srgbClr val="000000"/>
              </a:solidFill>
              <a:effectLst/>
              <a:uFillTx/>
              <a:latin typeface="Arial"/>
            </a:endParaRPr>
          </a:p>
        </p:txBody>
      </p:sp>
      <p:sp>
        <p:nvSpPr>
          <p:cNvPr id="126" name="Text 9"/>
          <p:cNvSpPr/>
          <p:nvPr/>
        </p:nvSpPr>
        <p:spPr>
          <a:xfrm>
            <a:off x="4762080" y="2814840"/>
            <a:ext cx="2747160" cy="693360"/>
          </a:xfrm>
          <a:prstGeom prst="rect">
            <a:avLst/>
          </a:prstGeom>
          <a:noFill/>
          <a:ln w="0">
            <a:noFill/>
          </a:ln>
        </p:spPr>
        <p:style>
          <a:lnRef idx="0"/>
          <a:fillRef idx="0"/>
          <a:effectRef idx="0"/>
          <a:fontRef idx="minor"/>
        </p:style>
        <p:txBody>
          <a:bodyPr lIns="0" tIns="0" rIns="0" bIns="0" anchor="t">
            <a:normAutofit/>
          </a:bodyPr>
          <a:p>
            <a:pPr defTabSz="914400">
              <a:lnSpc>
                <a:spcPts val="1755"/>
              </a:lnSpc>
              <a:tabLst>
                <a:tab pos="0" algn="l"/>
              </a:tabLst>
            </a:pPr>
            <a:r>
              <a:rPr lang="en-US" sz="1300" b="0" u="none" strike="noStrike">
                <a:solidFill>
                  <a:srgbClr val="B9C4CC"/>
                </a:solidFill>
                <a:effectLst/>
                <a:uFillTx/>
                <a:latin typeface="DM Sans"/>
                <a:ea typeface="DM Sans"/>
              </a:rPr>
              <a:t>Status, price and timestamps per point for the latest load, joined on ev_cp_id.</a:t>
            </a:r>
            <a:endParaRPr lang="en-GB" sz="1300" b="0" u="none" strike="noStrike">
              <a:solidFill>
                <a:srgbClr val="000000"/>
              </a:solidFill>
              <a:effectLst/>
              <a:uFillTx/>
              <a:latin typeface="Arial"/>
            </a:endParaRPr>
          </a:p>
        </p:txBody>
      </p:sp>
      <p:pic>
        <p:nvPicPr>
          <p:cNvPr id="127" name="Image 1" descr="arrow-right"/>
          <p:cNvPicPr/>
          <p:nvPr/>
        </p:nvPicPr>
        <p:blipFill>
          <a:blip r:embed="rId2"/>
          <a:stretch/>
        </p:blipFill>
        <p:spPr>
          <a:xfrm>
            <a:off x="7785720" y="2742840"/>
            <a:ext cx="354960" cy="202320"/>
          </a:xfrm>
          <a:prstGeom prst="rect">
            <a:avLst/>
          </a:prstGeom>
          <a:noFill/>
          <a:ln w="0">
            <a:noFill/>
          </a:ln>
        </p:spPr>
      </p:pic>
      <p:sp>
        <p:nvSpPr>
          <p:cNvPr id="128" name="Shape 10"/>
          <p:cNvSpPr/>
          <p:nvPr/>
        </p:nvSpPr>
        <p:spPr>
          <a:xfrm>
            <a:off x="8296920" y="1999440"/>
            <a:ext cx="3078720" cy="1925640"/>
          </a:xfrm>
          <a:prstGeom prst="roundRect">
            <a:avLst>
              <a:gd name="adj" fmla="val 6711"/>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129" name="Text 11"/>
          <p:cNvSpPr/>
          <p:nvPr/>
        </p:nvSpPr>
        <p:spPr>
          <a:xfrm>
            <a:off x="8502480" y="2230920"/>
            <a:ext cx="274716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0E7C7B"/>
                </a:solidFill>
                <a:effectLst/>
                <a:uFillTx/>
                <a:latin typeface="DM Sans"/>
                <a:ea typeface="DM Sans"/>
              </a:rPr>
              <a:t>Summaries</a:t>
            </a:r>
            <a:endParaRPr lang="en-GB" sz="1200" b="0" u="none" strike="noStrike">
              <a:solidFill>
                <a:srgbClr val="000000"/>
              </a:solidFill>
              <a:effectLst/>
              <a:uFillTx/>
              <a:latin typeface="Arial"/>
            </a:endParaRPr>
          </a:p>
        </p:txBody>
      </p:sp>
      <p:sp>
        <p:nvSpPr>
          <p:cNvPr id="130" name="Text 12"/>
          <p:cNvSpPr/>
          <p:nvPr/>
        </p:nvSpPr>
        <p:spPr>
          <a:xfrm>
            <a:off x="8502480" y="2515320"/>
            <a:ext cx="2747160" cy="26856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4232E"/>
                </a:solidFill>
                <a:effectLst/>
                <a:uFillTx/>
                <a:latin typeface="DM Sans"/>
                <a:ea typeface="DM Sans"/>
              </a:rPr>
              <a:t>3 report tables</a:t>
            </a:r>
            <a:endParaRPr lang="en-GB" sz="1600" b="0" u="none" strike="noStrike">
              <a:solidFill>
                <a:srgbClr val="000000"/>
              </a:solidFill>
              <a:effectLst/>
              <a:uFillTx/>
              <a:latin typeface="Arial"/>
            </a:endParaRPr>
          </a:p>
        </p:txBody>
      </p:sp>
      <p:sp>
        <p:nvSpPr>
          <p:cNvPr id="131" name="Text 13"/>
          <p:cNvSpPr/>
          <p:nvPr/>
        </p:nvSpPr>
        <p:spPr>
          <a:xfrm>
            <a:off x="8435880" y="2837160"/>
            <a:ext cx="3193200" cy="1204560"/>
          </a:xfrm>
          <a:prstGeom prst="rect">
            <a:avLst/>
          </a:prstGeom>
          <a:noFill/>
          <a:ln w="0">
            <a:noFill/>
          </a:ln>
        </p:spPr>
        <p:style>
          <a:lnRef idx="0"/>
          <a:fillRef idx="0"/>
          <a:effectRef idx="0"/>
          <a:fontRef idx="minor"/>
        </p:style>
        <p:txBody>
          <a:bodyPr lIns="0" tIns="0" rIns="0" bIns="0" anchor="t">
            <a:normAutofit/>
          </a:bodyPr>
          <a:p>
            <a:pPr defTabSz="914400">
              <a:lnSpc>
                <a:spcPts val="1755"/>
              </a:lnSpc>
              <a:tabLst>
                <a:tab pos="0" algn="l"/>
              </a:tabLst>
            </a:pPr>
            <a:r>
              <a:rPr lang="en-US" sz="1300" b="0" u="none" strike="noStrike">
                <a:solidFill>
                  <a:srgbClr val="4F5B66"/>
                </a:solidFill>
                <a:effectLst/>
                <a:uFillTx/>
                <a:latin typeface="DM Sans"/>
                <a:ea typeface="DM Sans"/>
              </a:rPr>
              <a:t>- By region (ev_charging_summary)</a:t>
            </a:r>
            <a:endParaRPr lang="en-GB" sz="1300" b="0" u="none" strike="noStrike">
              <a:solidFill>
                <a:srgbClr val="000000"/>
              </a:solidFill>
              <a:effectLst/>
              <a:uFillTx/>
              <a:latin typeface="Arial"/>
            </a:endParaRPr>
          </a:p>
          <a:p>
            <a:pPr defTabSz="914400">
              <a:lnSpc>
                <a:spcPts val="1755"/>
              </a:lnSpc>
              <a:tabLst>
                <a:tab pos="0" algn="l"/>
              </a:tabLst>
            </a:pPr>
            <a:r>
              <a:rPr lang="en-US" sz="1300" b="0" u="none" strike="noStrike">
                <a:solidFill>
                  <a:srgbClr val="4F5B66"/>
                </a:solidFill>
                <a:effectLst/>
                <a:uFillTx/>
                <a:latin typeface="DM Sans"/>
                <a:ea typeface="DM Sans"/>
              </a:rPr>
              <a:t>- By operator (ev_operator_pricing)</a:t>
            </a:r>
            <a:endParaRPr lang="en-GB" sz="1300" b="0" u="none" strike="noStrike">
              <a:solidFill>
                <a:srgbClr val="000000"/>
              </a:solidFill>
              <a:effectLst/>
              <a:uFillTx/>
              <a:latin typeface="Arial"/>
            </a:endParaRPr>
          </a:p>
          <a:p>
            <a:pPr defTabSz="914400">
              <a:lnSpc>
                <a:spcPts val="1755"/>
              </a:lnSpc>
              <a:tabLst>
                <a:tab pos="0" algn="l"/>
              </a:tabLst>
            </a:pPr>
            <a:r>
              <a:rPr lang="en-US" sz="1300" b="0" u="none" strike="noStrike">
                <a:solidFill>
                  <a:srgbClr val="4F5B66"/>
                </a:solidFill>
                <a:effectLst/>
                <a:uFillTx/>
                <a:latin typeface="DM Sans"/>
                <a:ea typeface="DM Sans"/>
              </a:rPr>
              <a:t>- By operator and region (ev_operator_by_region_analysis)</a:t>
            </a:r>
            <a:endParaRPr lang="en-GB" sz="1300" b="0" u="none" strike="noStrike">
              <a:solidFill>
                <a:srgbClr val="000000"/>
              </a:solidFill>
              <a:effectLst/>
              <a:uFillTx/>
              <a:latin typeface="Arial"/>
            </a:endParaRPr>
          </a:p>
        </p:txBody>
      </p:sp>
      <p:sp>
        <p:nvSpPr>
          <p:cNvPr id="132" name="Text 14"/>
          <p:cNvSpPr/>
          <p:nvPr/>
        </p:nvSpPr>
        <p:spPr>
          <a:xfrm>
            <a:off x="816120" y="4555800"/>
            <a:ext cx="10136880" cy="558000"/>
          </a:xfrm>
          <a:prstGeom prst="rect">
            <a:avLst/>
          </a:prstGeom>
          <a:noFill/>
          <a:ln w="0">
            <a:noFill/>
          </a:ln>
        </p:spPr>
        <p:style>
          <a:lnRef idx="0"/>
          <a:fillRef idx="0"/>
          <a:effectRef idx="0"/>
          <a:fontRef idx="minor"/>
        </p:style>
        <p:txBody>
          <a:bodyPr lIns="0" tIns="0" rIns="0" bIns="0" anchor="t">
            <a:normAutofit/>
          </a:bodyPr>
          <a:p>
            <a:pPr defTabSz="914400">
              <a:lnSpc>
                <a:spcPts val="2100"/>
              </a:lnSpc>
              <a:tabLst>
                <a:tab pos="0" algn="l"/>
              </a:tabLst>
            </a:pPr>
            <a:r>
              <a:rPr lang="en-US" sz="1500" b="0" u="none" strike="noStrike">
                <a:solidFill>
                  <a:srgbClr val="4F5B66"/>
                </a:solidFill>
                <a:effectLst/>
                <a:uFillTx/>
                <a:latin typeface="DM Sans"/>
                <a:ea typeface="DM Sans"/>
              </a:rPr>
              <a:t>Descriptive attributes sit once in the dimension and fast-changing status and price sit in the fact table, so analysts run small joins. Every load is also kept in a raw history table (92,880 rows) for trend analysis.</a:t>
            </a:r>
            <a:endParaRPr lang="en-GB" sz="1500" b="0" u="none" strike="noStrike">
              <a:solidFill>
                <a:srgbClr val="000000"/>
              </a:solidFill>
              <a:effectLst/>
              <a:uFillTx/>
              <a:latin typeface="Arial"/>
            </a:endParaRPr>
          </a:p>
        </p:txBody>
      </p:sp>
      <p:sp>
        <p:nvSpPr>
          <p:cNvPr id="133" name="Text 15"/>
          <p:cNvSpPr/>
          <p:nvPr/>
        </p:nvSpPr>
        <p:spPr>
          <a:xfrm>
            <a:off x="812880" y="6238440"/>
            <a:ext cx="22028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F5B66"/>
                </a:solidFill>
                <a:effectLst/>
                <a:uFillTx/>
                <a:latin typeface="DM Sans"/>
                <a:ea typeface="DM Sans"/>
              </a:rPr>
              <a:t>EV charging data platform</a:t>
            </a:r>
            <a:endParaRPr lang="en-GB" sz="1200" b="0" u="none" strike="noStrike">
              <a:solidFill>
                <a:srgbClr val="000000"/>
              </a:solidFill>
              <a:effectLst/>
              <a:uFillTx/>
              <a:latin typeface="Arial"/>
            </a:endParaRPr>
          </a:p>
        </p:txBody>
      </p:sp>
      <p:sp>
        <p:nvSpPr>
          <p:cNvPr id="134" name="Text 16"/>
          <p:cNvSpPr/>
          <p:nvPr/>
        </p:nvSpPr>
        <p:spPr>
          <a:xfrm>
            <a:off x="11286360" y="6238440"/>
            <a:ext cx="1429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F5B66"/>
                </a:solidFill>
                <a:effectLst/>
                <a:uFillTx/>
                <a:latin typeface="DM Sans"/>
                <a:ea typeface="DM Sans"/>
              </a:rPr>
              <a:t>8</a:t>
            </a:r>
            <a:endParaRPr lang="en-GB"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135" name="Text 0"/>
          <p:cNvSpPr/>
          <p:nvPr/>
        </p:nvSpPr>
        <p:spPr>
          <a:xfrm>
            <a:off x="812880" y="812880"/>
            <a:ext cx="10882800" cy="27360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pc="198" strike="noStrike">
                <a:solidFill>
                  <a:srgbClr val="0E7C7B"/>
                </a:solidFill>
                <a:effectLst/>
                <a:uFillTx/>
                <a:latin typeface="DM Sans"/>
                <a:ea typeface="DM Sans"/>
              </a:rPr>
              <a:t>DATA QUALITY</a:t>
            </a:r>
            <a:endParaRPr lang="en-GB" sz="1400" b="0" u="none" strike="noStrike">
              <a:solidFill>
                <a:srgbClr val="000000"/>
              </a:solidFill>
              <a:effectLst/>
              <a:uFillTx/>
              <a:latin typeface="Arial"/>
            </a:endParaRPr>
          </a:p>
        </p:txBody>
      </p:sp>
      <p:sp>
        <p:nvSpPr>
          <p:cNvPr id="136" name="PlaceHolder 1"/>
          <p:cNvSpPr>
            <a:spLocks noGrp="1"/>
          </p:cNvSpPr>
          <p:nvPr>
            <p:ph type="title"/>
          </p:nvPr>
        </p:nvSpPr>
        <p:spPr>
          <a:xfrm>
            <a:off x="812880" y="1188720"/>
            <a:ext cx="10882800" cy="527400"/>
          </a:xfrm>
          <a:prstGeom prst="rect">
            <a:avLst/>
          </a:prstGeom>
          <a:noFill/>
          <a:ln w="0">
            <a:noFill/>
          </a:ln>
        </p:spPr>
        <p:txBody>
          <a:bodyPr lIns="0" tIns="0" rIns="0" bIns="0" anchor="t">
            <a:normAutofit/>
          </a:bodyPr>
          <a:p>
            <a:pPr indent="0" algn="l" defTabSz="914400">
              <a:lnSpc>
                <a:spcPts val="3960"/>
              </a:lnSpc>
              <a:buNone/>
              <a:tabLst>
                <a:tab pos="0" algn="l"/>
              </a:tabLst>
            </a:pPr>
            <a:r>
              <a:rPr lang="en-US" sz="3600" b="1" u="none" strike="noStrike">
                <a:solidFill>
                  <a:schemeClr val="dk1"/>
                </a:solidFill>
                <a:effectLst/>
                <a:uFillTx/>
                <a:latin typeface="DM Sans"/>
                <a:ea typeface="DM Sans"/>
              </a:rPr>
              <a:t>Every layer is tested before anyone uses it</a:t>
            </a:r>
            <a:endParaRPr lang="en-US" sz="3600" b="0" u="none" strike="noStrike">
              <a:solidFill>
                <a:schemeClr val="dk1"/>
              </a:solidFill>
              <a:effectLst/>
              <a:uFillTx/>
              <a:latin typeface="Arial"/>
            </a:endParaRPr>
          </a:p>
        </p:txBody>
      </p:sp>
      <p:sp>
        <p:nvSpPr>
          <p:cNvPr id="137" name="Shape 2"/>
          <p:cNvSpPr/>
          <p:nvPr/>
        </p:nvSpPr>
        <p:spPr>
          <a:xfrm>
            <a:off x="812880" y="1945440"/>
            <a:ext cx="3301200" cy="2389320"/>
          </a:xfrm>
          <a:prstGeom prst="roundRect">
            <a:avLst>
              <a:gd name="adj" fmla="val 4251"/>
            </a:avLst>
          </a:prstGeom>
          <a:solidFill>
            <a:srgbClr val="14232E"/>
          </a:solidFill>
          <a:ln w="0">
            <a:noFill/>
          </a:ln>
        </p:spPr>
        <p:style>
          <a:lnRef idx="0"/>
          <a:fillRef idx="0"/>
          <a:effectRef idx="0"/>
          <a:fontRef idx="minor"/>
        </p:style>
        <p:txBody>
          <a:bodyPr lIns="90000" tIns="45000" rIns="90000" bIns="45000" anchor="t">
            <a:noAutofit/>
          </a:bodyPr>
          <a:p>
            <a:pPr/>
            <a:endParaRPr lang="en-GB" sz="1800" b="0" u="none" strike="noStrike">
              <a:solidFill>
                <a:srgbClr val="FFFFFF"/>
              </a:solidFill>
              <a:effectLst/>
              <a:uFillTx/>
              <a:latin typeface="Arial"/>
            </a:endParaRPr>
          </a:p>
        </p:txBody>
      </p:sp>
      <p:sp>
        <p:nvSpPr>
          <p:cNvPr id="138" name="Text 3"/>
          <p:cNvSpPr/>
          <p:nvPr/>
        </p:nvSpPr>
        <p:spPr>
          <a:xfrm>
            <a:off x="1168560" y="2199600"/>
            <a:ext cx="2667960" cy="1294560"/>
          </a:xfrm>
          <a:prstGeom prst="rect">
            <a:avLst/>
          </a:prstGeom>
          <a:noFill/>
          <a:ln w="0">
            <a:noFill/>
          </a:ln>
        </p:spPr>
        <p:style>
          <a:lnRef idx="0"/>
          <a:fillRef idx="0"/>
          <a:effectRef idx="0"/>
          <a:fontRef idx="minor"/>
        </p:style>
        <p:txBody>
          <a:bodyPr lIns="0" tIns="0" rIns="0" bIns="0" anchor="t">
            <a:normAutofit/>
          </a:bodyPr>
          <a:p>
            <a:pPr defTabSz="914400">
              <a:lnSpc>
                <a:spcPts val="10001"/>
              </a:lnSpc>
              <a:tabLst>
                <a:tab pos="0" algn="l"/>
              </a:tabLst>
            </a:pPr>
            <a:r>
              <a:rPr lang="en-US" sz="10000" b="1" u="none" strike="noStrike">
                <a:solidFill>
                  <a:srgbClr val="5CC8C4"/>
                </a:solidFill>
                <a:effectLst/>
                <a:uFillTx/>
                <a:latin typeface="DM Sans"/>
                <a:ea typeface="DM Sans"/>
              </a:rPr>
              <a:t>58</a:t>
            </a:r>
            <a:endParaRPr lang="en-GB" sz="10000" b="0" u="none" strike="noStrike">
              <a:solidFill>
                <a:srgbClr val="000000"/>
              </a:solidFill>
              <a:effectLst/>
              <a:uFillTx/>
              <a:latin typeface="Arial"/>
            </a:endParaRPr>
          </a:p>
        </p:txBody>
      </p:sp>
      <p:sp>
        <p:nvSpPr>
          <p:cNvPr id="139" name="Text 4"/>
          <p:cNvSpPr/>
          <p:nvPr/>
        </p:nvSpPr>
        <p:spPr>
          <a:xfrm>
            <a:off x="1168560" y="3520440"/>
            <a:ext cx="2667960" cy="586080"/>
          </a:xfrm>
          <a:prstGeom prst="rect">
            <a:avLst/>
          </a:prstGeom>
          <a:noFill/>
          <a:ln w="0">
            <a:noFill/>
          </a:ln>
        </p:spPr>
        <p:style>
          <a:lnRef idx="0"/>
          <a:fillRef idx="0"/>
          <a:effectRef idx="0"/>
          <a:fontRef idx="minor"/>
        </p:style>
        <p:txBody>
          <a:bodyPr lIns="0" tIns="0" rIns="0" bIns="0" anchor="t">
            <a:normAutofit/>
          </a:bodyPr>
          <a:p>
            <a:pPr defTabSz="914400">
              <a:lnSpc>
                <a:spcPts val="2211"/>
              </a:lnSpc>
              <a:tabLst>
                <a:tab pos="0" algn="l"/>
              </a:tabLst>
            </a:pPr>
            <a:r>
              <a:rPr lang="en-US" sz="1700" b="0" u="none" strike="noStrike">
                <a:solidFill>
                  <a:srgbClr val="B9C4CC"/>
                </a:solidFill>
                <a:effectLst/>
                <a:uFillTx/>
                <a:latin typeface="DM Sans"/>
                <a:ea typeface="DM Sans"/>
              </a:rPr>
              <a:t>automated checks on 9 tables</a:t>
            </a:r>
            <a:endParaRPr lang="en-GB" sz="1700" b="0" u="none" strike="noStrike">
              <a:solidFill>
                <a:srgbClr val="000000"/>
              </a:solidFill>
              <a:effectLst/>
              <a:uFillTx/>
              <a:latin typeface="Arial"/>
            </a:endParaRPr>
          </a:p>
        </p:txBody>
      </p:sp>
      <p:sp>
        <p:nvSpPr>
          <p:cNvPr id="140" name="Shape 5"/>
          <p:cNvSpPr/>
          <p:nvPr/>
        </p:nvSpPr>
        <p:spPr>
          <a:xfrm>
            <a:off x="4371840" y="2003040"/>
            <a:ext cx="7003440" cy="639360"/>
          </a:xfrm>
          <a:prstGeom prst="roundRect">
            <a:avLst>
              <a:gd name="adj" fmla="val 13396"/>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141" name="Text 6"/>
          <p:cNvSpPr/>
          <p:nvPr/>
        </p:nvSpPr>
        <p:spPr>
          <a:xfrm>
            <a:off x="4564800" y="2145240"/>
            <a:ext cx="354960" cy="380160"/>
          </a:xfrm>
          <a:prstGeom prst="rect">
            <a:avLst/>
          </a:prstGeom>
          <a:noFill/>
          <a:ln w="0">
            <a:noFill/>
          </a:ln>
        </p:spPr>
        <p:style>
          <a:lnRef idx="0"/>
          <a:fillRef idx="0"/>
          <a:effectRef idx="0"/>
          <a:fontRef idx="minor"/>
        </p:style>
        <p:txBody>
          <a:bodyPr lIns="0" tIns="0" rIns="0" bIns="0" anchor="t">
            <a:normAutofit/>
          </a:bodyPr>
          <a:p>
            <a:pPr defTabSz="914400">
              <a:lnSpc>
                <a:spcPts val="2801"/>
              </a:lnSpc>
              <a:tabLst>
                <a:tab pos="0" algn="l"/>
              </a:tabLst>
            </a:pPr>
            <a:r>
              <a:rPr lang="en-US" sz="2000" b="1" u="none" strike="noStrike">
                <a:solidFill>
                  <a:srgbClr val="0E7C7B"/>
                </a:solidFill>
                <a:effectLst/>
                <a:uFillTx/>
                <a:latin typeface="DM Sans"/>
                <a:ea typeface="DM Sans"/>
              </a:rPr>
              <a:t>✓</a:t>
            </a:r>
            <a:endParaRPr lang="en-GB" sz="2000" b="0" u="none" strike="noStrike">
              <a:solidFill>
                <a:srgbClr val="000000"/>
              </a:solidFill>
              <a:effectLst/>
              <a:uFillTx/>
              <a:latin typeface="Arial"/>
            </a:endParaRPr>
          </a:p>
        </p:txBody>
      </p:sp>
      <p:sp>
        <p:nvSpPr>
          <p:cNvPr id="142" name="Text 7"/>
          <p:cNvSpPr/>
          <p:nvPr/>
        </p:nvSpPr>
        <p:spPr>
          <a:xfrm>
            <a:off x="4996800" y="2198880"/>
            <a:ext cx="4687200" cy="272160"/>
          </a:xfrm>
          <a:prstGeom prst="rect">
            <a:avLst/>
          </a:prstGeom>
          <a:noFill/>
          <a:ln w="0">
            <a:noFill/>
          </a:ln>
        </p:spPr>
        <p:style>
          <a:lnRef idx="0"/>
          <a:fillRef idx="0"/>
          <a:effectRef idx="0"/>
          <a:fontRef idx="minor"/>
        </p:style>
        <p:txBody>
          <a:bodyPr lIns="0" tIns="0" rIns="0" bIns="0" anchor="t">
            <a:normAutofit/>
          </a:bodyPr>
          <a:p>
            <a:pPr defTabSz="914400">
              <a:lnSpc>
                <a:spcPts val="1950"/>
              </a:lnSpc>
              <a:tabLst>
                <a:tab pos="0" algn="l"/>
              </a:tabLst>
            </a:pPr>
            <a:r>
              <a:rPr lang="en-US" sz="1500" b="0" u="none" strike="noStrike">
                <a:solidFill>
                  <a:srgbClr val="14232E"/>
                </a:solidFill>
                <a:effectLst/>
                <a:uFillTx/>
                <a:latin typeface="DM Sans"/>
                <a:ea typeface="DM Sans"/>
              </a:rPr>
              <a:t>Keys are unique and no fact row is orphaned</a:t>
            </a:r>
            <a:endParaRPr lang="en-GB" sz="1500" b="0" u="none" strike="noStrike">
              <a:solidFill>
                <a:srgbClr val="000000"/>
              </a:solidFill>
              <a:effectLst/>
              <a:uFillTx/>
              <a:latin typeface="Arial"/>
            </a:endParaRPr>
          </a:p>
        </p:txBody>
      </p:sp>
      <p:sp>
        <p:nvSpPr>
          <p:cNvPr id="143" name="Shape 8"/>
          <p:cNvSpPr/>
          <p:nvPr/>
        </p:nvSpPr>
        <p:spPr>
          <a:xfrm>
            <a:off x="4371840" y="2750760"/>
            <a:ext cx="7003440" cy="639360"/>
          </a:xfrm>
          <a:prstGeom prst="roundRect">
            <a:avLst>
              <a:gd name="adj" fmla="val 13396"/>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144" name="Text 9"/>
          <p:cNvSpPr/>
          <p:nvPr/>
        </p:nvSpPr>
        <p:spPr>
          <a:xfrm>
            <a:off x="4564800" y="2892960"/>
            <a:ext cx="354960" cy="380160"/>
          </a:xfrm>
          <a:prstGeom prst="rect">
            <a:avLst/>
          </a:prstGeom>
          <a:noFill/>
          <a:ln w="0">
            <a:noFill/>
          </a:ln>
        </p:spPr>
        <p:style>
          <a:lnRef idx="0"/>
          <a:fillRef idx="0"/>
          <a:effectRef idx="0"/>
          <a:fontRef idx="minor"/>
        </p:style>
        <p:txBody>
          <a:bodyPr lIns="0" tIns="0" rIns="0" bIns="0" anchor="t">
            <a:normAutofit/>
          </a:bodyPr>
          <a:p>
            <a:pPr defTabSz="914400">
              <a:lnSpc>
                <a:spcPts val="2801"/>
              </a:lnSpc>
              <a:tabLst>
                <a:tab pos="0" algn="l"/>
              </a:tabLst>
            </a:pPr>
            <a:r>
              <a:rPr lang="en-US" sz="2000" b="1" u="none" strike="noStrike">
                <a:solidFill>
                  <a:srgbClr val="0E7C7B"/>
                </a:solidFill>
                <a:effectLst/>
                <a:uFillTx/>
                <a:latin typeface="DM Sans"/>
                <a:ea typeface="DM Sans"/>
              </a:rPr>
              <a:t>✓</a:t>
            </a:r>
            <a:endParaRPr lang="en-GB" sz="2000" b="0" u="none" strike="noStrike">
              <a:solidFill>
                <a:srgbClr val="000000"/>
              </a:solidFill>
              <a:effectLst/>
              <a:uFillTx/>
              <a:latin typeface="Arial"/>
            </a:endParaRPr>
          </a:p>
        </p:txBody>
      </p:sp>
      <p:sp>
        <p:nvSpPr>
          <p:cNvPr id="145" name="Text 10"/>
          <p:cNvSpPr/>
          <p:nvPr/>
        </p:nvSpPr>
        <p:spPr>
          <a:xfrm>
            <a:off x="4996800" y="2946960"/>
            <a:ext cx="3787920" cy="272160"/>
          </a:xfrm>
          <a:prstGeom prst="rect">
            <a:avLst/>
          </a:prstGeom>
          <a:noFill/>
          <a:ln w="0">
            <a:noFill/>
          </a:ln>
        </p:spPr>
        <p:style>
          <a:lnRef idx="0"/>
          <a:fillRef idx="0"/>
          <a:effectRef idx="0"/>
          <a:fontRef idx="minor"/>
        </p:style>
        <p:txBody>
          <a:bodyPr lIns="0" tIns="0" rIns="0" bIns="0" anchor="t">
            <a:normAutofit/>
          </a:bodyPr>
          <a:p>
            <a:pPr defTabSz="914400">
              <a:lnSpc>
                <a:spcPts val="1950"/>
              </a:lnSpc>
              <a:tabLst>
                <a:tab pos="0" algn="l"/>
              </a:tabLst>
            </a:pPr>
            <a:r>
              <a:rPr lang="en-US" sz="1500" b="0" u="none" strike="noStrike">
                <a:solidFill>
                  <a:srgbClr val="14232E"/>
                </a:solidFill>
                <a:effectLst/>
                <a:uFillTx/>
                <a:latin typeface="DM Sans"/>
                <a:ea typeface="DM Sans"/>
              </a:rPr>
              <a:t>Values, formats and ranges are valid</a:t>
            </a:r>
            <a:endParaRPr lang="en-GB" sz="1500" b="0" u="none" strike="noStrike">
              <a:solidFill>
                <a:srgbClr val="000000"/>
              </a:solidFill>
              <a:effectLst/>
              <a:uFillTx/>
              <a:latin typeface="Arial"/>
            </a:endParaRPr>
          </a:p>
        </p:txBody>
      </p:sp>
      <p:sp>
        <p:nvSpPr>
          <p:cNvPr id="146" name="Shape 11"/>
          <p:cNvSpPr/>
          <p:nvPr/>
        </p:nvSpPr>
        <p:spPr>
          <a:xfrm>
            <a:off x="4371840" y="3498840"/>
            <a:ext cx="7003440" cy="779040"/>
          </a:xfrm>
          <a:prstGeom prst="roundRect">
            <a:avLst>
              <a:gd name="adj" fmla="val 10995"/>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147" name="Text 12"/>
          <p:cNvSpPr/>
          <p:nvPr/>
        </p:nvSpPr>
        <p:spPr>
          <a:xfrm>
            <a:off x="4564800" y="3710520"/>
            <a:ext cx="354960" cy="380160"/>
          </a:xfrm>
          <a:prstGeom prst="rect">
            <a:avLst/>
          </a:prstGeom>
          <a:noFill/>
          <a:ln w="0">
            <a:noFill/>
          </a:ln>
        </p:spPr>
        <p:style>
          <a:lnRef idx="0"/>
          <a:fillRef idx="0"/>
          <a:effectRef idx="0"/>
          <a:fontRef idx="minor"/>
        </p:style>
        <p:txBody>
          <a:bodyPr lIns="0" tIns="0" rIns="0" bIns="0" anchor="t">
            <a:normAutofit/>
          </a:bodyPr>
          <a:p>
            <a:pPr defTabSz="914400">
              <a:lnSpc>
                <a:spcPts val="2801"/>
              </a:lnSpc>
              <a:tabLst>
                <a:tab pos="0" algn="l"/>
              </a:tabLst>
            </a:pPr>
            <a:r>
              <a:rPr lang="en-US" sz="2000" b="1" u="none" strike="noStrike">
                <a:solidFill>
                  <a:srgbClr val="0E7C7B"/>
                </a:solidFill>
                <a:effectLst/>
                <a:uFillTx/>
                <a:latin typeface="DM Sans"/>
                <a:ea typeface="DM Sans"/>
              </a:rPr>
              <a:t>✓</a:t>
            </a:r>
            <a:endParaRPr lang="en-GB" sz="2000" b="0" u="none" strike="noStrike">
              <a:solidFill>
                <a:srgbClr val="000000"/>
              </a:solidFill>
              <a:effectLst/>
              <a:uFillTx/>
              <a:latin typeface="Arial"/>
            </a:endParaRPr>
          </a:p>
        </p:txBody>
      </p:sp>
      <p:sp>
        <p:nvSpPr>
          <p:cNvPr id="148" name="Text 13"/>
          <p:cNvSpPr/>
          <p:nvPr/>
        </p:nvSpPr>
        <p:spPr>
          <a:xfrm>
            <a:off x="4996800" y="3640680"/>
            <a:ext cx="6371280" cy="519840"/>
          </a:xfrm>
          <a:prstGeom prst="rect">
            <a:avLst/>
          </a:prstGeom>
          <a:noFill/>
          <a:ln w="0">
            <a:noFill/>
          </a:ln>
        </p:spPr>
        <p:style>
          <a:lnRef idx="0"/>
          <a:fillRef idx="0"/>
          <a:effectRef idx="0"/>
          <a:fontRef idx="minor"/>
        </p:style>
        <p:txBody>
          <a:bodyPr lIns="0" tIns="0" rIns="0" bIns="0" anchor="t">
            <a:normAutofit/>
          </a:bodyPr>
          <a:p>
            <a:pPr defTabSz="914400">
              <a:lnSpc>
                <a:spcPts val="1950"/>
              </a:lnSpc>
              <a:tabLst>
                <a:tab pos="0" algn="l"/>
              </a:tabLst>
            </a:pPr>
            <a:r>
              <a:rPr lang="en-US" sz="1500" b="0" u="none" strike="noStrike">
                <a:solidFill>
                  <a:srgbClr val="14232E"/>
                </a:solidFill>
                <a:effectLst/>
                <a:uFillTx/>
                <a:latin typeface="DM Sans"/>
                <a:ea typeface="DM Sans"/>
              </a:rPr>
              <a:t>Row counts agree between layers, and Pandas and Polars agree on regional counts</a:t>
            </a:r>
            <a:endParaRPr lang="en-GB" sz="1500" b="0" u="none" strike="noStrike">
              <a:solidFill>
                <a:srgbClr val="000000"/>
              </a:solidFill>
              <a:effectLst/>
              <a:uFillTx/>
              <a:latin typeface="Arial"/>
            </a:endParaRPr>
          </a:p>
        </p:txBody>
      </p:sp>
      <p:sp>
        <p:nvSpPr>
          <p:cNvPr id="149" name="Shape 14"/>
          <p:cNvSpPr/>
          <p:nvPr/>
        </p:nvSpPr>
        <p:spPr>
          <a:xfrm>
            <a:off x="812880" y="4589640"/>
            <a:ext cx="10526760" cy="1067400"/>
          </a:xfrm>
          <a:prstGeom prst="roundRect">
            <a:avLst>
              <a:gd name="adj" fmla="val 8324"/>
            </a:avLst>
          </a:prstGeom>
          <a:solidFill>
            <a:srgbClr val="FBEBD6"/>
          </a:solidFill>
          <a:ln w="0">
            <a:noFill/>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150" name="Shape 15"/>
          <p:cNvSpPr/>
          <p:nvPr/>
        </p:nvSpPr>
        <p:spPr>
          <a:xfrm>
            <a:off x="812880" y="4589640"/>
            <a:ext cx="5206320" cy="1067400"/>
          </a:xfrm>
          <a:custGeom>
            <a:avLst/>
            <a:gdLst>
              <a:gd name="textAreaLeft" fmla="*/ 0 w 5206320"/>
              <a:gd name="textAreaRight" fmla="*/ 5207040 w 5206320"/>
              <a:gd name="textAreaTop" fmla="*/ 0 h 1067400"/>
              <a:gd name="textAreaBottom" fmla="*/ 1068120 h 1067400"/>
            </a:gdLst>
            <a:ahLst/>
            <a:cxnLst/>
            <a:rect l="textAreaLeft" t="textAreaTop" r="textAreaRight" b="textAreaBottom"/>
            <a:pathLst>
              <a:path w="5207000" h="1068035">
                <a:moveTo>
                  <a:pt x="88900" y="1068035"/>
                </a:moveTo>
                <a:lnTo>
                  <a:pt x="88900" y="1068035"/>
                </a:lnTo>
                <a:arcTo wR="88900" hR="88900" stAng="5400000" swAng="5400000"/>
                <a:lnTo>
                  <a:pt x="0" y="88900"/>
                </a:lnTo>
                <a:arcTo wR="88900" hR="88900" stAng="10800000" swAng="5400000"/>
                <a:lnTo>
                  <a:pt x="88900" y="0"/>
                </a:lnTo>
                <a:arcTo wR="25400" hR="88900" stAng="16200000" swAng="-5400000"/>
                <a:lnTo>
                  <a:pt x="63500" y="979135"/>
                </a:lnTo>
                <a:arcTo wR="25400" hR="88900" stAng="10800000" swAng="-5400000"/>
                <a:close/>
              </a:path>
            </a:pathLst>
          </a:custGeom>
          <a:solidFill>
            <a:srgbClr val="A85A00"/>
          </a:solidFill>
          <a:ln w="0">
            <a:noFill/>
          </a:ln>
        </p:spPr>
        <p:style>
          <a:lnRef idx="0"/>
          <a:fillRef idx="0"/>
          <a:effectRef idx="0"/>
          <a:fontRef idx="minor"/>
        </p:style>
        <p:txBody>
          <a:bodyPr lIns="90000" tIns="45000" rIns="90000" bIns="45000" anchor="t">
            <a:noAutofit/>
          </a:bodyPr>
          <a:p>
            <a:pPr/>
            <a:endParaRPr lang="en-GB" sz="1800" b="0" u="none" strike="noStrike">
              <a:solidFill>
                <a:srgbClr val="FFFFFF"/>
              </a:solidFill>
              <a:effectLst/>
              <a:uFillTx/>
              <a:latin typeface="Arial"/>
            </a:endParaRPr>
          </a:p>
        </p:txBody>
      </p:sp>
      <p:sp>
        <p:nvSpPr>
          <p:cNvPr id="151" name="Text 16"/>
          <p:cNvSpPr/>
          <p:nvPr/>
        </p:nvSpPr>
        <p:spPr>
          <a:xfrm>
            <a:off x="1065240" y="4741920"/>
            <a:ext cx="4906080" cy="291240"/>
          </a:xfrm>
          <a:prstGeom prst="rect">
            <a:avLst/>
          </a:prstGeom>
          <a:noFill/>
          <a:ln w="0">
            <a:noFill/>
          </a:ln>
        </p:spPr>
        <p:style>
          <a:lnRef idx="0"/>
          <a:fillRef idx="0"/>
          <a:effectRef idx="0"/>
          <a:fontRef idx="minor"/>
        </p:style>
        <p:txBody>
          <a:bodyPr lIns="0" tIns="0" rIns="0" bIns="0" anchor="t">
            <a:normAutofit/>
          </a:bodyPr>
          <a:p>
            <a:pPr defTabSz="914400">
              <a:lnSpc>
                <a:spcPts val="2100"/>
              </a:lnSpc>
              <a:tabLst>
                <a:tab pos="0" algn="l"/>
              </a:tabLst>
            </a:pPr>
            <a:r>
              <a:rPr lang="en-US" sz="1500" b="1" u="none" strike="noStrike">
                <a:solidFill>
                  <a:srgbClr val="A85A00"/>
                </a:solidFill>
                <a:effectLst/>
                <a:uFillTx/>
                <a:latin typeface="DM Sans"/>
                <a:ea typeface="DM Sans"/>
              </a:rPr>
              <a:t>207 points (1.8%) publish no price</a:t>
            </a:r>
            <a:endParaRPr lang="en-GB" sz="1500" b="0" u="none" strike="noStrike">
              <a:solidFill>
                <a:srgbClr val="000000"/>
              </a:solidFill>
              <a:effectLst/>
              <a:uFillTx/>
              <a:latin typeface="Arial"/>
            </a:endParaRPr>
          </a:p>
        </p:txBody>
      </p:sp>
      <p:sp>
        <p:nvSpPr>
          <p:cNvPr id="152" name="Text 17"/>
          <p:cNvSpPr/>
          <p:nvPr/>
        </p:nvSpPr>
        <p:spPr>
          <a:xfrm>
            <a:off x="1065240" y="5059440"/>
            <a:ext cx="6494400" cy="470520"/>
          </a:xfrm>
          <a:prstGeom prst="rect">
            <a:avLst/>
          </a:prstGeom>
          <a:noFill/>
          <a:ln w="0">
            <a:noFill/>
          </a:ln>
        </p:spPr>
        <p:style>
          <a:lnRef idx="0"/>
          <a:fillRef idx="0"/>
          <a:effectRef idx="0"/>
          <a:fontRef idx="minor"/>
        </p:style>
        <p:txBody>
          <a:bodyPr lIns="0" tIns="0" rIns="0" bIns="0" anchor="t">
            <a:normAutofit/>
          </a:bodyPr>
          <a:p>
            <a:pPr defTabSz="914400">
              <a:lnSpc>
                <a:spcPts val="1755"/>
              </a:lnSpc>
              <a:tabLst>
                <a:tab pos="0" algn="l"/>
              </a:tabLst>
            </a:pPr>
            <a:r>
              <a:rPr lang="en-US" sz="1300" b="0" u="none" strike="noStrike">
                <a:solidFill>
                  <a:srgbClr val="14232E"/>
                </a:solidFill>
                <a:effectLst/>
                <a:uFillTx/>
                <a:latin typeface="DM Sans"/>
                <a:ea typeface="DM Sans"/>
              </a:rPr>
              <a:t>An upstream data gap, not a pipeline error. Price averages exclude them.</a:t>
            </a:r>
            <a:endParaRPr lang="en-GB" sz="1300" b="0" u="none" strike="noStrike">
              <a:solidFill>
                <a:srgbClr val="000000"/>
              </a:solidFill>
              <a:effectLst/>
              <a:uFillTx/>
              <a:latin typeface="Arial"/>
            </a:endParaRPr>
          </a:p>
        </p:txBody>
      </p:sp>
      <p:sp>
        <p:nvSpPr>
          <p:cNvPr id="153" name="Text 22"/>
          <p:cNvSpPr/>
          <p:nvPr/>
        </p:nvSpPr>
        <p:spPr>
          <a:xfrm>
            <a:off x="812880" y="6238440"/>
            <a:ext cx="22028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F5B66"/>
                </a:solidFill>
                <a:effectLst/>
                <a:uFillTx/>
                <a:latin typeface="DM Sans"/>
                <a:ea typeface="DM Sans"/>
              </a:rPr>
              <a:t>EV charging data platform</a:t>
            </a:r>
            <a:endParaRPr lang="en-GB" sz="1200" b="0" u="none" strike="noStrike">
              <a:solidFill>
                <a:srgbClr val="000000"/>
              </a:solidFill>
              <a:effectLst/>
              <a:uFillTx/>
              <a:latin typeface="Arial"/>
            </a:endParaRPr>
          </a:p>
        </p:txBody>
      </p:sp>
      <p:sp>
        <p:nvSpPr>
          <p:cNvPr id="154" name="Text 23"/>
          <p:cNvSpPr/>
          <p:nvPr/>
        </p:nvSpPr>
        <p:spPr>
          <a:xfrm>
            <a:off x="11283480" y="6238440"/>
            <a:ext cx="14580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F5B66"/>
                </a:solidFill>
                <a:effectLst/>
                <a:uFillTx/>
                <a:latin typeface="DM Sans"/>
                <a:ea typeface="DM Sans"/>
              </a:rPr>
              <a:t>9</a:t>
            </a:r>
            <a:endParaRPr lang="en-GB"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155" name="Text 0"/>
          <p:cNvSpPr/>
          <p:nvPr/>
        </p:nvSpPr>
        <p:spPr>
          <a:xfrm>
            <a:off x="812880" y="812880"/>
            <a:ext cx="10882800" cy="27360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pc="198" strike="noStrike">
                <a:solidFill>
                  <a:srgbClr val="0E7C7B"/>
                </a:solidFill>
                <a:effectLst/>
                <a:uFillTx/>
                <a:latin typeface="DM Sans"/>
                <a:ea typeface="DM Sans"/>
              </a:rPr>
              <a:t>INSIGHT</a:t>
            </a:r>
            <a:endParaRPr lang="en-GB" sz="1400" b="0" u="none" strike="noStrike">
              <a:solidFill>
                <a:srgbClr val="000000"/>
              </a:solidFill>
              <a:effectLst/>
              <a:uFillTx/>
              <a:latin typeface="Arial"/>
            </a:endParaRPr>
          </a:p>
        </p:txBody>
      </p:sp>
      <p:sp>
        <p:nvSpPr>
          <p:cNvPr id="156" name="PlaceHolder 1"/>
          <p:cNvSpPr>
            <a:spLocks noGrp="1"/>
          </p:cNvSpPr>
          <p:nvPr>
            <p:ph type="title"/>
          </p:nvPr>
        </p:nvSpPr>
        <p:spPr>
          <a:xfrm>
            <a:off x="812880" y="1188720"/>
            <a:ext cx="10882800" cy="527400"/>
          </a:xfrm>
          <a:prstGeom prst="rect">
            <a:avLst/>
          </a:prstGeom>
          <a:noFill/>
          <a:ln w="0">
            <a:noFill/>
          </a:ln>
        </p:spPr>
        <p:txBody>
          <a:bodyPr lIns="0" tIns="0" rIns="0" bIns="0" anchor="t">
            <a:normAutofit/>
          </a:bodyPr>
          <a:p>
            <a:pPr indent="0" algn="l" defTabSz="914400">
              <a:lnSpc>
                <a:spcPts val="3960"/>
              </a:lnSpc>
              <a:buNone/>
              <a:tabLst>
                <a:tab pos="0" algn="l"/>
              </a:tabLst>
            </a:pPr>
            <a:r>
              <a:rPr lang="en-US" sz="3600" b="1" u="none" strike="noStrike">
                <a:solidFill>
                  <a:schemeClr val="dk1"/>
                </a:solidFill>
                <a:effectLst/>
                <a:uFillTx/>
                <a:latin typeface="DM Sans"/>
                <a:ea typeface="DM Sans"/>
              </a:rPr>
              <a:t>Four operators run 81% of charging points</a:t>
            </a:r>
            <a:endParaRPr lang="en-US" sz="3600" b="0" u="none" strike="noStrike">
              <a:solidFill>
                <a:schemeClr val="dk1"/>
              </a:solidFill>
              <a:effectLst/>
              <a:uFillTx/>
              <a:latin typeface="Arial"/>
            </a:endParaRPr>
          </a:p>
        </p:txBody>
      </p:sp>
      <p:sp>
        <p:nvSpPr>
          <p:cNvPr id="157" name="Text 2"/>
          <p:cNvSpPr/>
          <p:nvPr/>
        </p:nvSpPr>
        <p:spPr>
          <a:xfrm>
            <a:off x="812880" y="1960920"/>
            <a:ext cx="2484720" cy="27360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4232E"/>
                </a:solidFill>
                <a:effectLst/>
                <a:uFillTx/>
                <a:latin typeface="DM Sans"/>
                <a:ea typeface="DM Sans"/>
              </a:rPr>
              <a:t>SP Mobility</a:t>
            </a:r>
            <a:endParaRPr lang="en-GB" sz="1400" b="0" u="none" strike="noStrike">
              <a:solidFill>
                <a:srgbClr val="000000"/>
              </a:solidFill>
              <a:effectLst/>
              <a:uFillTx/>
              <a:latin typeface="Arial"/>
            </a:endParaRPr>
          </a:p>
        </p:txBody>
      </p:sp>
      <p:sp>
        <p:nvSpPr>
          <p:cNvPr id="158" name="Shape 3"/>
          <p:cNvSpPr/>
          <p:nvPr/>
        </p:nvSpPr>
        <p:spPr>
          <a:xfrm>
            <a:off x="3378240" y="1945440"/>
            <a:ext cx="5714280" cy="278640"/>
          </a:xfrm>
          <a:prstGeom prst="roundRect">
            <a:avLst>
              <a:gd name="adj" fmla="val 13636"/>
            </a:avLst>
          </a:prstGeom>
          <a:solidFill>
            <a:srgbClr val="0E7C7B"/>
          </a:solidFill>
          <a:ln w="0">
            <a:noFill/>
          </a:ln>
        </p:spPr>
        <p:style>
          <a:lnRef idx="0"/>
          <a:fillRef idx="0"/>
          <a:effectRef idx="0"/>
          <a:fontRef idx="minor"/>
        </p:style>
        <p:txBody>
          <a:bodyPr lIns="90000" tIns="45000" rIns="90000" bIns="45000" anchor="t">
            <a:noAutofit/>
          </a:bodyPr>
          <a:p>
            <a:pPr/>
            <a:endParaRPr lang="en-GB" sz="1800" b="0" u="none" strike="noStrike">
              <a:solidFill>
                <a:srgbClr val="FFFFFF"/>
              </a:solidFill>
              <a:effectLst/>
              <a:uFillTx/>
              <a:latin typeface="Arial"/>
            </a:endParaRPr>
          </a:p>
        </p:txBody>
      </p:sp>
      <p:sp>
        <p:nvSpPr>
          <p:cNvPr id="159" name="Text 4"/>
          <p:cNvSpPr/>
          <p:nvPr/>
        </p:nvSpPr>
        <p:spPr>
          <a:xfrm>
            <a:off x="9245520" y="1960920"/>
            <a:ext cx="573840" cy="27360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14232E"/>
                </a:solidFill>
                <a:effectLst/>
                <a:uFillTx/>
                <a:latin typeface="DM Sans"/>
                <a:ea typeface="DM Sans"/>
              </a:rPr>
              <a:t>2,836</a:t>
            </a:r>
            <a:endParaRPr lang="en-GB" sz="1400" b="0" u="none" strike="noStrike">
              <a:solidFill>
                <a:srgbClr val="000000"/>
              </a:solidFill>
              <a:effectLst/>
              <a:uFillTx/>
              <a:latin typeface="Arial"/>
            </a:endParaRPr>
          </a:p>
        </p:txBody>
      </p:sp>
      <p:sp>
        <p:nvSpPr>
          <p:cNvPr id="160" name="Text 5"/>
          <p:cNvSpPr/>
          <p:nvPr/>
        </p:nvSpPr>
        <p:spPr>
          <a:xfrm>
            <a:off x="812880" y="2329200"/>
            <a:ext cx="2484720" cy="27360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4232E"/>
                </a:solidFill>
                <a:effectLst/>
                <a:uFillTx/>
                <a:latin typeface="DM Sans"/>
                <a:ea typeface="DM Sans"/>
              </a:rPr>
              <a:t>Charge+</a:t>
            </a:r>
            <a:endParaRPr lang="en-GB" sz="1400" b="0" u="none" strike="noStrike">
              <a:solidFill>
                <a:srgbClr val="000000"/>
              </a:solidFill>
              <a:effectLst/>
              <a:uFillTx/>
              <a:latin typeface="Arial"/>
            </a:endParaRPr>
          </a:p>
        </p:txBody>
      </p:sp>
      <p:sp>
        <p:nvSpPr>
          <p:cNvPr id="161" name="Shape 6"/>
          <p:cNvSpPr/>
          <p:nvPr/>
        </p:nvSpPr>
        <p:spPr>
          <a:xfrm>
            <a:off x="3378240" y="2313720"/>
            <a:ext cx="5346000" cy="278640"/>
          </a:xfrm>
          <a:prstGeom prst="roundRect">
            <a:avLst>
              <a:gd name="adj" fmla="val 13636"/>
            </a:avLst>
          </a:prstGeom>
          <a:solidFill>
            <a:srgbClr val="0E7C7B"/>
          </a:solidFill>
          <a:ln w="0">
            <a:noFill/>
          </a:ln>
        </p:spPr>
        <p:style>
          <a:lnRef idx="0"/>
          <a:fillRef idx="0"/>
          <a:effectRef idx="0"/>
          <a:fontRef idx="minor"/>
        </p:style>
        <p:txBody>
          <a:bodyPr lIns="90000" tIns="45000" rIns="90000" bIns="45000" anchor="t">
            <a:noAutofit/>
          </a:bodyPr>
          <a:p>
            <a:pPr/>
            <a:endParaRPr lang="en-GB" sz="1800" b="0" u="none" strike="noStrike">
              <a:solidFill>
                <a:srgbClr val="FFFFFF"/>
              </a:solidFill>
              <a:effectLst/>
              <a:uFillTx/>
              <a:latin typeface="Arial"/>
            </a:endParaRPr>
          </a:p>
        </p:txBody>
      </p:sp>
      <p:sp>
        <p:nvSpPr>
          <p:cNvPr id="162" name="Text 7"/>
          <p:cNvSpPr/>
          <p:nvPr/>
        </p:nvSpPr>
        <p:spPr>
          <a:xfrm>
            <a:off x="9245520" y="2329200"/>
            <a:ext cx="560160" cy="27360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14232E"/>
                </a:solidFill>
                <a:effectLst/>
                <a:uFillTx/>
                <a:latin typeface="DM Sans"/>
                <a:ea typeface="DM Sans"/>
              </a:rPr>
              <a:t>2,652</a:t>
            </a:r>
            <a:endParaRPr lang="en-GB" sz="1400" b="0" u="none" strike="noStrike">
              <a:solidFill>
                <a:srgbClr val="000000"/>
              </a:solidFill>
              <a:effectLst/>
              <a:uFillTx/>
              <a:latin typeface="Arial"/>
            </a:endParaRPr>
          </a:p>
        </p:txBody>
      </p:sp>
      <p:sp>
        <p:nvSpPr>
          <p:cNvPr id="163" name="Text 8"/>
          <p:cNvSpPr/>
          <p:nvPr/>
        </p:nvSpPr>
        <p:spPr>
          <a:xfrm>
            <a:off x="812880" y="2697480"/>
            <a:ext cx="2484720" cy="27360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4232E"/>
                </a:solidFill>
                <a:effectLst/>
                <a:uFillTx/>
                <a:latin typeface="DM Sans"/>
                <a:ea typeface="DM Sans"/>
              </a:rPr>
              <a:t>ComfortDelGro Engie</a:t>
            </a:r>
            <a:endParaRPr lang="en-GB" sz="1400" b="0" u="none" strike="noStrike">
              <a:solidFill>
                <a:srgbClr val="000000"/>
              </a:solidFill>
              <a:effectLst/>
              <a:uFillTx/>
              <a:latin typeface="Arial"/>
            </a:endParaRPr>
          </a:p>
        </p:txBody>
      </p:sp>
      <p:sp>
        <p:nvSpPr>
          <p:cNvPr id="164" name="Shape 9"/>
          <p:cNvSpPr/>
          <p:nvPr/>
        </p:nvSpPr>
        <p:spPr>
          <a:xfrm>
            <a:off x="3378240" y="2682000"/>
            <a:ext cx="4183920" cy="278640"/>
          </a:xfrm>
          <a:prstGeom prst="roundRect">
            <a:avLst>
              <a:gd name="adj" fmla="val 13636"/>
            </a:avLst>
          </a:prstGeom>
          <a:solidFill>
            <a:srgbClr val="0E7C7B"/>
          </a:solidFill>
          <a:ln w="0">
            <a:noFill/>
          </a:ln>
        </p:spPr>
        <p:style>
          <a:lnRef idx="0"/>
          <a:fillRef idx="0"/>
          <a:effectRef idx="0"/>
          <a:fontRef idx="minor"/>
        </p:style>
        <p:txBody>
          <a:bodyPr lIns="90000" tIns="45000" rIns="90000" bIns="45000" anchor="t">
            <a:noAutofit/>
          </a:bodyPr>
          <a:p>
            <a:pPr/>
            <a:endParaRPr lang="en-GB" sz="1800" b="0" u="none" strike="noStrike">
              <a:solidFill>
                <a:srgbClr val="FFFFFF"/>
              </a:solidFill>
              <a:effectLst/>
              <a:uFillTx/>
              <a:latin typeface="Arial"/>
            </a:endParaRPr>
          </a:p>
        </p:txBody>
      </p:sp>
      <p:sp>
        <p:nvSpPr>
          <p:cNvPr id="165" name="Text 10"/>
          <p:cNvSpPr/>
          <p:nvPr/>
        </p:nvSpPr>
        <p:spPr>
          <a:xfrm>
            <a:off x="9245520" y="2697480"/>
            <a:ext cx="552600" cy="27360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14232E"/>
                </a:solidFill>
                <a:effectLst/>
                <a:uFillTx/>
                <a:latin typeface="DM Sans"/>
                <a:ea typeface="DM Sans"/>
              </a:rPr>
              <a:t>2,077</a:t>
            </a:r>
            <a:endParaRPr lang="en-GB" sz="1400" b="0" u="none" strike="noStrike">
              <a:solidFill>
                <a:srgbClr val="000000"/>
              </a:solidFill>
              <a:effectLst/>
              <a:uFillTx/>
              <a:latin typeface="Arial"/>
            </a:endParaRPr>
          </a:p>
        </p:txBody>
      </p:sp>
      <p:sp>
        <p:nvSpPr>
          <p:cNvPr id="166" name="Text 11"/>
          <p:cNvSpPr/>
          <p:nvPr/>
        </p:nvSpPr>
        <p:spPr>
          <a:xfrm>
            <a:off x="812880" y="3065760"/>
            <a:ext cx="2484720" cy="27360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4232E"/>
                </a:solidFill>
                <a:effectLst/>
                <a:uFillTx/>
                <a:latin typeface="DM Sans"/>
                <a:ea typeface="DM Sans"/>
              </a:rPr>
              <a:t>Shell</a:t>
            </a:r>
            <a:endParaRPr lang="en-GB" sz="1400" b="0" u="none" strike="noStrike">
              <a:solidFill>
                <a:srgbClr val="000000"/>
              </a:solidFill>
              <a:effectLst/>
              <a:uFillTx/>
              <a:latin typeface="Arial"/>
            </a:endParaRPr>
          </a:p>
        </p:txBody>
      </p:sp>
      <p:sp>
        <p:nvSpPr>
          <p:cNvPr id="167" name="Shape 12"/>
          <p:cNvSpPr/>
          <p:nvPr/>
        </p:nvSpPr>
        <p:spPr>
          <a:xfrm>
            <a:off x="3378240" y="3050640"/>
            <a:ext cx="3777480" cy="278640"/>
          </a:xfrm>
          <a:prstGeom prst="roundRect">
            <a:avLst>
              <a:gd name="adj" fmla="val 13636"/>
            </a:avLst>
          </a:prstGeom>
          <a:solidFill>
            <a:srgbClr val="0E7C7B"/>
          </a:solidFill>
          <a:ln w="0">
            <a:noFill/>
          </a:ln>
        </p:spPr>
        <p:style>
          <a:lnRef idx="0"/>
          <a:fillRef idx="0"/>
          <a:effectRef idx="0"/>
          <a:fontRef idx="minor"/>
        </p:style>
        <p:txBody>
          <a:bodyPr lIns="90000" tIns="45000" rIns="90000" bIns="45000" anchor="t">
            <a:noAutofit/>
          </a:bodyPr>
          <a:p>
            <a:pPr/>
            <a:endParaRPr lang="en-GB" sz="1800" b="0" u="none" strike="noStrike">
              <a:solidFill>
                <a:srgbClr val="FFFFFF"/>
              </a:solidFill>
              <a:effectLst/>
              <a:uFillTx/>
              <a:latin typeface="Arial"/>
            </a:endParaRPr>
          </a:p>
        </p:txBody>
      </p:sp>
      <p:sp>
        <p:nvSpPr>
          <p:cNvPr id="168" name="Text 13"/>
          <p:cNvSpPr/>
          <p:nvPr/>
        </p:nvSpPr>
        <p:spPr>
          <a:xfrm>
            <a:off x="9245520" y="3065760"/>
            <a:ext cx="503640" cy="27360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14232E"/>
                </a:solidFill>
                <a:effectLst/>
                <a:uFillTx/>
                <a:latin typeface="DM Sans"/>
                <a:ea typeface="DM Sans"/>
              </a:rPr>
              <a:t>1,874</a:t>
            </a:r>
            <a:endParaRPr lang="en-GB" sz="1400" b="0" u="none" strike="noStrike">
              <a:solidFill>
                <a:srgbClr val="000000"/>
              </a:solidFill>
              <a:effectLst/>
              <a:uFillTx/>
              <a:latin typeface="Arial"/>
            </a:endParaRPr>
          </a:p>
        </p:txBody>
      </p:sp>
      <p:sp>
        <p:nvSpPr>
          <p:cNvPr id="169" name="Text 14"/>
          <p:cNvSpPr/>
          <p:nvPr/>
        </p:nvSpPr>
        <p:spPr>
          <a:xfrm>
            <a:off x="812880" y="3434040"/>
            <a:ext cx="2484720" cy="27360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F5B66"/>
                </a:solidFill>
                <a:effectLst/>
                <a:uFillTx/>
                <a:latin typeface="DM Sans"/>
                <a:ea typeface="DM Sans"/>
              </a:rPr>
              <a:t>Strides YTL</a:t>
            </a:r>
            <a:endParaRPr lang="en-GB" sz="1400" b="0" u="none" strike="noStrike">
              <a:solidFill>
                <a:srgbClr val="000000"/>
              </a:solidFill>
              <a:effectLst/>
              <a:uFillTx/>
              <a:latin typeface="Arial"/>
            </a:endParaRPr>
          </a:p>
        </p:txBody>
      </p:sp>
      <p:sp>
        <p:nvSpPr>
          <p:cNvPr id="170" name="Shape 15"/>
          <p:cNvSpPr/>
          <p:nvPr/>
        </p:nvSpPr>
        <p:spPr>
          <a:xfrm>
            <a:off x="3378240" y="3418920"/>
            <a:ext cx="2266200" cy="278640"/>
          </a:xfrm>
          <a:prstGeom prst="roundRect">
            <a:avLst>
              <a:gd name="adj" fmla="val 13636"/>
            </a:avLst>
          </a:prstGeom>
          <a:solidFill>
            <a:srgbClr val="9AA7AF"/>
          </a:solidFill>
          <a:ln w="0">
            <a:noFill/>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171" name="Text 16"/>
          <p:cNvSpPr/>
          <p:nvPr/>
        </p:nvSpPr>
        <p:spPr>
          <a:xfrm>
            <a:off x="9245520" y="3434040"/>
            <a:ext cx="467280" cy="27360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4F5B66"/>
                </a:solidFill>
                <a:effectLst/>
                <a:uFillTx/>
                <a:latin typeface="DM Sans"/>
                <a:ea typeface="DM Sans"/>
              </a:rPr>
              <a:t>1,124</a:t>
            </a:r>
            <a:endParaRPr lang="en-GB" sz="1400" b="0" u="none" strike="noStrike">
              <a:solidFill>
                <a:srgbClr val="000000"/>
              </a:solidFill>
              <a:effectLst/>
              <a:uFillTx/>
              <a:latin typeface="Arial"/>
            </a:endParaRPr>
          </a:p>
        </p:txBody>
      </p:sp>
      <p:sp>
        <p:nvSpPr>
          <p:cNvPr id="172" name="Text 17"/>
          <p:cNvSpPr/>
          <p:nvPr/>
        </p:nvSpPr>
        <p:spPr>
          <a:xfrm>
            <a:off x="812880" y="3802320"/>
            <a:ext cx="2484720" cy="27360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F5B66"/>
                </a:solidFill>
                <a:effectLst/>
                <a:uFillTx/>
                <a:latin typeface="DM Sans"/>
                <a:ea typeface="DM Sans"/>
              </a:rPr>
              <a:t>Other 24 operators</a:t>
            </a:r>
            <a:endParaRPr lang="en-GB" sz="1400" b="0" u="none" strike="noStrike">
              <a:solidFill>
                <a:srgbClr val="000000"/>
              </a:solidFill>
              <a:effectLst/>
              <a:uFillTx/>
              <a:latin typeface="Arial"/>
            </a:endParaRPr>
          </a:p>
        </p:txBody>
      </p:sp>
      <p:sp>
        <p:nvSpPr>
          <p:cNvPr id="173" name="Shape 18"/>
          <p:cNvSpPr/>
          <p:nvPr/>
        </p:nvSpPr>
        <p:spPr>
          <a:xfrm>
            <a:off x="3378240" y="3787200"/>
            <a:ext cx="2259720" cy="278640"/>
          </a:xfrm>
          <a:prstGeom prst="roundRect">
            <a:avLst>
              <a:gd name="adj" fmla="val 13636"/>
            </a:avLst>
          </a:prstGeom>
          <a:solidFill>
            <a:srgbClr val="9AA7AF"/>
          </a:solidFill>
          <a:ln w="0">
            <a:noFill/>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174" name="Text 19"/>
          <p:cNvSpPr/>
          <p:nvPr/>
        </p:nvSpPr>
        <p:spPr>
          <a:xfrm>
            <a:off x="9245520" y="3802320"/>
            <a:ext cx="407880" cy="273600"/>
          </a:xfrm>
          <a:prstGeom prst="rect">
            <a:avLst/>
          </a:prstGeom>
          <a:noFill/>
          <a:ln w="0">
            <a:noFill/>
          </a:ln>
        </p:spPr>
        <p:style>
          <a:lnRef idx="0"/>
          <a:fillRef idx="0"/>
          <a:effectRef idx="0"/>
          <a:fontRef idx="minor"/>
        </p:style>
        <p:txBody>
          <a:bodyPr lIns="0" tIns="0" rIns="0" bIns="0" anchor="t">
            <a:normAutofit fontScale="85000" lnSpcReduction="9999"/>
          </a:bodyPr>
          <a:p>
            <a:pPr defTabSz="914400">
              <a:lnSpc>
                <a:spcPts val="1959"/>
              </a:lnSpc>
              <a:tabLst>
                <a:tab pos="0" algn="l"/>
              </a:tabLst>
            </a:pPr>
            <a:r>
              <a:rPr lang="en-US" sz="1400" b="1" u="none" strike="noStrike">
                <a:solidFill>
                  <a:srgbClr val="4F5B66"/>
                </a:solidFill>
                <a:effectLst/>
                <a:uFillTx/>
                <a:latin typeface="DM Sans"/>
                <a:ea typeface="DM Sans"/>
              </a:rPr>
              <a:t>1,121</a:t>
            </a:r>
            <a:endParaRPr lang="en-GB" sz="1400" b="0" u="none" strike="noStrike">
              <a:solidFill>
                <a:srgbClr val="000000"/>
              </a:solidFill>
              <a:effectLst/>
              <a:uFillTx/>
              <a:latin typeface="Arial"/>
            </a:endParaRPr>
          </a:p>
        </p:txBody>
      </p:sp>
      <p:sp>
        <p:nvSpPr>
          <p:cNvPr id="175" name="Text 20"/>
          <p:cNvSpPr/>
          <p:nvPr/>
        </p:nvSpPr>
        <p:spPr>
          <a:xfrm>
            <a:off x="812880" y="4320360"/>
            <a:ext cx="9810000" cy="5223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F5B66"/>
                </a:solidFill>
                <a:effectLst/>
                <a:uFillTx/>
                <a:latin typeface="DM Sans"/>
                <a:ea typeface="DM Sans"/>
              </a:rPr>
              <a:t>Charging points per operator, latest load, 11,684 in total. The </a:t>
            </a:r>
            <a:r>
              <a:rPr lang="en-US" sz="1400" b="0" u="none" strike="noStrike">
                <a:solidFill>
                  <a:srgbClr val="4F5B66"/>
                </a:solidFill>
                <a:effectLst/>
                <a:uFillTx/>
                <a:latin typeface="DM Sans"/>
                <a:ea typeface="DM Sans"/>
              </a:rPr>
              <a:t>next two slides add speed, regional and planning findings.</a:t>
            </a:r>
            <a:endParaRPr lang="en-GB" sz="1400" b="0" u="none" strike="noStrike">
              <a:solidFill>
                <a:srgbClr val="000000"/>
              </a:solidFill>
              <a:effectLst/>
              <a:uFillTx/>
              <a:latin typeface="Arial"/>
            </a:endParaRPr>
          </a:p>
        </p:txBody>
      </p:sp>
      <p:sp>
        <p:nvSpPr>
          <p:cNvPr id="176" name="Text 21"/>
          <p:cNvSpPr/>
          <p:nvPr/>
        </p:nvSpPr>
        <p:spPr>
          <a:xfrm>
            <a:off x="812880" y="6238440"/>
            <a:ext cx="22028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F5B66"/>
                </a:solidFill>
                <a:effectLst/>
                <a:uFillTx/>
                <a:latin typeface="DM Sans"/>
                <a:ea typeface="DM Sans"/>
              </a:rPr>
              <a:t>EV charging data platform</a:t>
            </a:r>
            <a:endParaRPr lang="en-GB" sz="1200" b="0" u="none" strike="noStrike">
              <a:solidFill>
                <a:srgbClr val="000000"/>
              </a:solidFill>
              <a:effectLst/>
              <a:uFillTx/>
              <a:latin typeface="Arial"/>
            </a:endParaRPr>
          </a:p>
        </p:txBody>
      </p:sp>
      <p:sp>
        <p:nvSpPr>
          <p:cNvPr id="177" name="Text 22"/>
          <p:cNvSpPr/>
          <p:nvPr/>
        </p:nvSpPr>
        <p:spPr>
          <a:xfrm>
            <a:off x="11227320" y="6238440"/>
            <a:ext cx="20196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F5B66"/>
                </a:solidFill>
                <a:effectLst/>
                <a:uFillTx/>
                <a:latin typeface="DM Sans"/>
                <a:ea typeface="DM Sans"/>
              </a:rPr>
              <a:t>10</a:t>
            </a:r>
            <a:endParaRPr lang="en-GB"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178" name="Text 0"/>
          <p:cNvSpPr/>
          <p:nvPr/>
        </p:nvSpPr>
        <p:spPr>
          <a:xfrm>
            <a:off x="812880" y="812880"/>
            <a:ext cx="10882800" cy="250920"/>
          </a:xfrm>
          <a:prstGeom prst="rect">
            <a:avLst/>
          </a:prstGeom>
          <a:noFill/>
          <a:ln w="0">
            <a:noFill/>
          </a:ln>
        </p:spPr>
        <p:style>
          <a:lnRef idx="0"/>
          <a:fillRef idx="0"/>
          <a:effectRef idx="0"/>
          <a:fontRef idx="minor"/>
        </p:style>
        <p:txBody>
          <a:bodyPr lIns="0" tIns="0" rIns="0" bIns="0" anchor="t">
            <a:normAutofit/>
          </a:bodyPr>
          <a:p>
            <a:pPr defTabSz="914400">
              <a:lnSpc>
                <a:spcPts val="1820"/>
              </a:lnSpc>
              <a:tabLst>
                <a:tab pos="0" algn="l"/>
              </a:tabLst>
            </a:pPr>
            <a:r>
              <a:rPr lang="en-US" sz="1300" b="1" u="none" spc="198" strike="noStrike">
                <a:solidFill>
                  <a:srgbClr val="0E7C7B"/>
                </a:solidFill>
                <a:effectLst/>
                <a:uFillTx/>
                <a:latin typeface="DM Sans"/>
                <a:ea typeface="DM Sans"/>
              </a:rPr>
              <a:t>INSIGHT</a:t>
            </a:r>
            <a:endParaRPr lang="en-GB" sz="1300" b="0" u="none" strike="noStrike">
              <a:solidFill>
                <a:srgbClr val="000000"/>
              </a:solidFill>
              <a:effectLst/>
              <a:uFillTx/>
              <a:latin typeface="Arial"/>
            </a:endParaRPr>
          </a:p>
        </p:txBody>
      </p:sp>
      <p:sp>
        <p:nvSpPr>
          <p:cNvPr id="179" name="PlaceHolder 1"/>
          <p:cNvSpPr>
            <a:spLocks noGrp="1"/>
          </p:cNvSpPr>
          <p:nvPr>
            <p:ph type="title"/>
          </p:nvPr>
        </p:nvSpPr>
        <p:spPr>
          <a:xfrm>
            <a:off x="812880" y="1166040"/>
            <a:ext cx="11378520" cy="939240"/>
          </a:xfrm>
          <a:prstGeom prst="rect">
            <a:avLst/>
          </a:prstGeom>
          <a:noFill/>
          <a:ln w="0">
            <a:noFill/>
          </a:ln>
        </p:spPr>
        <p:txBody>
          <a:bodyPr lIns="0" tIns="0" rIns="0" bIns="0" anchor="t">
            <a:normAutofit/>
          </a:bodyPr>
          <a:p>
            <a:pPr indent="0" algn="l" defTabSz="914400">
              <a:lnSpc>
                <a:spcPts val="3637"/>
              </a:lnSpc>
              <a:buNone/>
              <a:tabLst>
                <a:tab pos="0" algn="l"/>
              </a:tabLst>
            </a:pPr>
            <a:r>
              <a:rPr lang="en-US" sz="3309" b="1" u="none" strike="noStrike">
                <a:solidFill>
                  <a:schemeClr val="dk1"/>
                </a:solidFill>
                <a:effectLst/>
                <a:uFillTx/>
                <a:latin typeface="DM Sans"/>
                <a:ea typeface="DM Sans"/>
              </a:rPr>
              <a:t>Price, speed and availability by operator and region</a:t>
            </a:r>
            <a:endParaRPr lang="en-US" sz="3309" b="0" u="none" strike="noStrike">
              <a:solidFill>
                <a:schemeClr val="dk1"/>
              </a:solidFill>
              <a:effectLst/>
              <a:uFillTx/>
              <a:latin typeface="Arial"/>
            </a:endParaRPr>
          </a:p>
        </p:txBody>
      </p:sp>
      <p:sp>
        <p:nvSpPr>
          <p:cNvPr id="180" name="Shape 2"/>
          <p:cNvSpPr/>
          <p:nvPr/>
        </p:nvSpPr>
        <p:spPr>
          <a:xfrm>
            <a:off x="812880" y="2334600"/>
            <a:ext cx="5079240" cy="3047400"/>
          </a:xfrm>
          <a:prstGeom prst="roundRect">
            <a:avLst>
              <a:gd name="adj" fmla="val 2500"/>
            </a:avLst>
          </a:prstGeom>
          <a:solidFill>
            <a:srgbClr val="FFFFFF"/>
          </a:solidFill>
          <a:ln w="0">
            <a:noFill/>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181" name="Image 0"/>
          <p:cNvSpPr/>
          <p:nvPr/>
        </p:nvSpPr>
        <p:spPr>
          <a:xfrm>
            <a:off x="819000" y="2359440"/>
            <a:ext cx="5066640" cy="2997360"/>
          </a:xfrm>
          <a:custGeom>
            <a:avLst/>
            <a:gdLst>
              <a:gd name="textAreaLeft" fmla="*/ 0 w 5066640"/>
              <a:gd name="textAreaRight" fmla="*/ 5067360 w 5066640"/>
              <a:gd name="textAreaTop" fmla="*/ 0 h 2997360"/>
              <a:gd name="textAreaBottom" fmla="*/ 2998080 h 2997360"/>
            </a:gdLst>
            <a:ahLst/>
            <a:cxnLst/>
            <a:rect l="textAreaLeft" t="textAreaTop" r="textAreaRight" b="textAreaBottom"/>
            <a:pathLst>
              <a:path w="5067300" h="2998010">
                <a:moveTo>
                  <a:pt x="0" y="51205"/>
                </a:moveTo>
                <a:arcTo wR="69850" hR="69850" stAng="10800000" swAng="2828662"/>
                <a:lnTo>
                  <a:pt x="5044959" y="0"/>
                </a:lnTo>
                <a:arcTo wR="69850" hR="69850" stAng="18771338" swAng="2828662"/>
                <a:lnTo>
                  <a:pt x="5067300" y="2946805"/>
                </a:lnTo>
                <a:arcTo wR="69850" hR="69850" stAng="0" swAng="2828662"/>
                <a:lnTo>
                  <a:pt x="22341" y="2998010"/>
                </a:lnTo>
                <a:arcTo wR="69850" hR="69850" stAng="7971338" swAng="2828662"/>
                <a:close/>
              </a:path>
            </a:pathLst>
          </a:custGeom>
          <a:blipFill rotWithShape="0">
            <a:blip r:embed="rId1"/>
            <a:srcRect/>
            <a:stretch/>
          </a:blipFill>
          <a:ln w="0">
            <a:noFill/>
          </a:ln>
        </p:spPr>
        <p:style>
          <a:lnRef idx="0"/>
          <a:fillRef idx="0"/>
          <a:effectRef idx="0"/>
          <a:fontRef idx="minor"/>
        </p:style>
        <p:txBody>
          <a:bodyPr lIns="90000" tIns="45000" rIns="90000" bIns="45000" anchor="t">
            <a:noAutofit/>
          </a:bodyPr>
          <a:p>
            <a:pPr/>
            <a:endParaRPr lang="en-GB" sz="1800" b="0" u="none" strike="noStrike">
              <a:solidFill>
                <a:srgbClr val="FFFFFF"/>
              </a:solidFill>
              <a:effectLst/>
              <a:uFillTx/>
              <a:latin typeface="Arial"/>
            </a:endParaRPr>
          </a:p>
        </p:txBody>
      </p:sp>
      <p:sp>
        <p:nvSpPr>
          <p:cNvPr id="182" name="Shape 3"/>
          <p:cNvSpPr/>
          <p:nvPr/>
        </p:nvSpPr>
        <p:spPr>
          <a:xfrm>
            <a:off x="816120" y="2337840"/>
            <a:ext cx="5072760" cy="3040920"/>
          </a:xfrm>
          <a:prstGeom prst="roundRect">
            <a:avLst>
              <a:gd name="adj" fmla="val 2401"/>
            </a:avLst>
          </a:prstGeom>
          <a:noFill/>
          <a:ln w="6480">
            <a:solidFill>
              <a:srgbClr val="0E7C7B">
                <a:lumMod val="75000"/>
                <a:lumOff val="0"/>
              </a:srgbClr>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183" name="Shape 4"/>
          <p:cNvSpPr/>
          <p:nvPr/>
        </p:nvSpPr>
        <p:spPr>
          <a:xfrm>
            <a:off x="6095880" y="2334600"/>
            <a:ext cx="5079240" cy="2742480"/>
          </a:xfrm>
          <a:prstGeom prst="roundRect">
            <a:avLst>
              <a:gd name="adj" fmla="val 2778"/>
            </a:avLst>
          </a:prstGeom>
          <a:solidFill>
            <a:srgbClr val="FFFFFF"/>
          </a:solidFill>
          <a:ln w="0">
            <a:noFill/>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184" name="Image 1"/>
          <p:cNvSpPr/>
          <p:nvPr/>
        </p:nvSpPr>
        <p:spPr>
          <a:xfrm>
            <a:off x="6102360" y="2340720"/>
            <a:ext cx="5066640" cy="2729880"/>
          </a:xfrm>
          <a:prstGeom prst="roundRect">
            <a:avLst>
              <a:gd name="adj" fmla="val 2558"/>
            </a:avLst>
          </a:prstGeom>
          <a:blipFill rotWithShape="0">
            <a:blip r:embed="rId2"/>
            <a:srcRect/>
            <a:stretch/>
          </a:blipFill>
          <a:ln w="0">
            <a:noFill/>
          </a:ln>
        </p:spPr>
        <p:style>
          <a:lnRef idx="0"/>
          <a:fillRef idx="0"/>
          <a:effectRef idx="0"/>
          <a:fontRef idx="minor"/>
        </p:style>
        <p:txBody>
          <a:bodyPr lIns="90000" tIns="45000" rIns="90000" bIns="45000" anchor="t">
            <a:noAutofit/>
          </a:bodyPr>
          <a:p>
            <a:pPr/>
            <a:endParaRPr lang="en-GB" sz="1800" b="0" u="none" strike="noStrike">
              <a:solidFill>
                <a:srgbClr val="FFFFFF"/>
              </a:solidFill>
              <a:effectLst/>
              <a:uFillTx/>
              <a:latin typeface="Arial"/>
            </a:endParaRPr>
          </a:p>
        </p:txBody>
      </p:sp>
      <p:sp>
        <p:nvSpPr>
          <p:cNvPr id="185" name="Shape 5"/>
          <p:cNvSpPr/>
          <p:nvPr/>
        </p:nvSpPr>
        <p:spPr>
          <a:xfrm>
            <a:off x="6099120" y="2337840"/>
            <a:ext cx="5072760" cy="2736000"/>
          </a:xfrm>
          <a:prstGeom prst="roundRect">
            <a:avLst>
              <a:gd name="adj" fmla="val 2668"/>
            </a:avLst>
          </a:prstGeom>
          <a:noFill/>
          <a:ln w="6480">
            <a:solidFill>
              <a:srgbClr val="0E7C7B">
                <a:lumMod val="75000"/>
                <a:lumOff val="0"/>
              </a:srgbClr>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186" name="Text 6"/>
          <p:cNvSpPr/>
          <p:nvPr/>
        </p:nvSpPr>
        <p:spPr>
          <a:xfrm>
            <a:off x="812880" y="5385240"/>
            <a:ext cx="10464120" cy="481320"/>
          </a:xfrm>
          <a:prstGeom prst="rect">
            <a:avLst/>
          </a:prstGeom>
          <a:noFill/>
          <a:ln w="0">
            <a:noFill/>
          </a:ln>
        </p:spPr>
        <p:style>
          <a:lnRef idx="0"/>
          <a:fillRef idx="0"/>
          <a:effectRef idx="0"/>
          <a:fontRef idx="minor"/>
        </p:style>
        <p:txBody>
          <a:bodyPr lIns="0" tIns="0" rIns="0" bIns="0" anchor="t">
            <a:normAutofit/>
          </a:bodyPr>
          <a:p>
            <a:pPr defTabSz="914400">
              <a:lnSpc>
                <a:spcPts val="1806"/>
              </a:lnSpc>
              <a:tabLst>
                <a:tab pos="0" algn="l"/>
              </a:tabLst>
            </a:pPr>
            <a:r>
              <a:rPr lang="en-US" sz="1290" b="0" u="none" strike="noStrike">
                <a:solidFill>
                  <a:srgbClr val="4F5B66"/>
                </a:solidFill>
                <a:effectLst/>
                <a:uFillTx/>
                <a:latin typeface="DM Sans"/>
                <a:ea typeface="DM Sans"/>
              </a:rPr>
              <a:t>Larger networks do not charge more: Charge+ is among the biggest and cheaper than SP Mobility. 74% of points were available, and Central has the fastest charging points at 30 kW on average. </a:t>
            </a:r>
            <a:endParaRPr lang="en-GB" sz="1290" b="0" u="none" strike="noStrike">
              <a:solidFill>
                <a:srgbClr val="000000"/>
              </a:solidFill>
              <a:effectLst/>
              <a:uFillTx/>
              <a:latin typeface="Arial"/>
            </a:endParaRPr>
          </a:p>
        </p:txBody>
      </p:sp>
      <p:sp>
        <p:nvSpPr>
          <p:cNvPr id="187" name="Text 7"/>
          <p:cNvSpPr/>
          <p:nvPr/>
        </p:nvSpPr>
        <p:spPr>
          <a:xfrm>
            <a:off x="812880" y="6238440"/>
            <a:ext cx="22028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F5B66"/>
                </a:solidFill>
                <a:effectLst/>
                <a:uFillTx/>
                <a:latin typeface="DM Sans"/>
                <a:ea typeface="DM Sans"/>
              </a:rPr>
              <a:t>EV charging data platform</a:t>
            </a:r>
            <a:endParaRPr lang="en-GB" sz="1200" b="0" u="none" strike="noStrike">
              <a:solidFill>
                <a:srgbClr val="000000"/>
              </a:solidFill>
              <a:effectLst/>
              <a:uFillTx/>
              <a:latin typeface="Arial"/>
            </a:endParaRPr>
          </a:p>
        </p:txBody>
      </p:sp>
      <p:sp>
        <p:nvSpPr>
          <p:cNvPr id="188" name="Text 8"/>
          <p:cNvSpPr/>
          <p:nvPr/>
        </p:nvSpPr>
        <p:spPr>
          <a:xfrm>
            <a:off x="11284200" y="6238440"/>
            <a:ext cx="145080" cy="237960"/>
          </a:xfrm>
          <a:prstGeom prst="rect">
            <a:avLst/>
          </a:prstGeom>
          <a:noFill/>
          <a:ln w="0">
            <a:noFill/>
          </a:ln>
        </p:spPr>
        <p:style>
          <a:lnRef idx="0"/>
          <a:fillRef idx="0"/>
          <a:effectRef idx="0"/>
          <a:fontRef idx="minor"/>
        </p:style>
        <p:txBody>
          <a:bodyPr lIns="0" tIns="0" rIns="0" bIns="0" anchor="t">
            <a:normAutofit fontScale="85000" lnSpcReduction="9999"/>
          </a:bodyPr>
          <a:p>
            <a:pPr defTabSz="914400">
              <a:lnSpc>
                <a:spcPts val="1681"/>
              </a:lnSpc>
              <a:tabLst>
                <a:tab pos="0" algn="l"/>
              </a:tabLst>
            </a:pPr>
            <a:r>
              <a:rPr lang="en-US" sz="1200" b="0" u="none" strike="noStrike">
                <a:solidFill>
                  <a:srgbClr val="4F5B66"/>
                </a:solidFill>
                <a:effectLst/>
                <a:uFillTx/>
                <a:latin typeface="DM Sans"/>
                <a:ea typeface="DM Sans"/>
              </a:rPr>
              <a:t>11</a:t>
            </a:r>
            <a:endParaRPr lang="en-GB"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189" name="Text 70"/>
          <p:cNvSpPr/>
          <p:nvPr/>
        </p:nvSpPr>
        <p:spPr>
          <a:xfrm>
            <a:off x="837360" y="1257840"/>
            <a:ext cx="10882440" cy="267120"/>
          </a:xfrm>
          <a:prstGeom prst="rect">
            <a:avLst/>
          </a:prstGeom>
          <a:noFill/>
          <a:ln w="0">
            <a:noFill/>
          </a:ln>
        </p:spPr>
        <p:style>
          <a:lnRef idx="0"/>
          <a:fillRef idx="0"/>
          <a:effectRef idx="0"/>
          <a:fontRef idx="minor"/>
        </p:style>
        <p:txBody>
          <a:bodyPr numCol="1" spcCol="216000" lIns="0" tIns="0" rIns="0" bIns="0" anchor="t">
            <a:noAutofit/>
          </a:bodyPr>
          <a:p>
            <a:pPr defTabSz="914400">
              <a:lnSpc>
                <a:spcPct val="100000"/>
              </a:lnSpc>
              <a:tabLst>
                <a:tab pos="0" algn="l"/>
              </a:tabLst>
            </a:pPr>
            <a:r>
              <a:rPr lang="en-US" sz="1370" b="1" u="none" spc="37" strike="noStrike">
                <a:solidFill>
                  <a:srgbClr val="0E7C7B"/>
                </a:solidFill>
                <a:effectLst/>
                <a:uFillTx/>
                <a:latin typeface="DM Sans"/>
                <a:ea typeface="DM Sans"/>
              </a:rPr>
              <a:t>Linking EV charging points to residential carparks using location and address evidence</a:t>
            </a:r>
            <a:endParaRPr lang="en-GB" sz="1370" b="0" u="none" strike="noStrike">
              <a:solidFill>
                <a:srgbClr val="000000"/>
              </a:solidFill>
              <a:effectLst/>
              <a:uFillTx/>
              <a:latin typeface="Arial"/>
            </a:endParaRPr>
          </a:p>
        </p:txBody>
      </p:sp>
      <p:sp>
        <p:nvSpPr>
          <p:cNvPr id="190" name="PlaceHolder 1"/>
          <p:cNvSpPr>
            <a:spLocks noGrp="1"/>
          </p:cNvSpPr>
          <p:nvPr>
            <p:ph type="title"/>
          </p:nvPr>
        </p:nvSpPr>
        <p:spPr>
          <a:xfrm>
            <a:off x="812880" y="534960"/>
            <a:ext cx="10882440" cy="514440"/>
          </a:xfrm>
          <a:prstGeom prst="rect">
            <a:avLst/>
          </a:prstGeom>
          <a:noFill/>
          <a:ln w="0">
            <a:noFill/>
          </a:ln>
        </p:spPr>
        <p:txBody>
          <a:bodyPr numCol="1" spcCol="216000" lIns="0" tIns="0" rIns="0" bIns="0" anchor="t">
            <a:noAutofit/>
          </a:bodyPr>
          <a:p>
            <a:pPr indent="0" algn="l" defTabSz="914400">
              <a:lnSpc>
                <a:spcPct val="115000"/>
              </a:lnSpc>
              <a:buNone/>
              <a:tabLst>
                <a:tab pos="0" algn="l"/>
              </a:tabLst>
            </a:pPr>
            <a:r>
              <a:rPr lang="en-GB" sz="3309" b="1" u="none" strike="noStrike">
                <a:solidFill>
                  <a:schemeClr val="dk1"/>
                </a:solidFill>
                <a:effectLst/>
                <a:uFillTx/>
                <a:latin typeface="DM Sans"/>
                <a:ea typeface="DM Sans"/>
              </a:rPr>
              <a:t>From Islandwide Charging Data to HDB Carparks</a:t>
            </a:r>
            <a:endParaRPr lang="en-US" sz="3309" b="0" u="none" strike="noStrike">
              <a:solidFill>
                <a:schemeClr val="dk1"/>
              </a:solidFill>
              <a:effectLst/>
              <a:uFillTx/>
              <a:latin typeface="Arial"/>
            </a:endParaRPr>
          </a:p>
        </p:txBody>
      </p:sp>
      <p:sp>
        <p:nvSpPr>
          <p:cNvPr id="191" name="Text 72"/>
          <p:cNvSpPr/>
          <p:nvPr/>
        </p:nvSpPr>
        <p:spPr>
          <a:xfrm>
            <a:off x="812880" y="1875240"/>
            <a:ext cx="354960" cy="354960"/>
          </a:xfrm>
          <a:custGeom>
            <a:avLst/>
            <a:gdLst>
              <a:gd name="textAreaLeft" fmla="*/ 0 w 354960"/>
              <a:gd name="textAreaRight" fmla="*/ 128016000 w 354960"/>
              <a:gd name="textAreaTop" fmla="*/ 0 h 354960"/>
              <a:gd name="textAreaBottom" fmla="*/ 128016000 h 354960"/>
            </a:gdLst>
            <a:ahLst/>
            <a:cxnLst/>
            <a:rect l="textAreaLeft" t="textAreaTop" r="textAreaRight" b="textAreaBottom"/>
            <a:pathLst>
              <a:path w="355600" h="355600">
                <a:moveTo>
                  <a:pt x="177800" y="0"/>
                </a:moveTo>
                <a:cubicBezTo>
                  <a:pt x="224937" y="0"/>
                  <a:pt x="270192" y="18745"/>
                  <a:pt x="303524" y="52076"/>
                </a:cubicBezTo>
                <a:cubicBezTo>
                  <a:pt x="336855" y="85408"/>
                  <a:pt x="355600" y="130663"/>
                  <a:pt x="355600" y="177800"/>
                </a:cubicBezTo>
                <a:cubicBezTo>
                  <a:pt x="355600" y="224937"/>
                  <a:pt x="336855" y="270192"/>
                  <a:pt x="303524" y="303524"/>
                </a:cubicBezTo>
                <a:cubicBezTo>
                  <a:pt x="270192" y="336855"/>
                  <a:pt x="224937" y="355600"/>
                  <a:pt x="177800" y="355600"/>
                </a:cubicBezTo>
                <a:cubicBezTo>
                  <a:pt x="130663" y="355600"/>
                  <a:pt x="85408" y="336855"/>
                  <a:pt x="52076" y="303524"/>
                </a:cubicBezTo>
                <a:cubicBezTo>
                  <a:pt x="18745" y="270192"/>
                  <a:pt x="0" y="224937"/>
                  <a:pt x="0" y="177800"/>
                </a:cubicBezTo>
                <a:cubicBezTo>
                  <a:pt x="0" y="130663"/>
                  <a:pt x="18745" y="85408"/>
                  <a:pt x="52076" y="52076"/>
                </a:cubicBezTo>
                <a:cubicBezTo>
                  <a:pt x="85408" y="18745"/>
                  <a:pt x="130663" y="0"/>
                  <a:pt x="177800" y="0"/>
                </a:cubicBezTo>
                <a:close/>
              </a:path>
            </a:pathLst>
          </a:custGeom>
          <a:solidFill>
            <a:srgbClr val="0E7C7B"/>
          </a:solidFill>
          <a:ln w="0">
            <a:noFill/>
          </a:ln>
        </p:spPr>
        <p:style>
          <a:lnRef idx="0"/>
          <a:fillRef idx="0"/>
          <a:effectRef idx="0"/>
          <a:fontRef idx="minor"/>
        </p:style>
        <p:txBody>
          <a:bodyPr numCol="1" spcCol="216000" lIns="0" tIns="0" rIns="0" bIns="0" anchor="t">
            <a:noAutofit/>
          </a:bodyPr>
          <a:p>
            <a:pPr algn="ctr" defTabSz="914400">
              <a:lnSpc>
                <a:spcPts val="2381"/>
              </a:lnSpc>
              <a:tabLst>
                <a:tab pos="0" algn="l"/>
              </a:tabLst>
            </a:pPr>
            <a:r>
              <a:rPr lang="en-US" sz="1700" b="1" u="none" strike="noStrike">
                <a:solidFill>
                  <a:srgbClr val="FFFFFF"/>
                </a:solidFill>
                <a:effectLst/>
                <a:uFillTx/>
                <a:latin typeface="DM Sans"/>
                <a:ea typeface="DM Sans"/>
              </a:rPr>
              <a:t>1</a:t>
            </a:r>
            <a:endParaRPr lang="en-GB" sz="1700" b="0" u="none" strike="noStrike">
              <a:solidFill>
                <a:srgbClr val="FFFFFF"/>
              </a:solidFill>
              <a:effectLst/>
              <a:uFillTx/>
              <a:latin typeface="Arial"/>
            </a:endParaRPr>
          </a:p>
        </p:txBody>
      </p:sp>
      <p:sp>
        <p:nvSpPr>
          <p:cNvPr id="192" name="Text 73"/>
          <p:cNvSpPr/>
          <p:nvPr/>
        </p:nvSpPr>
        <p:spPr>
          <a:xfrm>
            <a:off x="1320840" y="1875240"/>
            <a:ext cx="4256280" cy="28368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2041"/>
              </a:lnSpc>
              <a:tabLst>
                <a:tab pos="0" algn="l"/>
              </a:tabLst>
            </a:pPr>
            <a:r>
              <a:rPr lang="en-US" sz="1700" b="1" u="none" strike="noStrike">
                <a:solidFill>
                  <a:srgbClr val="14232E"/>
                </a:solidFill>
                <a:effectLst/>
                <a:uFillTx/>
                <a:latin typeface="DM Sans"/>
                <a:ea typeface="DM Sans"/>
              </a:rPr>
              <a:t>Close by</a:t>
            </a:r>
            <a:endParaRPr lang="en-GB" sz="1700" b="0" u="none" strike="noStrike">
              <a:solidFill>
                <a:srgbClr val="000000"/>
              </a:solidFill>
              <a:effectLst/>
              <a:uFillTx/>
              <a:latin typeface="Arial"/>
            </a:endParaRPr>
          </a:p>
        </p:txBody>
      </p:sp>
      <p:sp>
        <p:nvSpPr>
          <p:cNvPr id="193" name="Text 74"/>
          <p:cNvSpPr/>
          <p:nvPr/>
        </p:nvSpPr>
        <p:spPr>
          <a:xfrm>
            <a:off x="1320840" y="2172240"/>
            <a:ext cx="4256280" cy="47052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755"/>
              </a:lnSpc>
              <a:tabLst>
                <a:tab pos="0" algn="l"/>
              </a:tabLst>
            </a:pPr>
            <a:r>
              <a:rPr lang="en-US" sz="1300" b="0" u="none" strike="noStrike">
                <a:solidFill>
                  <a:srgbClr val="4F5B66"/>
                </a:solidFill>
                <a:effectLst/>
                <a:uFillTx/>
                <a:latin typeface="DM Sans"/>
                <a:ea typeface="DM Sans"/>
              </a:rPr>
              <a:t>The charging point is within 50 metres of the HDB carpark.</a:t>
            </a:r>
            <a:endParaRPr lang="en-GB" sz="1300" b="0" u="none" strike="noStrike">
              <a:solidFill>
                <a:srgbClr val="000000"/>
              </a:solidFill>
              <a:effectLst/>
              <a:uFillTx/>
              <a:latin typeface="Arial"/>
            </a:endParaRPr>
          </a:p>
        </p:txBody>
      </p:sp>
      <p:sp>
        <p:nvSpPr>
          <p:cNvPr id="194" name="Text 75"/>
          <p:cNvSpPr/>
          <p:nvPr/>
        </p:nvSpPr>
        <p:spPr>
          <a:xfrm>
            <a:off x="812880" y="2795760"/>
            <a:ext cx="354960" cy="354960"/>
          </a:xfrm>
          <a:custGeom>
            <a:avLst/>
            <a:gdLst>
              <a:gd name="textAreaLeft" fmla="*/ 0 w 354960"/>
              <a:gd name="textAreaRight" fmla="*/ 128016000 w 354960"/>
              <a:gd name="textAreaTop" fmla="*/ 0 h 354960"/>
              <a:gd name="textAreaBottom" fmla="*/ 128016000 h 354960"/>
            </a:gdLst>
            <a:ahLst/>
            <a:cxnLst/>
            <a:rect l="textAreaLeft" t="textAreaTop" r="textAreaRight" b="textAreaBottom"/>
            <a:pathLst>
              <a:path w="355600" h="355600">
                <a:moveTo>
                  <a:pt x="177800" y="0"/>
                </a:moveTo>
                <a:cubicBezTo>
                  <a:pt x="224937" y="0"/>
                  <a:pt x="270192" y="18745"/>
                  <a:pt x="303524" y="52076"/>
                </a:cubicBezTo>
                <a:cubicBezTo>
                  <a:pt x="336855" y="85408"/>
                  <a:pt x="355600" y="130663"/>
                  <a:pt x="355600" y="177800"/>
                </a:cubicBezTo>
                <a:cubicBezTo>
                  <a:pt x="355600" y="224937"/>
                  <a:pt x="336855" y="270192"/>
                  <a:pt x="303524" y="303524"/>
                </a:cubicBezTo>
                <a:cubicBezTo>
                  <a:pt x="270192" y="336855"/>
                  <a:pt x="224937" y="355600"/>
                  <a:pt x="177800" y="355600"/>
                </a:cubicBezTo>
                <a:cubicBezTo>
                  <a:pt x="130663" y="355600"/>
                  <a:pt x="85408" y="336855"/>
                  <a:pt x="52076" y="303524"/>
                </a:cubicBezTo>
                <a:cubicBezTo>
                  <a:pt x="18745" y="270192"/>
                  <a:pt x="0" y="224937"/>
                  <a:pt x="0" y="177800"/>
                </a:cubicBezTo>
                <a:cubicBezTo>
                  <a:pt x="0" y="130663"/>
                  <a:pt x="18745" y="85408"/>
                  <a:pt x="52076" y="52076"/>
                </a:cubicBezTo>
                <a:cubicBezTo>
                  <a:pt x="85408" y="18745"/>
                  <a:pt x="130663" y="0"/>
                  <a:pt x="177800" y="0"/>
                </a:cubicBezTo>
                <a:close/>
              </a:path>
            </a:pathLst>
          </a:custGeom>
          <a:solidFill>
            <a:srgbClr val="0E7C7B"/>
          </a:solidFill>
          <a:ln w="0">
            <a:noFill/>
          </a:ln>
        </p:spPr>
        <p:style>
          <a:lnRef idx="0"/>
          <a:fillRef idx="0"/>
          <a:effectRef idx="0"/>
          <a:fontRef idx="minor"/>
        </p:style>
        <p:txBody>
          <a:bodyPr numCol="1" spcCol="216000" lIns="0" tIns="0" rIns="0" bIns="0" anchor="t">
            <a:noAutofit/>
          </a:bodyPr>
          <a:p>
            <a:pPr algn="ctr" defTabSz="914400">
              <a:lnSpc>
                <a:spcPts val="2381"/>
              </a:lnSpc>
              <a:tabLst>
                <a:tab pos="0" algn="l"/>
              </a:tabLst>
            </a:pPr>
            <a:r>
              <a:rPr lang="en-US" sz="1700" b="1" u="none" strike="noStrike">
                <a:solidFill>
                  <a:srgbClr val="FFFFFF"/>
                </a:solidFill>
                <a:effectLst/>
                <a:uFillTx/>
                <a:latin typeface="DM Sans"/>
                <a:ea typeface="DM Sans"/>
              </a:rPr>
              <a:t>2</a:t>
            </a:r>
            <a:endParaRPr lang="en-GB" sz="1700" b="0" u="none" strike="noStrike">
              <a:solidFill>
                <a:srgbClr val="FFFFFF"/>
              </a:solidFill>
              <a:effectLst/>
              <a:uFillTx/>
              <a:latin typeface="Arial"/>
            </a:endParaRPr>
          </a:p>
        </p:txBody>
      </p:sp>
      <p:sp>
        <p:nvSpPr>
          <p:cNvPr id="195" name="Text 76"/>
          <p:cNvSpPr/>
          <p:nvPr/>
        </p:nvSpPr>
        <p:spPr>
          <a:xfrm>
            <a:off x="1320840" y="2795760"/>
            <a:ext cx="4256280" cy="28368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2041"/>
              </a:lnSpc>
              <a:tabLst>
                <a:tab pos="0" algn="l"/>
              </a:tabLst>
            </a:pPr>
            <a:r>
              <a:rPr lang="en-US" sz="1700" b="1" u="none" strike="noStrike">
                <a:solidFill>
                  <a:srgbClr val="14232E"/>
                </a:solidFill>
                <a:effectLst/>
                <a:uFillTx/>
                <a:latin typeface="DM Sans"/>
                <a:ea typeface="DM Sans"/>
              </a:rPr>
              <a:t>Same address</a:t>
            </a:r>
            <a:endParaRPr lang="en-GB" sz="1700" b="0" u="none" strike="noStrike">
              <a:solidFill>
                <a:srgbClr val="000000"/>
              </a:solidFill>
              <a:effectLst/>
              <a:uFillTx/>
              <a:latin typeface="Arial"/>
            </a:endParaRPr>
          </a:p>
        </p:txBody>
      </p:sp>
      <p:sp>
        <p:nvSpPr>
          <p:cNvPr id="196" name="Text 77"/>
          <p:cNvSpPr/>
          <p:nvPr/>
        </p:nvSpPr>
        <p:spPr>
          <a:xfrm>
            <a:off x="1320840" y="3093120"/>
            <a:ext cx="4256280" cy="506160"/>
          </a:xfrm>
          <a:prstGeom prst="rect">
            <a:avLst/>
          </a:prstGeom>
          <a:noFill/>
          <a:ln w="0">
            <a:noFill/>
          </a:ln>
        </p:spPr>
        <p:style>
          <a:lnRef idx="0"/>
          <a:fillRef idx="0"/>
          <a:effectRef idx="0"/>
          <a:fontRef idx="minor"/>
        </p:style>
        <p:txBody>
          <a:bodyPr numCol="1" spcCol="216000" lIns="0" tIns="0" rIns="0" bIns="0" anchor="t">
            <a:noAutofit/>
          </a:bodyPr>
          <a:p>
            <a:pPr defTabSz="914400">
              <a:lnSpc>
                <a:spcPct val="100000"/>
              </a:lnSpc>
              <a:tabLst>
                <a:tab pos="0" algn="l"/>
              </a:tabLst>
            </a:pPr>
            <a:r>
              <a:rPr lang="en-US" sz="1300" b="0" u="none" strike="noStrike">
                <a:solidFill>
                  <a:srgbClr val="4F5B66"/>
                </a:solidFill>
                <a:effectLst/>
                <a:uFillTx/>
                <a:latin typeface="DM Sans"/>
                <a:ea typeface="DM Sans"/>
              </a:rPr>
              <a:t>Addresses are tidied so that “BLK 186 BISHAN ST 13” matches “186 BISHAN STREET 13” and block range “184–187”. </a:t>
            </a:r>
            <a:endParaRPr lang="en-GB" sz="1300" b="0" u="none" strike="noStrike">
              <a:solidFill>
                <a:srgbClr val="000000"/>
              </a:solidFill>
              <a:effectLst/>
              <a:uFillTx/>
              <a:latin typeface="Arial"/>
            </a:endParaRPr>
          </a:p>
        </p:txBody>
      </p:sp>
      <p:sp>
        <p:nvSpPr>
          <p:cNvPr id="197" name="Shape 8"/>
          <p:cNvSpPr/>
          <p:nvPr/>
        </p:nvSpPr>
        <p:spPr>
          <a:xfrm>
            <a:off x="5809680" y="1875240"/>
            <a:ext cx="5568840" cy="824040"/>
          </a:xfrm>
          <a:prstGeom prst="roundRect">
            <a:avLst>
              <a:gd name="adj" fmla="val 10778"/>
            </a:avLst>
          </a:prstGeom>
          <a:solidFill>
            <a:srgbClr val="E3F1F0"/>
          </a:solidFill>
          <a:ln w="0">
            <a:noFill/>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198" name="Shape 9"/>
          <p:cNvSpPr/>
          <p:nvPr/>
        </p:nvSpPr>
        <p:spPr>
          <a:xfrm>
            <a:off x="5809680" y="1875240"/>
            <a:ext cx="5568840" cy="824040"/>
          </a:xfrm>
          <a:custGeom>
            <a:avLst/>
            <a:gdLst>
              <a:gd name="textAreaLeft" fmla="*/ 0 w 5568840"/>
              <a:gd name="textAreaRight" fmla="*/ 2005050600 w 5568840"/>
              <a:gd name="textAreaTop" fmla="*/ 0 h 824040"/>
              <a:gd name="textAreaBottom" fmla="*/ 296951400 h 824040"/>
            </a:gdLst>
            <a:ahLst/>
            <a:cxnLst/>
            <a:rect l="textAreaLeft" t="textAreaTop" r="textAreaRight" b="textAreaBottom"/>
            <a:pathLst>
              <a:path w="5569585" h="824865">
                <a:moveTo>
                  <a:pt x="88900" y="824865"/>
                </a:moveTo>
                <a:cubicBezTo>
                  <a:pt x="65332" y="824865"/>
                  <a:pt x="42704" y="815492"/>
                  <a:pt x="26038" y="798825"/>
                </a:cubicBezTo>
                <a:cubicBezTo>
                  <a:pt x="9372" y="782159"/>
                  <a:pt x="0" y="759531"/>
                  <a:pt x="0" y="735962"/>
                </a:cubicBezTo>
                <a:lnTo>
                  <a:pt x="0" y="88902"/>
                </a:lnTo>
                <a:cubicBezTo>
                  <a:pt x="0" y="65333"/>
                  <a:pt x="9372" y="42705"/>
                  <a:pt x="26038" y="26039"/>
                </a:cubicBezTo>
                <a:cubicBezTo>
                  <a:pt x="42704" y="9372"/>
                  <a:pt x="65332" y="0"/>
                  <a:pt x="88900" y="0"/>
                </a:cubicBezTo>
                <a:cubicBezTo>
                  <a:pt x="82166" y="0"/>
                  <a:pt x="75701" y="9372"/>
                  <a:pt x="70940" y="26039"/>
                </a:cubicBezTo>
                <a:cubicBezTo>
                  <a:pt x="66178" y="42705"/>
                  <a:pt x="63500" y="65333"/>
                  <a:pt x="63500" y="88902"/>
                </a:cubicBezTo>
                <a:lnTo>
                  <a:pt x="63500" y="735962"/>
                </a:lnTo>
                <a:cubicBezTo>
                  <a:pt x="63500" y="759531"/>
                  <a:pt x="66178" y="782159"/>
                  <a:pt x="70940" y="798825"/>
                </a:cubicBezTo>
                <a:cubicBezTo>
                  <a:pt x="75701" y="815492"/>
                  <a:pt x="82166" y="824865"/>
                  <a:pt x="88900" y="824865"/>
                </a:cubicBezTo>
                <a:close/>
              </a:path>
            </a:pathLst>
          </a:custGeom>
          <a:solidFill>
            <a:srgbClr val="E3F1F0"/>
          </a:solidFill>
          <a:ln w="0">
            <a:noFill/>
          </a:ln>
        </p:spPr>
        <p:style>
          <a:lnRef idx="0"/>
          <a:fillRef idx="0"/>
          <a:effectRef idx="0"/>
          <a:fontRef idx="minor"/>
        </p:style>
        <p:txBody>
          <a:bodyPr lIns="90000" tIns="45000" rIns="90000" bIns="45000" anchor="t">
            <a:noAutofit/>
          </a:bodyPr>
          <a:p>
            <a:pPr/>
            <a:endParaRPr lang="en-GB" sz="1800" b="0" u="none" strike="noStrike">
              <a:solidFill>
                <a:srgbClr val="FFFFFF"/>
              </a:solidFill>
              <a:effectLst/>
              <a:uFillTx/>
              <a:latin typeface="Arial"/>
            </a:endParaRPr>
          </a:p>
        </p:txBody>
      </p:sp>
      <p:sp>
        <p:nvSpPr>
          <p:cNvPr id="199" name="Text 78"/>
          <p:cNvSpPr/>
          <p:nvPr/>
        </p:nvSpPr>
        <p:spPr>
          <a:xfrm>
            <a:off x="6049800" y="2039040"/>
            <a:ext cx="456480" cy="522360"/>
          </a:xfrm>
          <a:prstGeom prst="rect">
            <a:avLst/>
          </a:prstGeom>
          <a:noFill/>
          <a:ln w="0">
            <a:noFill/>
          </a:ln>
        </p:spPr>
        <p:style>
          <a:lnRef idx="0"/>
          <a:fillRef idx="0"/>
          <a:effectRef idx="0"/>
          <a:fontRef idx="minor"/>
        </p:style>
        <p:txBody>
          <a:bodyPr numCol="1" spcCol="216000" lIns="0" tIns="0" rIns="0" bIns="0" anchor="t">
            <a:noAutofit/>
          </a:bodyPr>
          <a:p>
            <a:pPr algn="ctr" defTabSz="914400">
              <a:lnSpc>
                <a:spcPts val="3920"/>
              </a:lnSpc>
              <a:tabLst>
                <a:tab pos="0" algn="l"/>
              </a:tabLst>
            </a:pPr>
            <a:r>
              <a:rPr lang="en-US" sz="2800" b="1" u="none" strike="noStrike">
                <a:solidFill>
                  <a:srgbClr val="0E7C7B"/>
                </a:solidFill>
                <a:effectLst/>
                <a:uFillTx/>
                <a:latin typeface="DM Sans"/>
                <a:ea typeface="DM Sans"/>
              </a:rPr>
              <a:t>✓</a:t>
            </a:r>
            <a:endParaRPr lang="en-GB" sz="2800" b="0" u="none" strike="noStrike">
              <a:solidFill>
                <a:srgbClr val="000000"/>
              </a:solidFill>
              <a:effectLst/>
              <a:uFillTx/>
              <a:latin typeface="Arial"/>
            </a:endParaRPr>
          </a:p>
        </p:txBody>
      </p:sp>
      <p:sp>
        <p:nvSpPr>
          <p:cNvPr id="200" name="Text 79"/>
          <p:cNvSpPr/>
          <p:nvPr/>
        </p:nvSpPr>
        <p:spPr>
          <a:xfrm>
            <a:off x="6659280" y="2027520"/>
            <a:ext cx="3057480" cy="28368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2041"/>
              </a:lnSpc>
              <a:tabLst>
                <a:tab pos="0" algn="l"/>
              </a:tabLst>
            </a:pPr>
            <a:r>
              <a:rPr lang="en-US" sz="1700" b="1" u="none" strike="noStrike">
                <a:solidFill>
                  <a:srgbClr val="14232E"/>
                </a:solidFill>
                <a:effectLst/>
                <a:uFillTx/>
                <a:latin typeface="DM Sans"/>
                <a:ea typeface="DM Sans"/>
              </a:rPr>
              <a:t>Strong match</a:t>
            </a:r>
            <a:endParaRPr lang="en-GB" sz="1700" b="0" u="none" strike="noStrike">
              <a:solidFill>
                <a:srgbClr val="000000"/>
              </a:solidFill>
              <a:effectLst/>
              <a:uFillTx/>
              <a:latin typeface="Arial"/>
            </a:endParaRPr>
          </a:p>
        </p:txBody>
      </p:sp>
      <p:sp>
        <p:nvSpPr>
          <p:cNvPr id="201" name="Text 80"/>
          <p:cNvSpPr/>
          <p:nvPr/>
        </p:nvSpPr>
        <p:spPr>
          <a:xfrm>
            <a:off x="6659280" y="2324880"/>
            <a:ext cx="3562200" cy="24768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755"/>
              </a:lnSpc>
              <a:tabLst>
                <a:tab pos="0" algn="l"/>
              </a:tabLst>
            </a:pPr>
            <a:r>
              <a:rPr lang="en-US" sz="1300" b="0" u="none" strike="noStrike">
                <a:solidFill>
                  <a:srgbClr val="4F5B66"/>
                </a:solidFill>
                <a:effectLst/>
                <a:uFillTx/>
                <a:latin typeface="DM Sans"/>
                <a:ea typeface="DM Sans"/>
              </a:rPr>
              <a:t>Within 50 m and the address matches</a:t>
            </a:r>
            <a:endParaRPr lang="en-GB" sz="1300" b="0" u="none" strike="noStrike">
              <a:solidFill>
                <a:srgbClr val="000000"/>
              </a:solidFill>
              <a:effectLst/>
              <a:uFillTx/>
              <a:latin typeface="Arial"/>
            </a:endParaRPr>
          </a:p>
        </p:txBody>
      </p:sp>
      <p:sp>
        <p:nvSpPr>
          <p:cNvPr id="202" name="Shape 13"/>
          <p:cNvSpPr/>
          <p:nvPr/>
        </p:nvSpPr>
        <p:spPr>
          <a:xfrm>
            <a:off x="5809680" y="2801520"/>
            <a:ext cx="5568840" cy="810360"/>
          </a:xfrm>
          <a:prstGeom prst="roundRect">
            <a:avLst>
              <a:gd name="adj" fmla="val 8485"/>
            </a:avLst>
          </a:prstGeom>
          <a:solidFill>
            <a:srgbClr val="FBEBD6"/>
          </a:solidFill>
          <a:ln w="0">
            <a:noFill/>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203" name="Shape 14"/>
          <p:cNvSpPr/>
          <p:nvPr/>
        </p:nvSpPr>
        <p:spPr>
          <a:xfrm>
            <a:off x="5807520" y="2801520"/>
            <a:ext cx="5571000" cy="810360"/>
          </a:xfrm>
          <a:custGeom>
            <a:avLst/>
            <a:gdLst>
              <a:gd name="textAreaLeft" fmla="*/ 0 w 5571000"/>
              <a:gd name="textAreaRight" fmla="*/ 2005050600 w 5571000"/>
              <a:gd name="textAreaTop" fmla="*/ 0 h 810360"/>
              <a:gd name="textAreaBottom" fmla="*/ 377190000 h 810360"/>
            </a:gdLst>
            <a:ahLst/>
            <a:cxnLst/>
            <a:rect l="textAreaLeft" t="textAreaTop" r="textAreaRight" b="textAreaBottom"/>
            <a:pathLst>
              <a:path w="5569585" h="1047750">
                <a:moveTo>
                  <a:pt x="88900" y="1047750"/>
                </a:moveTo>
                <a:cubicBezTo>
                  <a:pt x="65332" y="1047750"/>
                  <a:pt x="42704" y="1038377"/>
                  <a:pt x="26038" y="1021711"/>
                </a:cubicBezTo>
                <a:cubicBezTo>
                  <a:pt x="9372" y="1005044"/>
                  <a:pt x="0" y="982416"/>
                  <a:pt x="0" y="958846"/>
                </a:cubicBezTo>
                <a:lnTo>
                  <a:pt x="0" y="88904"/>
                </a:lnTo>
                <a:cubicBezTo>
                  <a:pt x="0" y="65334"/>
                  <a:pt x="9372" y="42706"/>
                  <a:pt x="26038" y="26039"/>
                </a:cubicBezTo>
                <a:cubicBezTo>
                  <a:pt x="42704" y="9373"/>
                  <a:pt x="65332" y="0"/>
                  <a:pt x="88900" y="0"/>
                </a:cubicBezTo>
                <a:cubicBezTo>
                  <a:pt x="82166" y="0"/>
                  <a:pt x="75701" y="9373"/>
                  <a:pt x="70940" y="26039"/>
                </a:cubicBezTo>
                <a:cubicBezTo>
                  <a:pt x="66178" y="42706"/>
                  <a:pt x="63500" y="65334"/>
                  <a:pt x="63500" y="88904"/>
                </a:cubicBezTo>
                <a:lnTo>
                  <a:pt x="63500" y="958846"/>
                </a:lnTo>
                <a:cubicBezTo>
                  <a:pt x="63500" y="982416"/>
                  <a:pt x="66178" y="1005044"/>
                  <a:pt x="70940" y="1021711"/>
                </a:cubicBezTo>
                <a:cubicBezTo>
                  <a:pt x="75701" y="1038377"/>
                  <a:pt x="82166" y="1047750"/>
                  <a:pt x="88900" y="1047750"/>
                </a:cubicBezTo>
                <a:close/>
              </a:path>
            </a:pathLst>
          </a:custGeom>
          <a:solidFill>
            <a:srgbClr val="A85A00"/>
          </a:solidFill>
          <a:ln w="0">
            <a:noFill/>
          </a:ln>
        </p:spPr>
        <p:style>
          <a:lnRef idx="0"/>
          <a:fillRef idx="0"/>
          <a:effectRef idx="0"/>
          <a:fontRef idx="minor"/>
        </p:style>
        <p:txBody>
          <a:bodyPr lIns="90000" tIns="45000" rIns="90000" bIns="45000" anchor="t">
            <a:noAutofit/>
          </a:bodyPr>
          <a:p>
            <a:pPr/>
            <a:endParaRPr lang="en-GB" sz="1800" b="0" u="none" strike="noStrike">
              <a:solidFill>
                <a:srgbClr val="FFFFFF"/>
              </a:solidFill>
              <a:effectLst/>
              <a:uFillTx/>
              <a:latin typeface="Arial"/>
            </a:endParaRPr>
          </a:p>
        </p:txBody>
      </p:sp>
      <p:sp>
        <p:nvSpPr>
          <p:cNvPr id="204" name="Text 81"/>
          <p:cNvSpPr/>
          <p:nvPr/>
        </p:nvSpPr>
        <p:spPr>
          <a:xfrm>
            <a:off x="6049800" y="3076560"/>
            <a:ext cx="456480" cy="522360"/>
          </a:xfrm>
          <a:prstGeom prst="rect">
            <a:avLst/>
          </a:prstGeom>
          <a:noFill/>
          <a:ln w="0">
            <a:noFill/>
          </a:ln>
        </p:spPr>
        <p:style>
          <a:lnRef idx="0"/>
          <a:fillRef idx="0"/>
          <a:effectRef idx="0"/>
          <a:fontRef idx="minor"/>
        </p:style>
        <p:txBody>
          <a:bodyPr numCol="1" spcCol="216000" lIns="0" tIns="0" rIns="0" bIns="0" anchor="t">
            <a:noAutofit/>
          </a:bodyPr>
          <a:p>
            <a:pPr algn="ctr" defTabSz="914400">
              <a:lnSpc>
                <a:spcPts val="3920"/>
              </a:lnSpc>
              <a:tabLst>
                <a:tab pos="0" algn="l"/>
              </a:tabLst>
            </a:pPr>
            <a:r>
              <a:rPr lang="en-US" sz="2800" b="1" u="none" strike="noStrike">
                <a:solidFill>
                  <a:srgbClr val="A85A00"/>
                </a:solidFill>
                <a:effectLst/>
                <a:uFillTx/>
                <a:latin typeface="DM Sans"/>
                <a:ea typeface="DM Sans"/>
              </a:rPr>
              <a:t>!</a:t>
            </a:r>
            <a:endParaRPr lang="en-GB" sz="2800" b="0" u="none" strike="noStrike">
              <a:solidFill>
                <a:srgbClr val="000000"/>
              </a:solidFill>
              <a:effectLst/>
              <a:uFillTx/>
              <a:latin typeface="Arial"/>
            </a:endParaRPr>
          </a:p>
        </p:txBody>
      </p:sp>
      <p:sp>
        <p:nvSpPr>
          <p:cNvPr id="205" name="Text 82"/>
          <p:cNvSpPr/>
          <p:nvPr/>
        </p:nvSpPr>
        <p:spPr>
          <a:xfrm>
            <a:off x="6659280" y="2954160"/>
            <a:ext cx="4651200" cy="28368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2041"/>
              </a:lnSpc>
              <a:tabLst>
                <a:tab pos="0" algn="l"/>
              </a:tabLst>
            </a:pPr>
            <a:r>
              <a:rPr lang="en-US" sz="1700" b="1" u="none" strike="noStrike">
                <a:solidFill>
                  <a:srgbClr val="14232E"/>
                </a:solidFill>
                <a:effectLst/>
                <a:uFillTx/>
                <a:latin typeface="DM Sans"/>
                <a:ea typeface="DM Sans"/>
              </a:rPr>
              <a:t>Nearby — needs verification</a:t>
            </a:r>
            <a:endParaRPr lang="en-GB" sz="1700" b="0" u="none" strike="noStrike">
              <a:solidFill>
                <a:srgbClr val="000000"/>
              </a:solidFill>
              <a:effectLst/>
              <a:uFillTx/>
              <a:latin typeface="Arial"/>
            </a:endParaRPr>
          </a:p>
        </p:txBody>
      </p:sp>
      <p:sp>
        <p:nvSpPr>
          <p:cNvPr id="206" name="Text 83"/>
          <p:cNvSpPr/>
          <p:nvPr/>
        </p:nvSpPr>
        <p:spPr>
          <a:xfrm>
            <a:off x="6659280" y="3251160"/>
            <a:ext cx="4651200" cy="30276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755"/>
              </a:lnSpc>
              <a:tabLst>
                <a:tab pos="0" algn="l"/>
              </a:tabLst>
            </a:pPr>
            <a:r>
              <a:rPr lang="en-US" sz="1300" b="0" u="none" strike="noStrike">
                <a:solidFill>
                  <a:srgbClr val="4F5B66"/>
                </a:solidFill>
                <a:effectLst/>
                <a:uFillTx/>
                <a:latin typeface="DM Sans"/>
                <a:ea typeface="DM Sans"/>
              </a:rPr>
              <a:t>Within 50 m but the address does not match</a:t>
            </a:r>
            <a:endParaRPr lang="en-GB" sz="1300" b="0" u="none" strike="noStrike">
              <a:solidFill>
                <a:srgbClr val="000000"/>
              </a:solidFill>
              <a:effectLst/>
              <a:uFillTx/>
              <a:latin typeface="Arial"/>
            </a:endParaRPr>
          </a:p>
        </p:txBody>
      </p:sp>
      <p:sp>
        <p:nvSpPr>
          <p:cNvPr id="207" name="Shape 18"/>
          <p:cNvSpPr/>
          <p:nvPr/>
        </p:nvSpPr>
        <p:spPr>
          <a:xfrm>
            <a:off x="5805360" y="3729600"/>
            <a:ext cx="5568840" cy="810360"/>
          </a:xfrm>
          <a:prstGeom prst="roundRect">
            <a:avLst>
              <a:gd name="adj" fmla="val 10778"/>
            </a:avLst>
          </a:prstGeom>
          <a:solidFill>
            <a:srgbClr val="F6E0DE"/>
          </a:solidFill>
          <a:ln w="0">
            <a:noFill/>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208" name="Shape 19"/>
          <p:cNvSpPr/>
          <p:nvPr/>
        </p:nvSpPr>
        <p:spPr>
          <a:xfrm>
            <a:off x="5803560" y="3729600"/>
            <a:ext cx="5571000" cy="824040"/>
          </a:xfrm>
          <a:custGeom>
            <a:avLst/>
            <a:gdLst>
              <a:gd name="textAreaLeft" fmla="*/ 0 w 5571000"/>
              <a:gd name="textAreaRight" fmla="*/ 2005050600 w 5571000"/>
              <a:gd name="textAreaTop" fmla="*/ 0 h 824040"/>
              <a:gd name="textAreaBottom" fmla="*/ 296951400 h 824040"/>
            </a:gdLst>
            <a:ahLst/>
            <a:cxnLst/>
            <a:rect l="textAreaLeft" t="textAreaTop" r="textAreaRight" b="textAreaBottom"/>
            <a:pathLst>
              <a:path w="5569585" h="824865">
                <a:moveTo>
                  <a:pt x="88900" y="824865"/>
                </a:moveTo>
                <a:cubicBezTo>
                  <a:pt x="65332" y="824865"/>
                  <a:pt x="42704" y="815492"/>
                  <a:pt x="26038" y="798825"/>
                </a:cubicBezTo>
                <a:cubicBezTo>
                  <a:pt x="9372" y="782159"/>
                  <a:pt x="0" y="759531"/>
                  <a:pt x="0" y="735962"/>
                </a:cubicBezTo>
                <a:lnTo>
                  <a:pt x="0" y="88902"/>
                </a:lnTo>
                <a:cubicBezTo>
                  <a:pt x="0" y="65333"/>
                  <a:pt x="9372" y="42705"/>
                  <a:pt x="26038" y="26039"/>
                </a:cubicBezTo>
                <a:cubicBezTo>
                  <a:pt x="42704" y="9372"/>
                  <a:pt x="65332" y="0"/>
                  <a:pt x="88900" y="0"/>
                </a:cubicBezTo>
                <a:cubicBezTo>
                  <a:pt x="82166" y="0"/>
                  <a:pt x="75701" y="9372"/>
                  <a:pt x="70940" y="26039"/>
                </a:cubicBezTo>
                <a:cubicBezTo>
                  <a:pt x="66178" y="42705"/>
                  <a:pt x="63500" y="65333"/>
                  <a:pt x="63500" y="88902"/>
                </a:cubicBezTo>
                <a:lnTo>
                  <a:pt x="63500" y="735962"/>
                </a:lnTo>
                <a:cubicBezTo>
                  <a:pt x="63500" y="759531"/>
                  <a:pt x="66178" y="782159"/>
                  <a:pt x="70940" y="798825"/>
                </a:cubicBezTo>
                <a:cubicBezTo>
                  <a:pt x="75701" y="815492"/>
                  <a:pt x="82166" y="824865"/>
                  <a:pt x="88900" y="824865"/>
                </a:cubicBezTo>
                <a:close/>
              </a:path>
            </a:pathLst>
          </a:custGeom>
          <a:solidFill>
            <a:srgbClr val="B3261E"/>
          </a:solidFill>
          <a:ln w="0">
            <a:noFill/>
          </a:ln>
        </p:spPr>
        <p:style>
          <a:lnRef idx="0"/>
          <a:fillRef idx="0"/>
          <a:effectRef idx="0"/>
          <a:fontRef idx="minor"/>
        </p:style>
        <p:txBody>
          <a:bodyPr lIns="90000" tIns="45000" rIns="90000" bIns="45000" anchor="t">
            <a:noAutofit/>
          </a:bodyPr>
          <a:p>
            <a:pPr/>
            <a:endParaRPr lang="en-GB" sz="1800" b="0" u="none" strike="noStrike">
              <a:solidFill>
                <a:srgbClr val="FFFFFF"/>
              </a:solidFill>
              <a:effectLst/>
              <a:uFillTx/>
              <a:latin typeface="Arial"/>
            </a:endParaRPr>
          </a:p>
        </p:txBody>
      </p:sp>
      <p:sp>
        <p:nvSpPr>
          <p:cNvPr id="209" name="Text 84"/>
          <p:cNvSpPr/>
          <p:nvPr/>
        </p:nvSpPr>
        <p:spPr>
          <a:xfrm>
            <a:off x="6045480" y="3893400"/>
            <a:ext cx="456480" cy="522360"/>
          </a:xfrm>
          <a:prstGeom prst="rect">
            <a:avLst/>
          </a:prstGeom>
          <a:noFill/>
          <a:ln w="0">
            <a:noFill/>
          </a:ln>
        </p:spPr>
        <p:style>
          <a:lnRef idx="0"/>
          <a:fillRef idx="0"/>
          <a:effectRef idx="0"/>
          <a:fontRef idx="minor"/>
        </p:style>
        <p:txBody>
          <a:bodyPr numCol="1" spcCol="216000" lIns="0" tIns="0" rIns="0" bIns="0" anchor="t">
            <a:noAutofit/>
          </a:bodyPr>
          <a:p>
            <a:pPr algn="ctr" defTabSz="914400">
              <a:lnSpc>
                <a:spcPts val="3920"/>
              </a:lnSpc>
              <a:tabLst>
                <a:tab pos="0" algn="l"/>
              </a:tabLst>
            </a:pPr>
            <a:r>
              <a:rPr lang="en-US" sz="2800" b="1" u="none" strike="noStrike">
                <a:solidFill>
                  <a:srgbClr val="B3261E"/>
                </a:solidFill>
                <a:effectLst/>
                <a:uFillTx/>
                <a:latin typeface="DM Sans"/>
                <a:ea typeface="DM Sans"/>
              </a:rPr>
              <a:t>✕</a:t>
            </a:r>
            <a:endParaRPr lang="en-GB" sz="2800" b="0" u="none" strike="noStrike">
              <a:solidFill>
                <a:srgbClr val="000000"/>
              </a:solidFill>
              <a:effectLst/>
              <a:uFillTx/>
              <a:latin typeface="Arial"/>
            </a:endParaRPr>
          </a:p>
        </p:txBody>
      </p:sp>
      <p:sp>
        <p:nvSpPr>
          <p:cNvPr id="210" name="Text 85"/>
          <p:cNvSpPr/>
          <p:nvPr/>
        </p:nvSpPr>
        <p:spPr>
          <a:xfrm>
            <a:off x="6655320" y="3881880"/>
            <a:ext cx="4655520" cy="283680"/>
          </a:xfrm>
          <a:prstGeom prst="rect">
            <a:avLst/>
          </a:prstGeom>
          <a:noFill/>
          <a:ln w="0">
            <a:noFill/>
          </a:ln>
        </p:spPr>
        <p:style>
          <a:lnRef idx="0"/>
          <a:fillRef idx="0"/>
          <a:effectRef idx="0"/>
          <a:fontRef idx="minor"/>
        </p:style>
        <p:txBody>
          <a:bodyPr numCol="1" spcCol="216000" lIns="0" tIns="0" rIns="0" bIns="0" anchor="t">
            <a:noAutofit/>
          </a:bodyPr>
          <a:p>
            <a:pPr defTabSz="914400">
              <a:lnSpc>
                <a:spcPct val="100000"/>
              </a:lnSpc>
              <a:tabLst>
                <a:tab pos="0" algn="l"/>
              </a:tabLst>
            </a:pPr>
            <a:r>
              <a:rPr lang="en-US" sz="1700" b="1" u="none" strike="noStrike">
                <a:solidFill>
                  <a:srgbClr val="14232E"/>
                </a:solidFill>
                <a:effectLst/>
                <a:uFillTx/>
                <a:latin typeface="DM Sans"/>
                <a:ea typeface="DM Sans"/>
              </a:rPr>
              <a:t>No nearby match</a:t>
            </a:r>
            <a:endParaRPr lang="en-GB" sz="1700" b="0" u="none" strike="noStrike">
              <a:solidFill>
                <a:srgbClr val="000000"/>
              </a:solidFill>
              <a:effectLst/>
              <a:uFillTx/>
              <a:latin typeface="Arial"/>
            </a:endParaRPr>
          </a:p>
        </p:txBody>
      </p:sp>
      <p:sp>
        <p:nvSpPr>
          <p:cNvPr id="211" name="Text 86"/>
          <p:cNvSpPr/>
          <p:nvPr/>
        </p:nvSpPr>
        <p:spPr>
          <a:xfrm>
            <a:off x="6645600" y="4176720"/>
            <a:ext cx="4106880" cy="23688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755"/>
              </a:lnSpc>
              <a:tabLst>
                <a:tab pos="0" algn="l"/>
              </a:tabLst>
            </a:pPr>
            <a:r>
              <a:rPr lang="en-US" sz="1300" b="0" u="none" strike="noStrike">
                <a:solidFill>
                  <a:srgbClr val="4F5B66"/>
                </a:solidFill>
                <a:effectLst/>
                <a:uFillTx/>
                <a:latin typeface="DM Sans"/>
                <a:ea typeface="DM Sans"/>
              </a:rPr>
              <a:t>No qualifying charging-point association identified</a:t>
            </a:r>
            <a:endParaRPr lang="en-GB" sz="1300" b="0" u="none" strike="noStrike">
              <a:solidFill>
                <a:srgbClr val="000000"/>
              </a:solidFill>
              <a:effectLst/>
              <a:uFillTx/>
              <a:latin typeface="Arial"/>
            </a:endParaRPr>
          </a:p>
        </p:txBody>
      </p:sp>
      <p:sp>
        <p:nvSpPr>
          <p:cNvPr id="212" name="Shape 23"/>
          <p:cNvSpPr/>
          <p:nvPr/>
        </p:nvSpPr>
        <p:spPr>
          <a:xfrm>
            <a:off x="812880" y="4989600"/>
            <a:ext cx="3420000" cy="925920"/>
          </a:xfrm>
          <a:prstGeom prst="roundRect">
            <a:avLst>
              <a:gd name="adj" fmla="val 9595"/>
            </a:avLst>
          </a:prstGeom>
          <a:solidFill>
            <a:srgbClr val="14232E"/>
          </a:solidFill>
          <a:ln w="0">
            <a:noFill/>
          </a:ln>
        </p:spPr>
        <p:style>
          <a:lnRef idx="0"/>
          <a:fillRef idx="0"/>
          <a:effectRef idx="0"/>
          <a:fontRef idx="minor"/>
        </p:style>
        <p:txBody>
          <a:bodyPr lIns="90000" tIns="45000" rIns="90000" bIns="45000" anchor="t">
            <a:noAutofit/>
          </a:bodyPr>
          <a:p>
            <a:pPr/>
            <a:endParaRPr lang="en-GB" sz="1800" b="0" u="none" strike="noStrike">
              <a:solidFill>
                <a:srgbClr val="FFFFFF"/>
              </a:solidFill>
              <a:effectLst/>
              <a:uFillTx/>
              <a:latin typeface="Arial"/>
            </a:endParaRPr>
          </a:p>
        </p:txBody>
      </p:sp>
      <p:sp>
        <p:nvSpPr>
          <p:cNvPr id="213" name="Text 87"/>
          <p:cNvSpPr/>
          <p:nvPr/>
        </p:nvSpPr>
        <p:spPr>
          <a:xfrm>
            <a:off x="1015920" y="5142240"/>
            <a:ext cx="3103920" cy="41724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3121"/>
              </a:lnSpc>
              <a:tabLst>
                <a:tab pos="0" algn="l"/>
              </a:tabLst>
            </a:pPr>
            <a:r>
              <a:rPr lang="en-US" sz="3120" b="1" u="none" strike="noStrike">
                <a:solidFill>
                  <a:srgbClr val="5CC8C4"/>
                </a:solidFill>
                <a:effectLst/>
                <a:uFillTx/>
                <a:latin typeface="DM Sans"/>
                <a:ea typeface="DM Sans"/>
              </a:rPr>
              <a:t>2,273</a:t>
            </a:r>
            <a:endParaRPr lang="en-GB" sz="3120" b="0" u="none" strike="noStrike">
              <a:solidFill>
                <a:srgbClr val="000000"/>
              </a:solidFill>
              <a:effectLst/>
              <a:uFillTx/>
              <a:latin typeface="Arial"/>
            </a:endParaRPr>
          </a:p>
        </p:txBody>
      </p:sp>
      <p:sp>
        <p:nvSpPr>
          <p:cNvPr id="214" name="Text 88"/>
          <p:cNvSpPr/>
          <p:nvPr/>
        </p:nvSpPr>
        <p:spPr>
          <a:xfrm>
            <a:off x="1015920" y="5572440"/>
            <a:ext cx="3103920" cy="21564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519"/>
              </a:lnSpc>
              <a:tabLst>
                <a:tab pos="0" algn="l"/>
              </a:tabLst>
            </a:pPr>
            <a:r>
              <a:rPr lang="en-US" sz="1170" b="0" u="none" strike="noStrike">
                <a:solidFill>
                  <a:srgbClr val="B9C4CC"/>
                </a:solidFill>
                <a:effectLst/>
                <a:uFillTx/>
                <a:latin typeface="DM Sans"/>
                <a:ea typeface="DM Sans"/>
              </a:rPr>
              <a:t>HDB carparks across 32 planning areas</a:t>
            </a:r>
            <a:endParaRPr lang="en-GB" sz="1170" b="0" u="none" strike="noStrike">
              <a:solidFill>
                <a:srgbClr val="000000"/>
              </a:solidFill>
              <a:effectLst/>
              <a:uFillTx/>
              <a:latin typeface="Arial"/>
            </a:endParaRPr>
          </a:p>
        </p:txBody>
      </p:sp>
      <p:sp>
        <p:nvSpPr>
          <p:cNvPr id="215" name="Shape 26"/>
          <p:cNvSpPr/>
          <p:nvPr/>
        </p:nvSpPr>
        <p:spPr>
          <a:xfrm>
            <a:off x="4385880" y="4989600"/>
            <a:ext cx="3419280" cy="925920"/>
          </a:xfrm>
          <a:prstGeom prst="roundRect">
            <a:avLst>
              <a:gd name="adj" fmla="val 9595"/>
            </a:avLst>
          </a:prstGeom>
          <a:solidFill>
            <a:srgbClr val="14232E"/>
          </a:solidFill>
          <a:ln w="0">
            <a:noFill/>
          </a:ln>
        </p:spPr>
        <p:style>
          <a:lnRef idx="0"/>
          <a:fillRef idx="0"/>
          <a:effectRef idx="0"/>
          <a:fontRef idx="minor"/>
        </p:style>
        <p:txBody>
          <a:bodyPr lIns="90000" tIns="45000" rIns="90000" bIns="45000" anchor="t">
            <a:noAutofit/>
          </a:bodyPr>
          <a:p>
            <a:pPr/>
            <a:endParaRPr lang="en-GB" sz="1800" b="0" u="none" strike="noStrike">
              <a:solidFill>
                <a:srgbClr val="FFFFFF"/>
              </a:solidFill>
              <a:effectLst/>
              <a:uFillTx/>
              <a:latin typeface="Arial"/>
            </a:endParaRPr>
          </a:p>
        </p:txBody>
      </p:sp>
      <p:sp>
        <p:nvSpPr>
          <p:cNvPr id="216" name="Text 89"/>
          <p:cNvSpPr/>
          <p:nvPr/>
        </p:nvSpPr>
        <p:spPr>
          <a:xfrm>
            <a:off x="4589280" y="5142240"/>
            <a:ext cx="3103920" cy="41724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3121"/>
              </a:lnSpc>
              <a:tabLst>
                <a:tab pos="0" algn="l"/>
              </a:tabLst>
            </a:pPr>
            <a:r>
              <a:rPr lang="en-US" sz="3120" b="1" u="none" strike="noStrike">
                <a:solidFill>
                  <a:srgbClr val="5CC8C4"/>
                </a:solidFill>
                <a:effectLst/>
                <a:uFillTx/>
                <a:latin typeface="DM Sans"/>
                <a:ea typeface="DM Sans"/>
              </a:rPr>
              <a:t>628</a:t>
            </a:r>
            <a:endParaRPr lang="en-GB" sz="3120" b="0" u="none" strike="noStrike">
              <a:solidFill>
                <a:srgbClr val="000000"/>
              </a:solidFill>
              <a:effectLst/>
              <a:uFillTx/>
              <a:latin typeface="Arial"/>
            </a:endParaRPr>
          </a:p>
        </p:txBody>
      </p:sp>
      <p:sp>
        <p:nvSpPr>
          <p:cNvPr id="217" name="Text 90"/>
          <p:cNvSpPr/>
          <p:nvPr/>
        </p:nvSpPr>
        <p:spPr>
          <a:xfrm>
            <a:off x="4589280" y="5572440"/>
            <a:ext cx="3103920" cy="21564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519"/>
              </a:lnSpc>
              <a:tabLst>
                <a:tab pos="0" algn="l"/>
              </a:tabLst>
            </a:pPr>
            <a:r>
              <a:rPr lang="en-US" sz="1170" b="0" u="none" strike="noStrike">
                <a:solidFill>
                  <a:srgbClr val="B9C4CC"/>
                </a:solidFill>
                <a:effectLst/>
                <a:uFillTx/>
                <a:latin typeface="DM Sans"/>
                <a:ea typeface="DM Sans"/>
              </a:rPr>
              <a:t>carparks with a strong match</a:t>
            </a:r>
            <a:endParaRPr lang="en-GB" sz="1170" b="0" u="none" strike="noStrike">
              <a:solidFill>
                <a:srgbClr val="000000"/>
              </a:solidFill>
              <a:effectLst/>
              <a:uFillTx/>
              <a:latin typeface="Arial"/>
            </a:endParaRPr>
          </a:p>
        </p:txBody>
      </p:sp>
      <p:sp>
        <p:nvSpPr>
          <p:cNvPr id="218" name="Shape 29"/>
          <p:cNvSpPr/>
          <p:nvPr/>
        </p:nvSpPr>
        <p:spPr>
          <a:xfrm>
            <a:off x="7958520" y="4989600"/>
            <a:ext cx="3420000" cy="925920"/>
          </a:xfrm>
          <a:prstGeom prst="roundRect">
            <a:avLst>
              <a:gd name="adj" fmla="val 9595"/>
            </a:avLst>
          </a:prstGeom>
          <a:solidFill>
            <a:srgbClr val="14232E"/>
          </a:solidFill>
          <a:ln w="0">
            <a:noFill/>
          </a:ln>
        </p:spPr>
        <p:style>
          <a:lnRef idx="0"/>
          <a:fillRef idx="0"/>
          <a:effectRef idx="0"/>
          <a:fontRef idx="minor"/>
        </p:style>
        <p:txBody>
          <a:bodyPr lIns="90000" tIns="45000" rIns="90000" bIns="45000" anchor="t">
            <a:noAutofit/>
          </a:bodyPr>
          <a:p>
            <a:pPr/>
            <a:endParaRPr lang="en-GB" sz="1800" b="0" u="none" strike="noStrike">
              <a:solidFill>
                <a:srgbClr val="FFFFFF"/>
              </a:solidFill>
              <a:effectLst/>
              <a:uFillTx/>
              <a:latin typeface="Arial"/>
            </a:endParaRPr>
          </a:p>
        </p:txBody>
      </p:sp>
      <p:sp>
        <p:nvSpPr>
          <p:cNvPr id="219" name="Text 91"/>
          <p:cNvSpPr/>
          <p:nvPr/>
        </p:nvSpPr>
        <p:spPr>
          <a:xfrm>
            <a:off x="8161560" y="5142240"/>
            <a:ext cx="3103920" cy="41724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3121"/>
              </a:lnSpc>
              <a:tabLst>
                <a:tab pos="0" algn="l"/>
              </a:tabLst>
            </a:pPr>
            <a:r>
              <a:rPr lang="en-US" sz="3120" b="1" u="none" strike="noStrike">
                <a:solidFill>
                  <a:srgbClr val="5CC8C4"/>
                </a:solidFill>
                <a:effectLst/>
                <a:uFillTx/>
                <a:latin typeface="DM Sans"/>
                <a:ea typeface="DM Sans"/>
              </a:rPr>
              <a:t>2,895</a:t>
            </a:r>
            <a:endParaRPr lang="en-GB" sz="3120" b="0" u="none" strike="noStrike">
              <a:solidFill>
                <a:srgbClr val="000000"/>
              </a:solidFill>
              <a:effectLst/>
              <a:uFillTx/>
              <a:latin typeface="Arial"/>
            </a:endParaRPr>
          </a:p>
        </p:txBody>
      </p:sp>
      <p:sp>
        <p:nvSpPr>
          <p:cNvPr id="220" name="Text 92"/>
          <p:cNvSpPr/>
          <p:nvPr/>
        </p:nvSpPr>
        <p:spPr>
          <a:xfrm>
            <a:off x="8161560" y="5572440"/>
            <a:ext cx="3103920" cy="21564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519"/>
              </a:lnSpc>
              <a:tabLst>
                <a:tab pos="0" algn="l"/>
              </a:tabLst>
            </a:pPr>
            <a:r>
              <a:rPr lang="en-US" sz="1170" b="0" u="none" strike="noStrike">
                <a:solidFill>
                  <a:srgbClr val="B9C4CC"/>
                </a:solidFill>
                <a:effectLst/>
                <a:uFillTx/>
                <a:latin typeface="DM Sans"/>
                <a:ea typeface="DM Sans"/>
              </a:rPr>
              <a:t>charging points matched to carparks</a:t>
            </a:r>
            <a:endParaRPr lang="en-GB" sz="1170" b="0" u="none" strike="noStrike">
              <a:solidFill>
                <a:srgbClr val="000000"/>
              </a:solidFill>
              <a:effectLst/>
              <a:uFillTx/>
              <a:latin typeface="Arial"/>
            </a:endParaRPr>
          </a:p>
        </p:txBody>
      </p:sp>
      <p:sp>
        <p:nvSpPr>
          <p:cNvPr id="221" name="Text 93"/>
          <p:cNvSpPr/>
          <p:nvPr/>
        </p:nvSpPr>
        <p:spPr>
          <a:xfrm>
            <a:off x="812880" y="6238080"/>
            <a:ext cx="2202840" cy="23796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681"/>
              </a:lnSpc>
              <a:tabLst>
                <a:tab pos="0" algn="l"/>
              </a:tabLst>
            </a:pPr>
            <a:r>
              <a:rPr lang="en-US" sz="1200" b="0" u="none" strike="noStrike">
                <a:solidFill>
                  <a:srgbClr val="4F5B66"/>
                </a:solidFill>
                <a:effectLst/>
                <a:uFillTx/>
                <a:latin typeface="DM Sans"/>
                <a:ea typeface="DM Sans"/>
              </a:rPr>
              <a:t>EV charging data platform</a:t>
            </a:r>
            <a:endParaRPr lang="en-GB" sz="1200" b="0" u="none" strike="noStrike">
              <a:solidFill>
                <a:srgbClr val="000000"/>
              </a:solidFill>
              <a:effectLst/>
              <a:uFillTx/>
              <a:latin typeface="Arial"/>
            </a:endParaRPr>
          </a:p>
        </p:txBody>
      </p:sp>
      <p:sp>
        <p:nvSpPr>
          <p:cNvPr id="222" name="Text 94"/>
          <p:cNvSpPr/>
          <p:nvPr/>
        </p:nvSpPr>
        <p:spPr>
          <a:xfrm>
            <a:off x="11238840" y="6238080"/>
            <a:ext cx="190440" cy="23796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681"/>
              </a:lnSpc>
              <a:tabLst>
                <a:tab pos="0" algn="l"/>
              </a:tabLst>
            </a:pPr>
            <a:r>
              <a:rPr lang="en-US" sz="1200" b="0" u="none" strike="noStrike">
                <a:solidFill>
                  <a:srgbClr val="4F5B66"/>
                </a:solidFill>
                <a:effectLst/>
                <a:uFillTx/>
                <a:latin typeface="DM Sans"/>
                <a:ea typeface="DM Sans"/>
              </a:rPr>
              <a:t>14</a:t>
            </a:r>
            <a:endParaRPr lang="en-GB"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223" name="Text 29"/>
          <p:cNvSpPr/>
          <p:nvPr/>
        </p:nvSpPr>
        <p:spPr>
          <a:xfrm>
            <a:off x="812880" y="812880"/>
            <a:ext cx="10882440" cy="27360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959"/>
              </a:lnSpc>
              <a:tabLst>
                <a:tab pos="0" algn="l"/>
              </a:tabLst>
            </a:pPr>
            <a:r>
              <a:rPr lang="en-US" sz="1400" b="1" u="none" spc="37" strike="noStrike">
                <a:solidFill>
                  <a:srgbClr val="0E7C7B"/>
                </a:solidFill>
                <a:effectLst/>
                <a:uFillTx/>
                <a:latin typeface="DM Sans"/>
                <a:ea typeface="DM Sans"/>
              </a:rPr>
              <a:t>INSIGHT</a:t>
            </a:r>
            <a:endParaRPr lang="en-GB" sz="1400" b="0" u="none" strike="noStrike">
              <a:solidFill>
                <a:srgbClr val="000000"/>
              </a:solidFill>
              <a:effectLst/>
              <a:uFillTx/>
              <a:latin typeface="Arial"/>
            </a:endParaRPr>
          </a:p>
        </p:txBody>
      </p:sp>
      <p:sp>
        <p:nvSpPr>
          <p:cNvPr id="224" name="PlaceHolder 1"/>
          <p:cNvSpPr>
            <a:spLocks noGrp="1"/>
          </p:cNvSpPr>
          <p:nvPr>
            <p:ph type="title"/>
          </p:nvPr>
        </p:nvSpPr>
        <p:spPr>
          <a:xfrm>
            <a:off x="812880" y="1188720"/>
            <a:ext cx="10882440" cy="1030680"/>
          </a:xfrm>
          <a:prstGeom prst="rect">
            <a:avLst/>
          </a:prstGeom>
          <a:noFill/>
          <a:ln w="0">
            <a:noFill/>
          </a:ln>
        </p:spPr>
        <p:txBody>
          <a:bodyPr numCol="1" spcCol="216000" lIns="0" tIns="0" rIns="0" bIns="0" anchor="t">
            <a:noAutofit/>
          </a:bodyPr>
          <a:p>
            <a:pPr indent="0" algn="l" defTabSz="914400">
              <a:lnSpc>
                <a:spcPts val="3960"/>
              </a:lnSpc>
              <a:buNone/>
              <a:tabLst>
                <a:tab pos="0" algn="l"/>
              </a:tabLst>
            </a:pPr>
            <a:r>
              <a:rPr lang="en-US" sz="3600" b="1" u="none" strike="noStrike">
                <a:solidFill>
                  <a:schemeClr val="dk1"/>
                </a:solidFill>
                <a:effectLst/>
                <a:uFillTx/>
                <a:latin typeface="DM Sans"/>
                <a:ea typeface="DM Sans"/>
              </a:rPr>
              <a:t>High Charging Availability, Yet Accessibility Concerns Remain</a:t>
            </a:r>
            <a:endParaRPr lang="en-US" sz="3600" b="0" u="none" strike="noStrike">
              <a:solidFill>
                <a:schemeClr val="dk1"/>
              </a:solidFill>
              <a:effectLst/>
              <a:uFillTx/>
              <a:latin typeface="Arial"/>
            </a:endParaRPr>
          </a:p>
        </p:txBody>
      </p:sp>
      <p:sp>
        <p:nvSpPr>
          <p:cNvPr id="225" name="Shape 2"/>
          <p:cNvSpPr/>
          <p:nvPr/>
        </p:nvSpPr>
        <p:spPr>
          <a:xfrm>
            <a:off x="816120" y="3004200"/>
            <a:ext cx="3379320" cy="1338480"/>
          </a:xfrm>
          <a:prstGeom prst="roundRect">
            <a:avLst>
              <a:gd name="adj" fmla="val 5198"/>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226" name="Text 35"/>
          <p:cNvSpPr/>
          <p:nvPr/>
        </p:nvSpPr>
        <p:spPr>
          <a:xfrm>
            <a:off x="1047240" y="3235320"/>
            <a:ext cx="3004560" cy="27360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959"/>
              </a:lnSpc>
              <a:tabLst>
                <a:tab pos="0" algn="l"/>
              </a:tabLst>
            </a:pPr>
            <a:r>
              <a:rPr lang="en-US" sz="1400" b="1" u="none" strike="noStrike">
                <a:solidFill>
                  <a:srgbClr val="4F5B66"/>
                </a:solidFill>
                <a:effectLst/>
                <a:uFillTx/>
                <a:latin typeface="DM Sans"/>
                <a:ea typeface="DM Sans"/>
              </a:rPr>
              <a:t>HDB-matched</a:t>
            </a:r>
            <a:endParaRPr lang="en-GB" sz="1400" b="0" u="none" strike="noStrike">
              <a:solidFill>
                <a:srgbClr val="000000"/>
              </a:solidFill>
              <a:effectLst/>
              <a:uFillTx/>
              <a:latin typeface="Arial"/>
            </a:endParaRPr>
          </a:p>
        </p:txBody>
      </p:sp>
      <p:sp>
        <p:nvSpPr>
          <p:cNvPr id="227" name="Text 36"/>
          <p:cNvSpPr/>
          <p:nvPr/>
        </p:nvSpPr>
        <p:spPr>
          <a:xfrm>
            <a:off x="1047240" y="3547800"/>
            <a:ext cx="3004560" cy="63432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4799"/>
              </a:lnSpc>
              <a:tabLst>
                <a:tab pos="0" algn="l"/>
              </a:tabLst>
            </a:pPr>
            <a:r>
              <a:rPr lang="en-US" sz="4800" b="1" u="none" strike="noStrike">
                <a:solidFill>
                  <a:srgbClr val="0E7C7B"/>
                </a:solidFill>
                <a:effectLst/>
                <a:uFillTx/>
                <a:latin typeface="DM Sans"/>
                <a:ea typeface="DM Sans"/>
              </a:rPr>
              <a:t>91.9%</a:t>
            </a:r>
            <a:endParaRPr lang="en-GB" sz="4800" b="0" u="none" strike="noStrike">
              <a:solidFill>
                <a:srgbClr val="000000"/>
              </a:solidFill>
              <a:effectLst/>
              <a:uFillTx/>
              <a:latin typeface="Arial"/>
            </a:endParaRPr>
          </a:p>
        </p:txBody>
      </p:sp>
      <p:sp>
        <p:nvSpPr>
          <p:cNvPr id="228" name="Shape 6"/>
          <p:cNvSpPr/>
          <p:nvPr/>
        </p:nvSpPr>
        <p:spPr>
          <a:xfrm>
            <a:off x="4405680" y="3004200"/>
            <a:ext cx="3380040" cy="1338480"/>
          </a:xfrm>
          <a:prstGeom prst="roundRect">
            <a:avLst>
              <a:gd name="adj" fmla="val 5198"/>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chemeClr val="dk1"/>
              </a:solidFill>
              <a:effectLst/>
              <a:uFillTx/>
              <a:latin typeface="DM Sans"/>
            </a:endParaRPr>
          </a:p>
        </p:txBody>
      </p:sp>
      <p:sp>
        <p:nvSpPr>
          <p:cNvPr id="229" name="Text 37"/>
          <p:cNvSpPr/>
          <p:nvPr/>
        </p:nvSpPr>
        <p:spPr>
          <a:xfrm>
            <a:off x="4636800" y="3235320"/>
            <a:ext cx="3005280" cy="27360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959"/>
              </a:lnSpc>
              <a:tabLst>
                <a:tab pos="0" algn="l"/>
              </a:tabLst>
            </a:pPr>
            <a:r>
              <a:rPr lang="en-US" sz="1400" b="1" u="none" strike="noStrike">
                <a:solidFill>
                  <a:srgbClr val="4F5B66"/>
                </a:solidFill>
                <a:effectLst/>
                <a:uFillTx/>
                <a:latin typeface="DM Sans"/>
                <a:ea typeface="DM Sans"/>
              </a:rPr>
              <a:t>Unmatched*</a:t>
            </a:r>
            <a:endParaRPr lang="en-GB" sz="1400" b="0" u="none" strike="noStrike">
              <a:solidFill>
                <a:srgbClr val="000000"/>
              </a:solidFill>
              <a:effectLst/>
              <a:uFillTx/>
              <a:latin typeface="Arial"/>
            </a:endParaRPr>
          </a:p>
        </p:txBody>
      </p:sp>
      <p:sp>
        <p:nvSpPr>
          <p:cNvPr id="230" name="Text 38"/>
          <p:cNvSpPr/>
          <p:nvPr/>
        </p:nvSpPr>
        <p:spPr>
          <a:xfrm>
            <a:off x="4636800" y="3547800"/>
            <a:ext cx="3005280" cy="63432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4799"/>
              </a:lnSpc>
              <a:tabLst>
                <a:tab pos="0" algn="l"/>
              </a:tabLst>
            </a:pPr>
            <a:r>
              <a:rPr lang="en-US" sz="4800" b="1" u="none" strike="noStrike">
                <a:solidFill>
                  <a:srgbClr val="0E7C7B"/>
                </a:solidFill>
                <a:effectLst/>
                <a:uFillTx/>
                <a:latin typeface="DM Sans"/>
                <a:ea typeface="DM Sans"/>
              </a:rPr>
              <a:t>90.4%</a:t>
            </a:r>
            <a:endParaRPr lang="en-GB" sz="4800" b="0" u="none" strike="noStrike">
              <a:solidFill>
                <a:srgbClr val="000000"/>
              </a:solidFill>
              <a:effectLst/>
              <a:uFillTx/>
              <a:latin typeface="Arial"/>
            </a:endParaRPr>
          </a:p>
        </p:txBody>
      </p:sp>
      <p:sp>
        <p:nvSpPr>
          <p:cNvPr id="231" name="Text 39"/>
          <p:cNvSpPr/>
          <p:nvPr/>
        </p:nvSpPr>
        <p:spPr>
          <a:xfrm>
            <a:off x="851040" y="4677840"/>
            <a:ext cx="10392480" cy="317520"/>
          </a:xfrm>
          <a:prstGeom prst="rect">
            <a:avLst/>
          </a:prstGeom>
          <a:noFill/>
          <a:ln w="0">
            <a:noFill/>
          </a:ln>
        </p:spPr>
        <p:style>
          <a:lnRef idx="0"/>
          <a:fillRef idx="0"/>
          <a:effectRef idx="0"/>
          <a:fontRef idx="minor"/>
        </p:style>
        <p:txBody>
          <a:bodyPr numCol="1" spcCol="216000" lIns="0" tIns="0" rIns="0" bIns="0" anchor="t">
            <a:noAutofit/>
          </a:bodyPr>
          <a:p>
            <a:pPr defTabSz="914400">
              <a:lnSpc>
                <a:spcPct val="100000"/>
              </a:lnSpc>
              <a:tabLst>
                <a:tab pos="0" algn="l"/>
              </a:tabLst>
            </a:pPr>
            <a:r>
              <a:rPr lang="en-GB" sz="1200" b="0" u="none" strike="noStrike">
                <a:solidFill>
                  <a:schemeClr val="dk1"/>
                </a:solidFill>
                <a:effectLst/>
                <a:uFillTx/>
                <a:latin typeface="DM Sans"/>
                <a:ea typeface="DM Sans"/>
              </a:rPr>
              <a:t>* Unmatched refers to charging locations without a strong HDB carpark association. Some may still be located at HDB carparks.</a:t>
            </a:r>
            <a:endParaRPr lang="en-GB" sz="1200" b="0" u="none" strike="noStrike">
              <a:solidFill>
                <a:srgbClr val="000000"/>
              </a:solidFill>
              <a:effectLst/>
              <a:uFillTx/>
              <a:latin typeface="Arial"/>
            </a:endParaRPr>
          </a:p>
        </p:txBody>
      </p:sp>
      <p:sp>
        <p:nvSpPr>
          <p:cNvPr id="232" name="Shape 10"/>
          <p:cNvSpPr/>
          <p:nvPr/>
        </p:nvSpPr>
        <p:spPr>
          <a:xfrm>
            <a:off x="7995960" y="3004200"/>
            <a:ext cx="3379320" cy="1338480"/>
          </a:xfrm>
          <a:prstGeom prst="roundRect">
            <a:avLst>
              <a:gd name="adj" fmla="val 5198"/>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233" name="Text 40"/>
          <p:cNvSpPr/>
          <p:nvPr/>
        </p:nvSpPr>
        <p:spPr>
          <a:xfrm>
            <a:off x="8227080" y="3235320"/>
            <a:ext cx="3004560" cy="27360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959"/>
              </a:lnSpc>
              <a:tabLst>
                <a:tab pos="0" algn="l"/>
              </a:tabLst>
            </a:pPr>
            <a:r>
              <a:rPr lang="en-US" sz="1400" b="1" u="none" strike="noStrike">
                <a:solidFill>
                  <a:srgbClr val="4F5B66"/>
                </a:solidFill>
                <a:effectLst/>
                <a:uFillTx/>
                <a:latin typeface="DM Sans"/>
                <a:ea typeface="DM Sans"/>
              </a:rPr>
              <a:t>Islandwide</a:t>
            </a:r>
            <a:endParaRPr lang="en-GB" sz="1400" b="0" u="none" strike="noStrike">
              <a:solidFill>
                <a:srgbClr val="000000"/>
              </a:solidFill>
              <a:effectLst/>
              <a:uFillTx/>
              <a:latin typeface="Arial"/>
            </a:endParaRPr>
          </a:p>
        </p:txBody>
      </p:sp>
      <p:sp>
        <p:nvSpPr>
          <p:cNvPr id="234" name="Text 41"/>
          <p:cNvSpPr/>
          <p:nvPr/>
        </p:nvSpPr>
        <p:spPr>
          <a:xfrm>
            <a:off x="8227080" y="3547800"/>
            <a:ext cx="3004560" cy="63432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4799"/>
              </a:lnSpc>
              <a:tabLst>
                <a:tab pos="0" algn="l"/>
              </a:tabLst>
            </a:pPr>
            <a:r>
              <a:rPr lang="en-US" sz="4800" b="1" u="none" strike="noStrike">
                <a:solidFill>
                  <a:srgbClr val="0E7C7B"/>
                </a:solidFill>
                <a:effectLst/>
                <a:uFillTx/>
                <a:latin typeface="DM Sans"/>
                <a:ea typeface="DM Sans"/>
              </a:rPr>
              <a:t>90.7%</a:t>
            </a:r>
            <a:endParaRPr lang="en-GB" sz="4800" b="0" u="none" strike="noStrike">
              <a:solidFill>
                <a:srgbClr val="000000"/>
              </a:solidFill>
              <a:effectLst/>
              <a:uFillTx/>
              <a:latin typeface="Arial"/>
            </a:endParaRPr>
          </a:p>
        </p:txBody>
      </p:sp>
      <p:sp>
        <p:nvSpPr>
          <p:cNvPr id="235" name="Text 42"/>
          <p:cNvSpPr/>
          <p:nvPr/>
        </p:nvSpPr>
        <p:spPr>
          <a:xfrm>
            <a:off x="812880" y="5234760"/>
            <a:ext cx="10392480" cy="939240"/>
          </a:xfrm>
          <a:prstGeom prst="rect">
            <a:avLst/>
          </a:prstGeom>
          <a:noFill/>
          <a:ln w="0">
            <a:noFill/>
          </a:ln>
        </p:spPr>
        <p:style>
          <a:lnRef idx="0"/>
          <a:fillRef idx="0"/>
          <a:effectRef idx="0"/>
          <a:fontRef idx="minor"/>
        </p:style>
        <p:txBody>
          <a:bodyPr numCol="1" spcCol="216000" lIns="0" tIns="0" rIns="0" bIns="0" anchor="t">
            <a:noAutofit/>
          </a:bodyPr>
          <a:p>
            <a:pPr marL="189720" indent="-189720" defTabSz="914400">
              <a:lnSpc>
                <a:spcPts val="2401"/>
              </a:lnSpc>
              <a:buClr>
                <a:srgbClr val="14232E"/>
              </a:buClr>
              <a:buFont typeface="Symbol" charset="2"/>
              <a:buChar char=""/>
            </a:pPr>
            <a:r>
              <a:rPr lang="en-US" sz="1600" b="0" u="none" strike="noStrike">
                <a:solidFill>
                  <a:srgbClr val="14232E"/>
                </a:solidFill>
                <a:effectLst/>
                <a:uFillTx/>
                <a:latin typeface="DM Sans"/>
                <a:ea typeface="DM Sans"/>
              </a:rPr>
              <a:t>Availability exceeded 90% in every group over one week of LTA observations</a:t>
            </a:r>
            <a:endParaRPr lang="en-GB" sz="1600" b="0" u="none" strike="noStrike">
              <a:solidFill>
                <a:srgbClr val="000000"/>
              </a:solidFill>
              <a:effectLst/>
              <a:uFillTx/>
              <a:latin typeface="Arial"/>
            </a:endParaRPr>
          </a:p>
          <a:p>
            <a:pPr marL="189720" indent="-189720" defTabSz="914400">
              <a:lnSpc>
                <a:spcPts val="2401"/>
              </a:lnSpc>
              <a:buClr>
                <a:srgbClr val="14232E"/>
              </a:buClr>
              <a:buFont typeface="Symbol" charset="2"/>
              <a:buChar char=""/>
            </a:pPr>
            <a:r>
              <a:rPr lang="en-US" sz="1600" b="0" u="none" strike="noStrike">
                <a:solidFill>
                  <a:srgbClr val="14232E"/>
                </a:solidFill>
                <a:effectLst/>
                <a:uFillTx/>
                <a:latin typeface="DM Sans"/>
                <a:ea typeface="DM Sans"/>
              </a:rPr>
              <a:t>86% of points are AC, which suits overnight stays but not quick top-ups</a:t>
            </a:r>
            <a:endParaRPr lang="en-GB" sz="1600" b="0" u="none" strike="noStrike">
              <a:solidFill>
                <a:srgbClr val="000000"/>
              </a:solidFill>
              <a:effectLst/>
              <a:uFillTx/>
              <a:latin typeface="Arial"/>
            </a:endParaRPr>
          </a:p>
          <a:p>
            <a:pPr marL="189720" indent="-189720" defTabSz="914400">
              <a:lnSpc>
                <a:spcPct val="100000"/>
              </a:lnSpc>
              <a:buClr>
                <a:srgbClr val="14232E"/>
              </a:buClr>
              <a:buFont typeface="Symbol" charset="2"/>
              <a:buChar char=""/>
            </a:pPr>
            <a:r>
              <a:rPr lang="en-GB" sz="1600" b="0" u="none" strike="noStrike">
                <a:solidFill>
                  <a:schemeClr val="dk1"/>
                </a:solidFill>
                <a:effectLst/>
                <a:uFillTx/>
                <a:latin typeface="DM Sans"/>
                <a:ea typeface="DM Sans"/>
              </a:rPr>
              <a:t>Potential barriers include location, charging speed, blocked bays and operator apps; these were not directly measured</a:t>
            </a:r>
            <a:endParaRPr lang="en-GB" sz="1600" b="0" u="none" strike="noStrike">
              <a:solidFill>
                <a:srgbClr val="000000"/>
              </a:solidFill>
              <a:effectLst/>
              <a:uFillTx/>
              <a:latin typeface="Arial"/>
            </a:endParaRPr>
          </a:p>
        </p:txBody>
      </p:sp>
      <p:sp>
        <p:nvSpPr>
          <p:cNvPr id="236" name="Text 43"/>
          <p:cNvSpPr/>
          <p:nvPr/>
        </p:nvSpPr>
        <p:spPr>
          <a:xfrm>
            <a:off x="812880" y="6238080"/>
            <a:ext cx="2202840" cy="23796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681"/>
              </a:lnSpc>
              <a:tabLst>
                <a:tab pos="0" algn="l"/>
              </a:tabLst>
            </a:pPr>
            <a:r>
              <a:rPr lang="en-US" sz="1200" b="0" u="none" strike="noStrike">
                <a:solidFill>
                  <a:srgbClr val="4F5B66"/>
                </a:solidFill>
                <a:effectLst/>
                <a:uFillTx/>
                <a:latin typeface="DM Sans"/>
                <a:ea typeface="DM Sans"/>
              </a:rPr>
              <a:t>EV charging data platform</a:t>
            </a:r>
            <a:endParaRPr lang="en-GB" sz="1200" b="0" u="none" strike="noStrike">
              <a:solidFill>
                <a:srgbClr val="000000"/>
              </a:solidFill>
              <a:effectLst/>
              <a:uFillTx/>
              <a:latin typeface="Arial"/>
            </a:endParaRPr>
          </a:p>
        </p:txBody>
      </p:sp>
      <p:sp>
        <p:nvSpPr>
          <p:cNvPr id="237" name="Text 68"/>
          <p:cNvSpPr/>
          <p:nvPr/>
        </p:nvSpPr>
        <p:spPr>
          <a:xfrm>
            <a:off x="11243880" y="6238080"/>
            <a:ext cx="185400" cy="23796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681"/>
              </a:lnSpc>
              <a:tabLst>
                <a:tab pos="0" algn="l"/>
              </a:tabLst>
            </a:pPr>
            <a:r>
              <a:rPr lang="en-US" sz="1200" b="0" u="none" strike="noStrike">
                <a:solidFill>
                  <a:srgbClr val="4F5B66"/>
                </a:solidFill>
                <a:effectLst/>
                <a:uFillTx/>
                <a:latin typeface="DM Sans"/>
                <a:ea typeface="DM Sans"/>
              </a:rPr>
              <a:t>12</a:t>
            </a:r>
            <a:endParaRPr lang="en-GB" sz="1200" b="0" u="none" strike="noStrike">
              <a:solidFill>
                <a:srgbClr val="000000"/>
              </a:solidFill>
              <a:effectLst/>
              <a:uFillTx/>
              <a:latin typeface="Arial"/>
            </a:endParaRPr>
          </a:p>
        </p:txBody>
      </p:sp>
      <p:sp>
        <p:nvSpPr>
          <p:cNvPr id="238" name="Text 69"/>
          <p:cNvSpPr/>
          <p:nvPr/>
        </p:nvSpPr>
        <p:spPr>
          <a:xfrm>
            <a:off x="812880" y="2435400"/>
            <a:ext cx="10392480" cy="317520"/>
          </a:xfrm>
          <a:prstGeom prst="rect">
            <a:avLst/>
          </a:prstGeom>
          <a:noFill/>
          <a:ln w="0">
            <a:noFill/>
          </a:ln>
        </p:spPr>
        <p:style>
          <a:lnRef idx="0"/>
          <a:fillRef idx="0"/>
          <a:effectRef idx="0"/>
          <a:fontRef idx="minor"/>
        </p:style>
        <p:txBody>
          <a:bodyPr numCol="1" spcCol="216000" lIns="0" tIns="0" rIns="0" bIns="0" anchor="t">
            <a:noAutofit/>
          </a:bodyPr>
          <a:p>
            <a:pPr defTabSz="914400">
              <a:lnSpc>
                <a:spcPct val="100000"/>
              </a:lnSpc>
              <a:tabLst>
                <a:tab pos="0" algn="l"/>
              </a:tabLst>
            </a:pPr>
            <a:r>
              <a:rPr lang="en-GB" sz="1800" b="1" u="none" strike="noStrike">
                <a:solidFill>
                  <a:schemeClr val="dk1"/>
                </a:solidFill>
                <a:effectLst/>
                <a:uFillTx/>
                <a:latin typeface="DM Sans"/>
                <a:ea typeface="DM Sans"/>
              </a:rPr>
              <a:t>Charging locations with at least one available charging point during observed intervals</a:t>
            </a:r>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239" name="Text 44"/>
          <p:cNvSpPr/>
          <p:nvPr/>
        </p:nvSpPr>
        <p:spPr>
          <a:xfrm>
            <a:off x="812880" y="812880"/>
            <a:ext cx="10882440" cy="25704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871"/>
              </a:lnSpc>
              <a:tabLst>
                <a:tab pos="0" algn="l"/>
              </a:tabLst>
            </a:pPr>
            <a:r>
              <a:rPr lang="en-US" sz="1340" b="1" u="none" spc="37" strike="noStrike">
                <a:solidFill>
                  <a:srgbClr val="0E7C7B"/>
                </a:solidFill>
                <a:effectLst/>
                <a:uFillTx/>
                <a:latin typeface="DM Sans"/>
                <a:ea typeface="DM Sans"/>
              </a:rPr>
              <a:t>INSIGHT</a:t>
            </a:r>
            <a:endParaRPr lang="en-GB" sz="1340" b="0" u="none" strike="noStrike">
              <a:solidFill>
                <a:srgbClr val="000000"/>
              </a:solidFill>
              <a:effectLst/>
              <a:uFillTx/>
              <a:latin typeface="Arial"/>
            </a:endParaRPr>
          </a:p>
        </p:txBody>
      </p:sp>
      <p:sp>
        <p:nvSpPr>
          <p:cNvPr id="240" name="PlaceHolder 1"/>
          <p:cNvSpPr>
            <a:spLocks noGrp="1"/>
          </p:cNvSpPr>
          <p:nvPr>
            <p:ph type="title"/>
          </p:nvPr>
        </p:nvSpPr>
        <p:spPr>
          <a:xfrm>
            <a:off x="812880" y="1172160"/>
            <a:ext cx="10882440" cy="494640"/>
          </a:xfrm>
          <a:prstGeom prst="rect">
            <a:avLst/>
          </a:prstGeom>
          <a:noFill/>
          <a:ln w="0">
            <a:noFill/>
          </a:ln>
        </p:spPr>
        <p:txBody>
          <a:bodyPr numCol="1" spcCol="216000" lIns="0" tIns="0" rIns="0" bIns="0" anchor="t">
            <a:noAutofit/>
          </a:bodyPr>
          <a:p>
            <a:pPr indent="0" algn="l" defTabSz="914400">
              <a:lnSpc>
                <a:spcPts val="3725"/>
              </a:lnSpc>
              <a:buNone/>
              <a:tabLst>
                <a:tab pos="0" algn="l"/>
              </a:tabLst>
            </a:pPr>
            <a:r>
              <a:rPr lang="en-US" sz="3380" b="1" u="none" strike="noStrike">
                <a:solidFill>
                  <a:schemeClr val="dk1"/>
                </a:solidFill>
                <a:effectLst/>
                <a:uFillTx/>
                <a:latin typeface="DM Sans"/>
                <a:ea typeface="DM Sans"/>
              </a:rPr>
              <a:t>Charging Usage Varies Across Residential Areas</a:t>
            </a:r>
            <a:endParaRPr lang="en-US" sz="3380" b="0" u="none" strike="noStrike">
              <a:solidFill>
                <a:schemeClr val="dk1"/>
              </a:solidFill>
              <a:effectLst/>
              <a:uFillTx/>
              <a:latin typeface="Arial"/>
            </a:endParaRPr>
          </a:p>
        </p:txBody>
      </p:sp>
      <p:sp>
        <p:nvSpPr>
          <p:cNvPr id="241" name="Shape 2"/>
          <p:cNvSpPr/>
          <p:nvPr/>
        </p:nvSpPr>
        <p:spPr>
          <a:xfrm>
            <a:off x="816120" y="1899360"/>
            <a:ext cx="3379320" cy="2827080"/>
          </a:xfrm>
          <a:prstGeom prst="roundRect">
            <a:avLst>
              <a:gd name="adj" fmla="val 3481"/>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242" name="Text 46"/>
          <p:cNvSpPr/>
          <p:nvPr/>
        </p:nvSpPr>
        <p:spPr>
          <a:xfrm>
            <a:off x="1021680" y="2104920"/>
            <a:ext cx="3057480" cy="25380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814"/>
              </a:lnSpc>
              <a:tabLst>
                <a:tab pos="0" algn="l"/>
              </a:tabLst>
            </a:pPr>
            <a:r>
              <a:rPr lang="en-US" sz="1300" b="1" u="none" strike="noStrike">
                <a:solidFill>
                  <a:srgbClr val="A85A00"/>
                </a:solidFill>
                <a:effectLst/>
                <a:uFillTx/>
                <a:latin typeface="DM Sans"/>
                <a:ea typeface="DM Sans"/>
              </a:rPr>
              <a:t>Highest observed occupancy</a:t>
            </a:r>
            <a:endParaRPr lang="en-GB" sz="1300" b="0" u="none" strike="noStrike">
              <a:solidFill>
                <a:srgbClr val="000000"/>
              </a:solidFill>
              <a:effectLst/>
              <a:uFillTx/>
              <a:latin typeface="Arial"/>
            </a:endParaRPr>
          </a:p>
        </p:txBody>
      </p:sp>
      <p:sp>
        <p:nvSpPr>
          <p:cNvPr id="243" name="Text 47"/>
          <p:cNvSpPr/>
          <p:nvPr/>
        </p:nvSpPr>
        <p:spPr>
          <a:xfrm>
            <a:off x="1021680" y="2423160"/>
            <a:ext cx="3057480" cy="36108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2670"/>
              </a:lnSpc>
              <a:tabLst>
                <a:tab pos="0" algn="l"/>
              </a:tabLst>
            </a:pPr>
            <a:r>
              <a:rPr lang="en-US" sz="2230" b="1" u="none" strike="noStrike">
                <a:solidFill>
                  <a:srgbClr val="14232E"/>
                </a:solidFill>
                <a:effectLst/>
                <a:uFillTx/>
                <a:latin typeface="DM Sans"/>
                <a:ea typeface="DM Sans"/>
              </a:rPr>
              <a:t>Punggol</a:t>
            </a:r>
            <a:endParaRPr lang="en-GB" sz="2230" b="0" u="none" strike="noStrike">
              <a:solidFill>
                <a:srgbClr val="000000"/>
              </a:solidFill>
              <a:effectLst/>
              <a:uFillTx/>
              <a:latin typeface="Arial"/>
            </a:endParaRPr>
          </a:p>
        </p:txBody>
      </p:sp>
      <p:sp>
        <p:nvSpPr>
          <p:cNvPr id="244" name="Text 48"/>
          <p:cNvSpPr/>
          <p:nvPr/>
        </p:nvSpPr>
        <p:spPr>
          <a:xfrm>
            <a:off x="1021680" y="2848680"/>
            <a:ext cx="3057480" cy="58608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4411"/>
              </a:lnSpc>
              <a:tabLst>
                <a:tab pos="0" algn="l"/>
              </a:tabLst>
            </a:pPr>
            <a:r>
              <a:rPr lang="en-US" sz="4410" b="1" u="none" strike="noStrike">
                <a:solidFill>
                  <a:srgbClr val="14232E"/>
                </a:solidFill>
                <a:effectLst/>
                <a:uFillTx/>
                <a:latin typeface="DM Sans"/>
                <a:ea typeface="DM Sans"/>
              </a:rPr>
              <a:t>47.5%</a:t>
            </a:r>
            <a:endParaRPr lang="en-GB" sz="4410" b="0" u="none" strike="noStrike">
              <a:solidFill>
                <a:srgbClr val="000000"/>
              </a:solidFill>
              <a:effectLst/>
              <a:uFillTx/>
              <a:latin typeface="Arial"/>
            </a:endParaRPr>
          </a:p>
        </p:txBody>
      </p:sp>
      <p:sp>
        <p:nvSpPr>
          <p:cNvPr id="245" name="Text 49"/>
          <p:cNvSpPr/>
          <p:nvPr/>
        </p:nvSpPr>
        <p:spPr>
          <a:xfrm>
            <a:off x="1021680" y="3498840"/>
            <a:ext cx="3057480" cy="23796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721"/>
              </a:lnSpc>
              <a:tabLst>
                <a:tab pos="0" algn="l"/>
              </a:tabLst>
            </a:pPr>
            <a:r>
              <a:rPr lang="en-US" sz="1230" b="0" u="none" strike="noStrike">
                <a:solidFill>
                  <a:srgbClr val="4F5B66"/>
                </a:solidFill>
                <a:effectLst/>
                <a:uFillTx/>
                <a:latin typeface="DM Sans"/>
                <a:ea typeface="DM Sans"/>
              </a:rPr>
              <a:t>Observed occupancy</a:t>
            </a:r>
            <a:endParaRPr lang="en-GB" sz="1230" b="0" u="none" strike="noStrike">
              <a:solidFill>
                <a:srgbClr val="000000"/>
              </a:solidFill>
              <a:effectLst/>
              <a:uFillTx/>
              <a:latin typeface="Arial"/>
            </a:endParaRPr>
          </a:p>
        </p:txBody>
      </p:sp>
      <p:sp>
        <p:nvSpPr>
          <p:cNvPr id="246" name="Text 50"/>
          <p:cNvSpPr/>
          <p:nvPr/>
        </p:nvSpPr>
        <p:spPr>
          <a:xfrm>
            <a:off x="1021680" y="3801240"/>
            <a:ext cx="3057480" cy="24552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769"/>
              </a:lnSpc>
              <a:tabLst>
                <a:tab pos="0" algn="l"/>
              </a:tabLst>
            </a:pPr>
            <a:r>
              <a:rPr lang="en-US" sz="1260" b="1" u="none" strike="noStrike">
                <a:solidFill>
                  <a:srgbClr val="A85A00"/>
                </a:solidFill>
                <a:effectLst/>
                <a:uFillTx/>
                <a:latin typeface="DM Sans"/>
                <a:ea typeface="DM Sans"/>
              </a:rPr>
              <a:t>HDB carparks successfully matched</a:t>
            </a:r>
            <a:endParaRPr lang="en-GB" sz="1260" b="0" u="none" strike="noStrike">
              <a:solidFill>
                <a:srgbClr val="000000"/>
              </a:solidFill>
              <a:effectLst/>
              <a:uFillTx/>
              <a:latin typeface="Arial"/>
            </a:endParaRPr>
          </a:p>
        </p:txBody>
      </p:sp>
      <p:sp>
        <p:nvSpPr>
          <p:cNvPr id="247" name="Shape 9"/>
          <p:cNvSpPr/>
          <p:nvPr/>
        </p:nvSpPr>
        <p:spPr>
          <a:xfrm>
            <a:off x="4405680" y="1899360"/>
            <a:ext cx="3380040" cy="2827080"/>
          </a:xfrm>
          <a:prstGeom prst="roundRect">
            <a:avLst>
              <a:gd name="adj" fmla="val 3481"/>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248" name="Text 51"/>
          <p:cNvSpPr/>
          <p:nvPr/>
        </p:nvSpPr>
        <p:spPr>
          <a:xfrm>
            <a:off x="4611240" y="2104920"/>
            <a:ext cx="3057480" cy="25380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814"/>
              </a:lnSpc>
              <a:tabLst>
                <a:tab pos="0" algn="l"/>
              </a:tabLst>
            </a:pPr>
            <a:r>
              <a:rPr lang="en-US" sz="1300" b="1" u="none" strike="noStrike">
                <a:solidFill>
                  <a:srgbClr val="A85A00"/>
                </a:solidFill>
                <a:effectLst/>
                <a:uFillTx/>
                <a:latin typeface="DM Sans"/>
                <a:ea typeface="DM Sans"/>
              </a:rPr>
              <a:t>High occupancy, broader matched coverage</a:t>
            </a:r>
            <a:endParaRPr lang="en-GB" sz="1300" b="0" u="none" strike="noStrike">
              <a:solidFill>
                <a:srgbClr val="000000"/>
              </a:solidFill>
              <a:effectLst/>
              <a:uFillTx/>
              <a:latin typeface="Arial"/>
            </a:endParaRPr>
          </a:p>
        </p:txBody>
      </p:sp>
      <p:sp>
        <p:nvSpPr>
          <p:cNvPr id="249" name="Text 52"/>
          <p:cNvSpPr/>
          <p:nvPr/>
        </p:nvSpPr>
        <p:spPr>
          <a:xfrm>
            <a:off x="4611240" y="2423160"/>
            <a:ext cx="3057480" cy="36108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2670"/>
              </a:lnSpc>
              <a:tabLst>
                <a:tab pos="0" algn="l"/>
              </a:tabLst>
            </a:pPr>
            <a:r>
              <a:rPr lang="en-US" sz="2230" b="1" u="none" strike="noStrike">
                <a:solidFill>
                  <a:srgbClr val="14232E"/>
                </a:solidFill>
                <a:effectLst/>
                <a:uFillTx/>
                <a:latin typeface="DM Sans"/>
                <a:ea typeface="DM Sans"/>
              </a:rPr>
              <a:t>Pasir Ris</a:t>
            </a:r>
            <a:endParaRPr lang="en-GB" sz="2230" b="0" u="none" strike="noStrike">
              <a:solidFill>
                <a:srgbClr val="000000"/>
              </a:solidFill>
              <a:effectLst/>
              <a:uFillTx/>
              <a:latin typeface="Arial"/>
            </a:endParaRPr>
          </a:p>
        </p:txBody>
      </p:sp>
      <p:sp>
        <p:nvSpPr>
          <p:cNvPr id="250" name="Text 53"/>
          <p:cNvSpPr/>
          <p:nvPr/>
        </p:nvSpPr>
        <p:spPr>
          <a:xfrm>
            <a:off x="4611240" y="2848680"/>
            <a:ext cx="3057480" cy="58608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4411"/>
              </a:lnSpc>
              <a:tabLst>
                <a:tab pos="0" algn="l"/>
              </a:tabLst>
            </a:pPr>
            <a:r>
              <a:rPr lang="en-US" sz="4410" b="1" u="none" strike="noStrike">
                <a:solidFill>
                  <a:srgbClr val="14232E"/>
                </a:solidFill>
                <a:effectLst/>
                <a:uFillTx/>
                <a:latin typeface="DM Sans"/>
                <a:ea typeface="DM Sans"/>
              </a:rPr>
              <a:t>37%</a:t>
            </a:r>
            <a:endParaRPr lang="en-GB" sz="4410" b="0" u="none" strike="noStrike">
              <a:solidFill>
                <a:srgbClr val="000000"/>
              </a:solidFill>
              <a:effectLst/>
              <a:uFillTx/>
              <a:latin typeface="Arial"/>
            </a:endParaRPr>
          </a:p>
        </p:txBody>
      </p:sp>
      <p:sp>
        <p:nvSpPr>
          <p:cNvPr id="251" name="Text 54"/>
          <p:cNvSpPr/>
          <p:nvPr/>
        </p:nvSpPr>
        <p:spPr>
          <a:xfrm>
            <a:off x="4611240" y="3498840"/>
            <a:ext cx="3057480" cy="23796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721"/>
              </a:lnSpc>
              <a:tabLst>
                <a:tab pos="0" algn="l"/>
              </a:tabLst>
            </a:pPr>
            <a:r>
              <a:rPr lang="en-US" sz="1230" b="0" u="none" strike="noStrike">
                <a:solidFill>
                  <a:srgbClr val="4F5B66"/>
                </a:solidFill>
                <a:effectLst/>
                <a:uFillTx/>
                <a:latin typeface="DM Sans"/>
                <a:ea typeface="DM Sans"/>
              </a:rPr>
              <a:t>Observed occupancy</a:t>
            </a:r>
            <a:endParaRPr lang="en-GB" sz="1230" b="0" u="none" strike="noStrike">
              <a:solidFill>
                <a:srgbClr val="000000"/>
              </a:solidFill>
              <a:effectLst/>
              <a:uFillTx/>
              <a:latin typeface="Arial"/>
            </a:endParaRPr>
          </a:p>
        </p:txBody>
      </p:sp>
      <p:sp>
        <p:nvSpPr>
          <p:cNvPr id="252" name="Text 55"/>
          <p:cNvSpPr/>
          <p:nvPr/>
        </p:nvSpPr>
        <p:spPr>
          <a:xfrm>
            <a:off x="4611240" y="3801240"/>
            <a:ext cx="3057480" cy="24552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769"/>
              </a:lnSpc>
              <a:tabLst>
                <a:tab pos="0" algn="l"/>
              </a:tabLst>
            </a:pPr>
            <a:r>
              <a:rPr lang="en-US" sz="1260" b="1" u="none" strike="noStrike">
                <a:solidFill>
                  <a:srgbClr val="A85A00"/>
                </a:solidFill>
                <a:effectLst/>
                <a:uFillTx/>
                <a:latin typeface="DM Sans"/>
                <a:ea typeface="DM Sans"/>
              </a:rPr>
              <a:t>HDB carparks successfully matched</a:t>
            </a:r>
            <a:endParaRPr lang="en-GB" sz="1260" b="0" u="none" strike="noStrike">
              <a:solidFill>
                <a:srgbClr val="000000"/>
              </a:solidFill>
              <a:effectLst/>
              <a:uFillTx/>
              <a:latin typeface="Arial"/>
            </a:endParaRPr>
          </a:p>
        </p:txBody>
      </p:sp>
      <p:sp>
        <p:nvSpPr>
          <p:cNvPr id="253" name="Shape 16"/>
          <p:cNvSpPr/>
          <p:nvPr/>
        </p:nvSpPr>
        <p:spPr>
          <a:xfrm>
            <a:off x="7995960" y="1899360"/>
            <a:ext cx="3379320" cy="2827080"/>
          </a:xfrm>
          <a:prstGeom prst="roundRect">
            <a:avLst>
              <a:gd name="adj" fmla="val 3481"/>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254" name="Text 56"/>
          <p:cNvSpPr/>
          <p:nvPr/>
        </p:nvSpPr>
        <p:spPr>
          <a:xfrm>
            <a:off x="8201520" y="2104920"/>
            <a:ext cx="3056760" cy="25380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814"/>
              </a:lnSpc>
              <a:tabLst>
                <a:tab pos="0" algn="l"/>
              </a:tabLst>
            </a:pPr>
            <a:r>
              <a:rPr lang="en-US" sz="1300" b="1" u="none" strike="noStrike">
                <a:solidFill>
                  <a:srgbClr val="0E7C7B"/>
                </a:solidFill>
                <a:effectLst/>
                <a:uFillTx/>
                <a:latin typeface="DM Sans"/>
                <a:ea typeface="DM Sans"/>
              </a:rPr>
              <a:t>Future development consideration</a:t>
            </a:r>
            <a:endParaRPr lang="en-GB" sz="1300" b="0" u="none" strike="noStrike">
              <a:solidFill>
                <a:srgbClr val="000000"/>
              </a:solidFill>
              <a:effectLst/>
              <a:uFillTx/>
              <a:latin typeface="Arial"/>
            </a:endParaRPr>
          </a:p>
        </p:txBody>
      </p:sp>
      <p:sp>
        <p:nvSpPr>
          <p:cNvPr id="255" name="Text 57"/>
          <p:cNvSpPr/>
          <p:nvPr/>
        </p:nvSpPr>
        <p:spPr>
          <a:xfrm>
            <a:off x="8201520" y="2423160"/>
            <a:ext cx="3056760" cy="36108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2670"/>
              </a:lnSpc>
              <a:tabLst>
                <a:tab pos="0" algn="l"/>
              </a:tabLst>
            </a:pPr>
            <a:r>
              <a:rPr lang="en-US" sz="2230" b="1" u="none" strike="noStrike">
                <a:solidFill>
                  <a:srgbClr val="14232E"/>
                </a:solidFill>
                <a:effectLst/>
                <a:uFillTx/>
                <a:latin typeface="DM Sans"/>
                <a:ea typeface="DM Sans"/>
              </a:rPr>
              <a:t>Tengah</a:t>
            </a:r>
            <a:endParaRPr lang="en-GB" sz="2230" b="0" u="none" strike="noStrike">
              <a:solidFill>
                <a:srgbClr val="000000"/>
              </a:solidFill>
              <a:effectLst/>
              <a:uFillTx/>
              <a:latin typeface="Arial"/>
            </a:endParaRPr>
          </a:p>
        </p:txBody>
      </p:sp>
      <p:sp>
        <p:nvSpPr>
          <p:cNvPr id="256" name="Text 58"/>
          <p:cNvSpPr/>
          <p:nvPr/>
        </p:nvSpPr>
        <p:spPr>
          <a:xfrm>
            <a:off x="8201520" y="2848680"/>
            <a:ext cx="3056760" cy="58608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4411"/>
              </a:lnSpc>
              <a:tabLst>
                <a:tab pos="0" algn="l"/>
              </a:tabLst>
            </a:pPr>
            <a:r>
              <a:rPr lang="en-US" sz="4410" b="1" u="none" strike="noStrike">
                <a:solidFill>
                  <a:srgbClr val="14232E"/>
                </a:solidFill>
                <a:effectLst/>
                <a:uFillTx/>
                <a:latin typeface="DM Sans"/>
                <a:ea typeface="DM Sans"/>
              </a:rPr>
              <a:t>22.1%</a:t>
            </a:r>
            <a:endParaRPr lang="en-GB" sz="4410" b="0" u="none" strike="noStrike">
              <a:solidFill>
                <a:srgbClr val="000000"/>
              </a:solidFill>
              <a:effectLst/>
              <a:uFillTx/>
              <a:latin typeface="Arial"/>
            </a:endParaRPr>
          </a:p>
        </p:txBody>
      </p:sp>
      <p:sp>
        <p:nvSpPr>
          <p:cNvPr id="257" name="Text 59"/>
          <p:cNvSpPr/>
          <p:nvPr/>
        </p:nvSpPr>
        <p:spPr>
          <a:xfrm>
            <a:off x="8201520" y="3498840"/>
            <a:ext cx="3056760" cy="23796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721"/>
              </a:lnSpc>
              <a:tabLst>
                <a:tab pos="0" algn="l"/>
              </a:tabLst>
            </a:pPr>
            <a:r>
              <a:rPr lang="en-US" sz="1230" b="0" u="none" strike="noStrike">
                <a:solidFill>
                  <a:srgbClr val="4F5B66"/>
                </a:solidFill>
                <a:effectLst/>
                <a:uFillTx/>
                <a:latin typeface="DM Sans"/>
                <a:ea typeface="DM Sans"/>
              </a:rPr>
              <a:t>Observed occupancy</a:t>
            </a:r>
            <a:endParaRPr lang="en-GB" sz="1230" b="0" u="none" strike="noStrike">
              <a:solidFill>
                <a:srgbClr val="000000"/>
              </a:solidFill>
              <a:effectLst/>
              <a:uFillTx/>
              <a:latin typeface="Arial"/>
            </a:endParaRPr>
          </a:p>
        </p:txBody>
      </p:sp>
      <p:sp>
        <p:nvSpPr>
          <p:cNvPr id="258" name="Text 60"/>
          <p:cNvSpPr/>
          <p:nvPr/>
        </p:nvSpPr>
        <p:spPr>
          <a:xfrm>
            <a:off x="8201520" y="3801240"/>
            <a:ext cx="3056760" cy="24552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769"/>
              </a:lnSpc>
              <a:tabLst>
                <a:tab pos="0" algn="l"/>
              </a:tabLst>
            </a:pPr>
            <a:r>
              <a:rPr lang="en-US" sz="1260" b="1" u="none" strike="noStrike">
                <a:solidFill>
                  <a:srgbClr val="A85A00"/>
                </a:solidFill>
                <a:effectLst/>
                <a:uFillTx/>
                <a:latin typeface="DM Sans"/>
                <a:ea typeface="DM Sans"/>
              </a:rPr>
              <a:t>HDB carparks successfully matched</a:t>
            </a:r>
            <a:endParaRPr lang="en-GB" sz="1260" b="0" u="none" strike="noStrike">
              <a:solidFill>
                <a:srgbClr val="000000"/>
              </a:solidFill>
              <a:effectLst/>
              <a:uFillTx/>
              <a:latin typeface="Arial"/>
            </a:endParaRPr>
          </a:p>
        </p:txBody>
      </p:sp>
      <p:sp>
        <p:nvSpPr>
          <p:cNvPr id="259" name="Text 61"/>
          <p:cNvSpPr/>
          <p:nvPr/>
        </p:nvSpPr>
        <p:spPr>
          <a:xfrm>
            <a:off x="812880" y="4984200"/>
            <a:ext cx="10791000" cy="25956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871"/>
              </a:lnSpc>
              <a:tabLst>
                <a:tab pos="0" algn="l"/>
              </a:tabLst>
            </a:pPr>
            <a:r>
              <a:rPr lang="en-US" sz="1340" b="1" u="none" strike="noStrike">
                <a:solidFill>
                  <a:srgbClr val="14232E"/>
                </a:solidFill>
                <a:effectLst/>
                <a:uFillTx/>
                <a:latin typeface="DM Sans"/>
                <a:ea typeface="DM Sans"/>
              </a:rPr>
              <a:t>Key takeaway: Observed occupancy differs among matched charging points, while future housing development may affect charging needs</a:t>
            </a:r>
            <a:endParaRPr lang="en-GB" sz="1340" b="0" u="none" strike="noStrike">
              <a:solidFill>
                <a:srgbClr val="000000"/>
              </a:solidFill>
              <a:effectLst/>
              <a:uFillTx/>
              <a:latin typeface="Arial"/>
            </a:endParaRPr>
          </a:p>
        </p:txBody>
      </p:sp>
      <p:sp>
        <p:nvSpPr>
          <p:cNvPr id="260" name="Text 62"/>
          <p:cNvSpPr/>
          <p:nvPr/>
        </p:nvSpPr>
        <p:spPr>
          <a:xfrm>
            <a:off x="812880" y="5473080"/>
            <a:ext cx="10791000" cy="39996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454"/>
              </a:lnSpc>
              <a:tabLst>
                <a:tab pos="0" algn="l"/>
              </a:tabLst>
            </a:pPr>
            <a:r>
              <a:rPr lang="en-US" sz="1040" b="0" u="none" strike="noStrike">
                <a:solidFill>
                  <a:srgbClr val="4F5B66"/>
                </a:solidFill>
                <a:effectLst/>
                <a:uFillTx/>
                <a:latin typeface="DM Sans"/>
                <a:ea typeface="DM Sans"/>
              </a:rPr>
              <a:t>HDB-matched charging points only; one-week observations. Estimated overall occupancy: 25%. </a:t>
            </a:r>
            <a:br>
              <a:rPr sz="1040"/>
            </a:br>
            <a:r>
              <a:rPr lang="en-US" sz="1040" b="0" u="none" strike="noStrike">
                <a:solidFill>
                  <a:srgbClr val="4F5B66"/>
                </a:solidFill>
                <a:effectLst/>
                <a:uFillTx/>
                <a:latin typeface="DM Sans"/>
                <a:ea typeface="DM Sans"/>
              </a:rPr>
              <a:t>Occupied includes charging, reserved and blocked.</a:t>
            </a:r>
            <a:endParaRPr lang="en-GB" sz="1040" b="0" u="none" strike="noStrike">
              <a:solidFill>
                <a:srgbClr val="000000"/>
              </a:solidFill>
              <a:effectLst/>
              <a:uFillTx/>
              <a:latin typeface="Arial"/>
            </a:endParaRPr>
          </a:p>
        </p:txBody>
      </p:sp>
      <p:sp>
        <p:nvSpPr>
          <p:cNvPr id="261" name="Text 63"/>
          <p:cNvSpPr/>
          <p:nvPr/>
        </p:nvSpPr>
        <p:spPr>
          <a:xfrm>
            <a:off x="812880" y="6238080"/>
            <a:ext cx="2202840" cy="23796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681"/>
              </a:lnSpc>
              <a:tabLst>
                <a:tab pos="0" algn="l"/>
              </a:tabLst>
            </a:pPr>
            <a:r>
              <a:rPr lang="en-US" sz="1200" b="0" u="none" strike="noStrike">
                <a:solidFill>
                  <a:srgbClr val="4F5B66"/>
                </a:solidFill>
                <a:effectLst/>
                <a:uFillTx/>
                <a:latin typeface="DM Sans"/>
                <a:ea typeface="DM Sans"/>
              </a:rPr>
              <a:t>EV charging data platform</a:t>
            </a:r>
            <a:endParaRPr lang="en-GB" sz="1200" b="0" u="none" strike="noStrike">
              <a:solidFill>
                <a:srgbClr val="000000"/>
              </a:solidFill>
              <a:effectLst/>
              <a:uFillTx/>
              <a:latin typeface="Arial"/>
            </a:endParaRPr>
          </a:p>
        </p:txBody>
      </p:sp>
      <p:sp>
        <p:nvSpPr>
          <p:cNvPr id="262" name="Text 64"/>
          <p:cNvSpPr/>
          <p:nvPr/>
        </p:nvSpPr>
        <p:spPr>
          <a:xfrm>
            <a:off x="11241360" y="6238080"/>
            <a:ext cx="187920" cy="23796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681"/>
              </a:lnSpc>
              <a:tabLst>
                <a:tab pos="0" algn="l"/>
              </a:tabLst>
            </a:pPr>
            <a:r>
              <a:rPr lang="en-US" sz="1200" b="0" u="none" strike="noStrike">
                <a:solidFill>
                  <a:srgbClr val="4F5B66"/>
                </a:solidFill>
                <a:effectLst/>
                <a:uFillTx/>
                <a:latin typeface="DM Sans"/>
                <a:ea typeface="DM Sans"/>
              </a:rPr>
              <a:t>13</a:t>
            </a:r>
            <a:endParaRPr lang="en-GB" sz="1200" b="0" u="none" strike="noStrike">
              <a:solidFill>
                <a:srgbClr val="000000"/>
              </a:solidFill>
              <a:effectLst/>
              <a:uFillTx/>
              <a:latin typeface="Arial"/>
            </a:endParaRPr>
          </a:p>
        </p:txBody>
      </p:sp>
      <p:sp>
        <p:nvSpPr>
          <p:cNvPr id="263" name="Text 65"/>
          <p:cNvSpPr/>
          <p:nvPr/>
        </p:nvSpPr>
        <p:spPr>
          <a:xfrm>
            <a:off x="1029960" y="4112280"/>
            <a:ext cx="3057480" cy="23796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721"/>
              </a:lnSpc>
              <a:tabLst>
                <a:tab pos="0" algn="l"/>
              </a:tabLst>
            </a:pPr>
            <a:r>
              <a:rPr lang="en-US" sz="1230" b="0" u="none" strike="noStrike">
                <a:solidFill>
                  <a:srgbClr val="4F5B66"/>
                </a:solidFill>
                <a:effectLst/>
                <a:uFillTx/>
                <a:latin typeface="DM Sans"/>
                <a:ea typeface="DM Sans"/>
              </a:rPr>
              <a:t>8 of 102</a:t>
            </a:r>
            <a:endParaRPr lang="en-GB" sz="1230" b="0" u="none" strike="noStrike">
              <a:solidFill>
                <a:srgbClr val="000000"/>
              </a:solidFill>
              <a:effectLst/>
              <a:uFillTx/>
              <a:latin typeface="Arial"/>
            </a:endParaRPr>
          </a:p>
        </p:txBody>
      </p:sp>
      <p:sp>
        <p:nvSpPr>
          <p:cNvPr id="264" name="Text 66"/>
          <p:cNvSpPr/>
          <p:nvPr/>
        </p:nvSpPr>
        <p:spPr>
          <a:xfrm>
            <a:off x="4611240" y="4090680"/>
            <a:ext cx="3057480" cy="23796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721"/>
              </a:lnSpc>
              <a:tabLst>
                <a:tab pos="0" algn="l"/>
              </a:tabLst>
            </a:pPr>
            <a:r>
              <a:rPr lang="en-US" sz="1230" b="0" u="none" strike="noStrike">
                <a:solidFill>
                  <a:srgbClr val="4F5B66"/>
                </a:solidFill>
                <a:effectLst/>
                <a:uFillTx/>
                <a:latin typeface="DM Sans"/>
                <a:ea typeface="DM Sans"/>
              </a:rPr>
              <a:t>25 of 65</a:t>
            </a:r>
            <a:endParaRPr lang="en-GB" sz="1230" b="0" u="none" strike="noStrike">
              <a:solidFill>
                <a:srgbClr val="000000"/>
              </a:solidFill>
              <a:effectLst/>
              <a:uFillTx/>
              <a:latin typeface="Arial"/>
            </a:endParaRPr>
          </a:p>
        </p:txBody>
      </p:sp>
      <p:sp>
        <p:nvSpPr>
          <p:cNvPr id="265" name="Text 67"/>
          <p:cNvSpPr/>
          <p:nvPr/>
        </p:nvSpPr>
        <p:spPr>
          <a:xfrm>
            <a:off x="8201520" y="4079880"/>
            <a:ext cx="3057480" cy="23796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721"/>
              </a:lnSpc>
              <a:tabLst>
                <a:tab pos="0" algn="l"/>
              </a:tabLst>
            </a:pPr>
            <a:r>
              <a:rPr lang="en-US" sz="1230" b="0" u="none" strike="noStrike">
                <a:solidFill>
                  <a:srgbClr val="4F5B66"/>
                </a:solidFill>
                <a:effectLst/>
                <a:uFillTx/>
                <a:latin typeface="DM Sans"/>
                <a:ea typeface="DM Sans"/>
              </a:rPr>
              <a:t>1 of 20</a:t>
            </a:r>
            <a:endParaRPr lang="en-GB" sz="123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266" name="Text 0"/>
          <p:cNvSpPr/>
          <p:nvPr/>
        </p:nvSpPr>
        <p:spPr>
          <a:xfrm>
            <a:off x="812880" y="6238440"/>
            <a:ext cx="22028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F5B66"/>
                </a:solidFill>
                <a:effectLst/>
                <a:uFillTx/>
                <a:latin typeface="DM Sans"/>
                <a:ea typeface="DM Sans"/>
              </a:rPr>
              <a:t>EV charging data platform</a:t>
            </a:r>
            <a:endParaRPr lang="en-GB" sz="1200" b="0" u="none" strike="noStrike">
              <a:solidFill>
                <a:srgbClr val="000000"/>
              </a:solidFill>
              <a:effectLst/>
              <a:uFillTx/>
              <a:latin typeface="Arial"/>
            </a:endParaRPr>
          </a:p>
        </p:txBody>
      </p:sp>
      <p:sp>
        <p:nvSpPr>
          <p:cNvPr id="267" name="Text 1"/>
          <p:cNvSpPr/>
          <p:nvPr/>
        </p:nvSpPr>
        <p:spPr>
          <a:xfrm>
            <a:off x="11250360" y="6238440"/>
            <a:ext cx="1789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F5B66"/>
                </a:solidFill>
                <a:effectLst/>
                <a:uFillTx/>
                <a:latin typeface="DM Sans"/>
                <a:ea typeface="DM Sans"/>
              </a:rPr>
              <a:t>17</a:t>
            </a:r>
            <a:endParaRPr lang="en-GB" sz="1200" b="0" u="none" strike="noStrike">
              <a:solidFill>
                <a:srgbClr val="000000"/>
              </a:solidFill>
              <a:effectLst/>
              <a:uFillTx/>
              <a:latin typeface="Arial"/>
            </a:endParaRPr>
          </a:p>
        </p:txBody>
      </p:sp>
      <p:sp>
        <p:nvSpPr>
          <p:cNvPr id="268" name="Text 2"/>
          <p:cNvSpPr/>
          <p:nvPr/>
        </p:nvSpPr>
        <p:spPr>
          <a:xfrm>
            <a:off x="812880" y="812880"/>
            <a:ext cx="10882800" cy="27360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pc="198" strike="noStrike">
                <a:solidFill>
                  <a:srgbClr val="A85A00"/>
                </a:solidFill>
                <a:effectLst/>
                <a:uFillTx/>
                <a:latin typeface="DM Sans"/>
                <a:ea typeface="DM Sans"/>
              </a:rPr>
              <a:t>RISKS</a:t>
            </a:r>
            <a:endParaRPr lang="en-GB" sz="1400" b="0" u="none" strike="noStrike">
              <a:solidFill>
                <a:srgbClr val="000000"/>
              </a:solidFill>
              <a:effectLst/>
              <a:uFillTx/>
              <a:latin typeface="Arial"/>
            </a:endParaRPr>
          </a:p>
        </p:txBody>
      </p:sp>
      <p:sp>
        <p:nvSpPr>
          <p:cNvPr id="269" name="PlaceHolder 1"/>
          <p:cNvSpPr>
            <a:spLocks noGrp="1"/>
          </p:cNvSpPr>
          <p:nvPr>
            <p:ph type="title"/>
          </p:nvPr>
        </p:nvSpPr>
        <p:spPr>
          <a:xfrm>
            <a:off x="812880" y="1188720"/>
            <a:ext cx="10882800" cy="527400"/>
          </a:xfrm>
          <a:prstGeom prst="rect">
            <a:avLst/>
          </a:prstGeom>
          <a:noFill/>
          <a:ln w="0">
            <a:noFill/>
          </a:ln>
        </p:spPr>
        <p:txBody>
          <a:bodyPr lIns="0" tIns="0" rIns="0" bIns="0" anchor="t">
            <a:normAutofit/>
          </a:bodyPr>
          <a:p>
            <a:pPr indent="0" algn="l" defTabSz="914400">
              <a:lnSpc>
                <a:spcPts val="3960"/>
              </a:lnSpc>
              <a:buNone/>
              <a:tabLst>
                <a:tab pos="0" algn="l"/>
              </a:tabLst>
            </a:pPr>
            <a:r>
              <a:rPr lang="en-US" sz="3600" b="1" u="none" strike="noStrike">
                <a:solidFill>
                  <a:schemeClr val="dk1"/>
                </a:solidFill>
                <a:effectLst/>
                <a:uFillTx/>
                <a:latin typeface="DM Sans"/>
                <a:ea typeface="DM Sans"/>
              </a:rPr>
              <a:t>What could go wrong, and what covers it</a:t>
            </a:r>
            <a:endParaRPr lang="en-US" sz="3600" b="0" u="none" strike="noStrike">
              <a:solidFill>
                <a:schemeClr val="dk1"/>
              </a:solidFill>
              <a:effectLst/>
              <a:uFillTx/>
              <a:latin typeface="Arial"/>
            </a:endParaRPr>
          </a:p>
        </p:txBody>
      </p:sp>
      <p:graphicFrame>
        <p:nvGraphicFramePr>
          <p:cNvPr id="270" name="Table 0"/>
          <p:cNvGraphicFramePr/>
          <p:nvPr/>
        </p:nvGraphicFramePr>
        <p:xfrm>
          <a:off x="824040" y="1954440"/>
          <a:ext cx="10553760" cy="1431360"/>
        </p:xfrm>
        <a:graphic>
          <a:graphicData uri="http://schemas.openxmlformats.org/drawingml/2006/table">
            <a:tbl>
              <a:tblPr/>
              <a:tblGrid>
                <a:gridCol w="3166200"/>
                <a:gridCol w="2638440"/>
                <a:gridCol w="4749480"/>
              </a:tblGrid>
              <a:tr h="357840">
                <a:tc>
                  <a:txBody>
                    <a:bodyPr lIns="57600" rIns="57600" anchor="t">
                      <a:noAutofit/>
                    </a:bodyPr>
                    <a:p>
                      <a:pPr defTabSz="914400">
                        <a:lnSpc>
                          <a:spcPts val="1820"/>
                        </a:lnSpc>
                        <a:tabLst>
                          <a:tab pos="0" algn="l"/>
                        </a:tabLst>
                      </a:pPr>
                      <a:r>
                        <a:rPr lang="en-US" sz="1300" b="1" u="none" strike="noStrike">
                          <a:solidFill>
                            <a:srgbClr val="14232E"/>
                          </a:solidFill>
                          <a:effectLst/>
                          <a:uFillTx/>
                          <a:latin typeface="DM Sans"/>
                          <a:ea typeface="DM Sans"/>
                        </a:rPr>
                        <a:t>Risk</a:t>
                      </a:r>
                      <a:endParaRPr lang="en-GB" sz="1300" b="0" u="none" strike="noStrike">
                        <a:solidFill>
                          <a:srgbClr val="000000"/>
                        </a:solidFill>
                        <a:effectLst/>
                        <a:uFillTx/>
                        <a:latin typeface="Arial"/>
                      </a:endParaRPr>
                    </a:p>
                  </a:txBody>
                  <a:tcPr anchor="t" marL="57600" marR="57600" marT="45720" marB="45720">
                    <a:lnL w="12240">
                      <a:solidFill>
                        <a:srgbClr val="C4C4BF"/>
                      </a:solidFill>
                      <a:prstDash val="solid"/>
                    </a:lnL>
                    <a:lnR w="12240">
                      <a:solidFill>
                        <a:srgbClr val="B6B5B1"/>
                      </a:solidFill>
                      <a:prstDash val="solid"/>
                    </a:lnR>
                    <a:lnT w="12240">
                      <a:solidFill>
                        <a:srgbClr val="C4C4BF"/>
                      </a:solidFill>
                      <a:prstDash val="solid"/>
                    </a:lnT>
                    <a:lnB w="12240">
                      <a:solidFill>
                        <a:srgbClr val="B6B5B1"/>
                      </a:solidFill>
                      <a:prstDash val="solid"/>
                    </a:lnB>
                    <a:solidFill>
                      <a:srgbClr val="E4E3DE"/>
                    </a:solidFill>
                  </a:tcPr>
                </a:tc>
                <a:tc>
                  <a:txBody>
                    <a:bodyPr lIns="57600" rIns="57600" anchor="t">
                      <a:noAutofit/>
                    </a:bodyPr>
                    <a:p>
                      <a:pPr defTabSz="914400">
                        <a:lnSpc>
                          <a:spcPts val="1820"/>
                        </a:lnSpc>
                        <a:tabLst>
                          <a:tab pos="0" algn="l"/>
                        </a:tabLst>
                      </a:pPr>
                      <a:r>
                        <a:rPr lang="en-US" sz="1300" b="1" u="none" strike="noStrike">
                          <a:solidFill>
                            <a:srgbClr val="14232E"/>
                          </a:solidFill>
                          <a:effectLst/>
                          <a:uFillTx/>
                          <a:latin typeface="DM Sans"/>
                          <a:ea typeface="DM Sans"/>
                        </a:rPr>
                        <a:t>Impact</a:t>
                      </a:r>
                      <a:endParaRPr lang="en-GB" sz="1300" b="0" u="none" strike="noStrike">
                        <a:solidFill>
                          <a:srgbClr val="000000"/>
                        </a:solidFill>
                        <a:effectLst/>
                        <a:uFillTx/>
                        <a:latin typeface="Arial"/>
                      </a:endParaRPr>
                    </a:p>
                  </a:txBody>
                  <a:tcPr anchor="t" marL="57600" marR="57600" marT="45720" marB="45720">
                    <a:lnL w="12240">
                      <a:solidFill>
                        <a:srgbClr val="B6B5B1"/>
                      </a:solidFill>
                      <a:prstDash val="solid"/>
                    </a:lnL>
                    <a:lnR w="12240">
                      <a:solidFill>
                        <a:srgbClr val="B6B5B1"/>
                      </a:solidFill>
                      <a:prstDash val="solid"/>
                    </a:lnR>
                    <a:lnT w="12240">
                      <a:solidFill>
                        <a:srgbClr val="C4C4BF"/>
                      </a:solidFill>
                      <a:prstDash val="solid"/>
                    </a:lnT>
                    <a:lnB w="12240">
                      <a:solidFill>
                        <a:srgbClr val="B6B5B1"/>
                      </a:solidFill>
                      <a:prstDash val="solid"/>
                    </a:lnB>
                    <a:solidFill>
                      <a:srgbClr val="E4E3DE"/>
                    </a:solidFill>
                  </a:tcPr>
                </a:tc>
                <a:tc>
                  <a:txBody>
                    <a:bodyPr lIns="57600" rIns="57600" anchor="t">
                      <a:noAutofit/>
                    </a:bodyPr>
                    <a:p>
                      <a:pPr defTabSz="914400">
                        <a:lnSpc>
                          <a:spcPts val="1820"/>
                        </a:lnSpc>
                        <a:tabLst>
                          <a:tab pos="0" algn="l"/>
                        </a:tabLst>
                      </a:pPr>
                      <a:r>
                        <a:rPr lang="en-US" sz="1300" b="1" u="none" strike="noStrike">
                          <a:solidFill>
                            <a:srgbClr val="14232E"/>
                          </a:solidFill>
                          <a:effectLst/>
                          <a:uFillTx/>
                          <a:latin typeface="DM Sans"/>
                          <a:ea typeface="DM Sans"/>
                        </a:rPr>
                        <a:t>Mitigation</a:t>
                      </a:r>
                      <a:endParaRPr lang="en-GB" sz="1300" b="0" u="none" strike="noStrike">
                        <a:solidFill>
                          <a:srgbClr val="000000"/>
                        </a:solidFill>
                        <a:effectLst/>
                        <a:uFillTx/>
                        <a:latin typeface="Arial"/>
                      </a:endParaRPr>
                    </a:p>
                  </a:txBody>
                  <a:tcPr anchor="t" marL="57600" marR="57600" marT="45720" marB="45720">
                    <a:lnL w="12240">
                      <a:solidFill>
                        <a:srgbClr val="B6B5B1"/>
                      </a:solidFill>
                      <a:prstDash val="solid"/>
                    </a:lnL>
                    <a:lnR w="12240">
                      <a:solidFill>
                        <a:srgbClr val="B6B5B1"/>
                      </a:solidFill>
                      <a:prstDash val="solid"/>
                    </a:lnR>
                    <a:lnT w="12240">
                      <a:solidFill>
                        <a:srgbClr val="C4C4BF"/>
                      </a:solidFill>
                      <a:prstDash val="solid"/>
                    </a:lnT>
                    <a:lnB w="12240">
                      <a:solidFill>
                        <a:srgbClr val="B6B5B1"/>
                      </a:solidFill>
                      <a:prstDash val="solid"/>
                    </a:lnB>
                    <a:solidFill>
                      <a:srgbClr val="E4E3DE"/>
                    </a:solidFill>
                  </a:tcPr>
                </a:tc>
              </a:tr>
              <a:tr h="357840">
                <a:tc>
                  <a:txBody>
                    <a:bodyPr lIns="57600" rIns="57600" anchor="t">
                      <a:noAutofit/>
                    </a:bodyPr>
                    <a:p>
                      <a:pPr defTabSz="914400">
                        <a:lnSpc>
                          <a:spcPts val="1820"/>
                        </a:lnSpc>
                        <a:tabLst>
                          <a:tab pos="0" algn="l"/>
                        </a:tabLst>
                      </a:pPr>
                      <a:r>
                        <a:rPr lang="en-US" sz="1300" b="0" u="none" strike="noStrike">
                          <a:solidFill>
                            <a:srgbClr val="14232E"/>
                          </a:solidFill>
                          <a:effectLst/>
                          <a:uFillTx/>
                          <a:latin typeface="DM Sans"/>
                          <a:ea typeface="DM Sans"/>
                        </a:rPr>
                        <a:t>A daily load is partial or missing</a:t>
                      </a:r>
                      <a:endParaRPr lang="en-GB" sz="1300" b="0" u="none" strike="noStrike">
                        <a:solidFill>
                          <a:srgbClr val="000000"/>
                        </a:solidFill>
                        <a:effectLst/>
                        <a:uFillTx/>
                        <a:latin typeface="Arial"/>
                      </a:endParaRPr>
                    </a:p>
                  </a:txBody>
                  <a:tcPr anchor="t" marL="57600" marR="57600" marT="45720" marB="45720">
                    <a:lnL w="12240">
                      <a:solidFill>
                        <a:srgbClr val="C4C4BF"/>
                      </a:solidFill>
                      <a:prstDash val="solid"/>
                    </a:lnL>
                    <a:lnR w="12240">
                      <a:solidFill>
                        <a:srgbClr val="C4C4BF"/>
                      </a:solidFill>
                      <a:prstDash val="solid"/>
                    </a:lnR>
                    <a:lnT w="12240">
                      <a:solidFill>
                        <a:srgbClr val="B6B5B1"/>
                      </a:solidFill>
                      <a:prstDash val="solid"/>
                    </a:lnT>
                    <a:lnB w="12240">
                      <a:solidFill>
                        <a:srgbClr val="C4C4BF"/>
                      </a:solidFill>
                      <a:prstDash val="solid"/>
                    </a:lnB>
                    <a:noFill/>
                  </a:tcPr>
                </a:tc>
                <a:tc>
                  <a:txBody>
                    <a:bodyPr lIns="57600" rIns="57600" anchor="t">
                      <a:noAutofit/>
                    </a:bodyPr>
                    <a:p>
                      <a:pPr defTabSz="914400">
                        <a:lnSpc>
                          <a:spcPts val="1820"/>
                        </a:lnSpc>
                        <a:tabLst>
                          <a:tab pos="0" algn="l"/>
                        </a:tabLst>
                      </a:pPr>
                      <a:r>
                        <a:rPr lang="en-US" sz="1300" b="0" u="none" strike="noStrike">
                          <a:solidFill>
                            <a:srgbClr val="14232E"/>
                          </a:solidFill>
                          <a:effectLst/>
                          <a:uFillTx/>
                          <a:latin typeface="DM Sans"/>
                          <a:ea typeface="DM Sans"/>
                        </a:rPr>
                        <a:t>Gaps in history</a:t>
                      </a:r>
                      <a:endParaRPr lang="en-GB" sz="1300" b="0" u="none" strike="noStrike">
                        <a:solidFill>
                          <a:srgbClr val="000000"/>
                        </a:solidFill>
                        <a:effectLst/>
                        <a:uFillTx/>
                        <a:latin typeface="Arial"/>
                      </a:endParaRPr>
                    </a:p>
                  </a:txBody>
                  <a:tcPr anchor="t" marL="57600" marR="57600" marT="45720" marB="45720">
                    <a:lnL w="12240">
                      <a:solidFill>
                        <a:srgbClr val="C4C4BF"/>
                      </a:solidFill>
                      <a:prstDash val="solid"/>
                    </a:lnL>
                    <a:lnR w="12240">
                      <a:solidFill>
                        <a:srgbClr val="C4C4BF"/>
                      </a:solidFill>
                      <a:prstDash val="solid"/>
                    </a:lnR>
                    <a:lnT w="12240">
                      <a:solidFill>
                        <a:srgbClr val="B6B5B1"/>
                      </a:solidFill>
                      <a:prstDash val="solid"/>
                    </a:lnT>
                    <a:lnB w="12240">
                      <a:solidFill>
                        <a:srgbClr val="C4C4BF"/>
                      </a:solidFill>
                      <a:prstDash val="solid"/>
                    </a:lnB>
                    <a:noFill/>
                  </a:tcPr>
                </a:tc>
                <a:tc>
                  <a:txBody>
                    <a:bodyPr lIns="57600" rIns="57600" anchor="t">
                      <a:noAutofit/>
                    </a:bodyPr>
                    <a:p>
                      <a:pPr defTabSz="914400">
                        <a:lnSpc>
                          <a:spcPts val="1820"/>
                        </a:lnSpc>
                        <a:tabLst>
                          <a:tab pos="0" algn="l"/>
                        </a:tabLst>
                      </a:pPr>
                      <a:r>
                        <a:rPr lang="en-US" sz="1300" b="0" u="none" strike="noStrike">
                          <a:solidFill>
                            <a:srgbClr val="14232E"/>
                          </a:solidFill>
                          <a:effectLst/>
                          <a:uFillTx/>
                          <a:latin typeface="DM Sans"/>
                          <a:ea typeface="DM Sans"/>
                        </a:rPr>
                        <a:t>Load size is checked against normal</a:t>
                      </a:r>
                      <a:endParaRPr lang="en-GB" sz="1300" b="0" u="none" strike="noStrike">
                        <a:solidFill>
                          <a:srgbClr val="000000"/>
                        </a:solidFill>
                        <a:effectLst/>
                        <a:uFillTx/>
                        <a:latin typeface="Arial"/>
                      </a:endParaRPr>
                    </a:p>
                  </a:txBody>
                  <a:tcPr anchor="t" marL="57600" marR="57600" marT="45720" marB="45720">
                    <a:lnL w="12240">
                      <a:solidFill>
                        <a:srgbClr val="C4C4BF"/>
                      </a:solidFill>
                      <a:prstDash val="solid"/>
                    </a:lnL>
                    <a:lnR w="12240">
                      <a:solidFill>
                        <a:srgbClr val="C4C4BF"/>
                      </a:solidFill>
                      <a:prstDash val="solid"/>
                    </a:lnR>
                    <a:lnT w="12240">
                      <a:solidFill>
                        <a:srgbClr val="B6B5B1"/>
                      </a:solidFill>
                      <a:prstDash val="solid"/>
                    </a:lnT>
                    <a:lnB w="12240">
                      <a:solidFill>
                        <a:srgbClr val="C4C4BF"/>
                      </a:solidFill>
                      <a:prstDash val="solid"/>
                    </a:lnB>
                    <a:noFill/>
                  </a:tcPr>
                </a:tc>
              </a:tr>
              <a:tr h="357840">
                <a:tc>
                  <a:txBody>
                    <a:bodyPr lIns="57600" rIns="57600" anchor="t">
                      <a:noAutofit/>
                    </a:bodyPr>
                    <a:p>
                      <a:pPr defTabSz="914400">
                        <a:lnSpc>
                          <a:spcPts val="1820"/>
                        </a:lnSpc>
                        <a:tabLst>
                          <a:tab pos="0" algn="l"/>
                        </a:tabLst>
                      </a:pPr>
                      <a:r>
                        <a:rPr lang="en-US" sz="1300" b="0" u="none" strike="noStrike">
                          <a:solidFill>
                            <a:srgbClr val="14232E"/>
                          </a:solidFill>
                          <a:effectLst/>
                          <a:uFillTx/>
                          <a:latin typeface="DM Sans"/>
                          <a:ea typeface="DM Sans"/>
                        </a:rPr>
                        <a:t>Source adds new values</a:t>
                      </a:r>
                      <a:endParaRPr lang="en-GB" sz="1300" b="0" u="none" strike="noStrike">
                        <a:solidFill>
                          <a:srgbClr val="000000"/>
                        </a:solidFill>
                        <a:effectLst/>
                        <a:uFillTx/>
                        <a:latin typeface="Arial"/>
                      </a:endParaRPr>
                    </a:p>
                  </a:txBody>
                  <a:tcPr anchor="t" marL="57600" marR="57600" marT="45720" marB="45720">
                    <a:lnL w="12240">
                      <a:solidFill>
                        <a:srgbClr val="C4C4BF"/>
                      </a:solidFill>
                      <a:prstDash val="solid"/>
                    </a:lnL>
                    <a:lnR w="12240">
                      <a:solidFill>
                        <a:srgbClr val="BCBBB4"/>
                      </a:solidFill>
                      <a:prstDash val="solid"/>
                    </a:lnR>
                    <a:lnT w="12240">
                      <a:solidFill>
                        <a:srgbClr val="C4C4BF"/>
                      </a:solidFill>
                      <a:prstDash val="solid"/>
                    </a:lnT>
                    <a:lnB w="12240">
                      <a:solidFill>
                        <a:srgbClr val="BCBBB4"/>
                      </a:solidFill>
                      <a:prstDash val="solid"/>
                    </a:lnB>
                    <a:solidFill>
                      <a:srgbClr val="ECEAE2"/>
                    </a:solidFill>
                  </a:tcPr>
                </a:tc>
                <a:tc>
                  <a:txBody>
                    <a:bodyPr lIns="57600" rIns="57600" anchor="t">
                      <a:noAutofit/>
                    </a:bodyPr>
                    <a:p>
                      <a:pPr defTabSz="914400">
                        <a:lnSpc>
                          <a:spcPts val="1820"/>
                        </a:lnSpc>
                        <a:tabLst>
                          <a:tab pos="0" algn="l"/>
                        </a:tabLst>
                      </a:pPr>
                      <a:r>
                        <a:rPr lang="en-US" sz="1300" b="0" u="none" strike="noStrike">
                          <a:solidFill>
                            <a:srgbClr val="14232E"/>
                          </a:solidFill>
                          <a:effectLst/>
                          <a:uFillTx/>
                          <a:latin typeface="DM Sans"/>
                          <a:ea typeface="DM Sans"/>
                        </a:rPr>
                        <a:t>Models break</a:t>
                      </a:r>
                      <a:endParaRPr lang="en-GB" sz="1300" b="0" u="none" strike="noStrike">
                        <a:solidFill>
                          <a:srgbClr val="000000"/>
                        </a:solidFill>
                        <a:effectLst/>
                        <a:uFillTx/>
                        <a:latin typeface="Arial"/>
                      </a:endParaRPr>
                    </a:p>
                  </a:txBody>
                  <a:tcPr anchor="t" marL="57600" marR="57600" marT="45720" marB="45720">
                    <a:lnL w="12240">
                      <a:solidFill>
                        <a:srgbClr val="BCBBB4"/>
                      </a:solidFill>
                      <a:prstDash val="solid"/>
                    </a:lnL>
                    <a:lnR w="12240">
                      <a:solidFill>
                        <a:srgbClr val="BCBBB4"/>
                      </a:solidFill>
                      <a:prstDash val="solid"/>
                    </a:lnR>
                    <a:lnT w="12240">
                      <a:solidFill>
                        <a:srgbClr val="C4C4BF"/>
                      </a:solidFill>
                      <a:prstDash val="solid"/>
                    </a:lnT>
                    <a:lnB w="12240">
                      <a:solidFill>
                        <a:srgbClr val="BCBBB4"/>
                      </a:solidFill>
                      <a:prstDash val="solid"/>
                    </a:lnB>
                    <a:solidFill>
                      <a:srgbClr val="ECEAE2"/>
                    </a:solidFill>
                  </a:tcPr>
                </a:tc>
                <a:tc>
                  <a:txBody>
                    <a:bodyPr lIns="57600" rIns="57600" anchor="t">
                      <a:noAutofit/>
                    </a:bodyPr>
                    <a:p>
                      <a:pPr defTabSz="914400">
                        <a:lnSpc>
                          <a:spcPts val="1820"/>
                        </a:lnSpc>
                        <a:tabLst>
                          <a:tab pos="0" algn="l"/>
                        </a:tabLst>
                      </a:pPr>
                      <a:r>
                        <a:rPr lang="en-US" sz="1300" b="0" u="none" strike="noStrike">
                          <a:solidFill>
                            <a:srgbClr val="14232E"/>
                          </a:solidFill>
                          <a:effectLst/>
                          <a:uFillTx/>
                          <a:latin typeface="DM Sans"/>
                          <a:ea typeface="DM Sans"/>
                        </a:rPr>
                        <a:t>Allowed-value checks fail fast</a:t>
                      </a:r>
                      <a:endParaRPr lang="en-GB" sz="1300" b="0" u="none" strike="noStrike">
                        <a:solidFill>
                          <a:srgbClr val="000000"/>
                        </a:solidFill>
                        <a:effectLst/>
                        <a:uFillTx/>
                        <a:latin typeface="Arial"/>
                      </a:endParaRPr>
                    </a:p>
                  </a:txBody>
                  <a:tcPr anchor="t" marL="57600" marR="57600" marT="45720" marB="45720">
                    <a:lnL w="12240">
                      <a:solidFill>
                        <a:srgbClr val="BCBBB4"/>
                      </a:solidFill>
                      <a:prstDash val="solid"/>
                    </a:lnL>
                    <a:lnR w="12240">
                      <a:solidFill>
                        <a:srgbClr val="BCBBB4"/>
                      </a:solidFill>
                      <a:prstDash val="solid"/>
                    </a:lnR>
                    <a:lnT w="12240">
                      <a:solidFill>
                        <a:srgbClr val="C4C4BF"/>
                      </a:solidFill>
                      <a:prstDash val="solid"/>
                    </a:lnT>
                    <a:lnB w="12240">
                      <a:solidFill>
                        <a:srgbClr val="BCBBB4"/>
                      </a:solidFill>
                      <a:prstDash val="solid"/>
                    </a:lnB>
                    <a:solidFill>
                      <a:srgbClr val="ECEAE2"/>
                    </a:solidFill>
                  </a:tcPr>
                </a:tc>
              </a:tr>
              <a:tr h="357840">
                <a:tc>
                  <a:txBody>
                    <a:bodyPr lIns="57600" rIns="57600" anchor="t">
                      <a:noAutofit/>
                    </a:bodyPr>
                    <a:p>
                      <a:pPr defTabSz="914400">
                        <a:lnSpc>
                          <a:spcPts val="1820"/>
                        </a:lnSpc>
                        <a:tabLst>
                          <a:tab pos="0" algn="l"/>
                        </a:tabLst>
                      </a:pPr>
                      <a:r>
                        <a:rPr lang="en-US" sz="1300" b="0" u="none" strike="noStrike">
                          <a:solidFill>
                            <a:srgbClr val="14232E"/>
                          </a:solidFill>
                          <a:effectLst/>
                          <a:uFillTx/>
                          <a:latin typeface="DM Sans"/>
                          <a:ea typeface="DM Sans"/>
                        </a:rPr>
                        <a:t>Missing prices at some operators</a:t>
                      </a:r>
                      <a:endParaRPr lang="en-GB" sz="1300" b="0" u="none" strike="noStrike">
                        <a:solidFill>
                          <a:srgbClr val="000000"/>
                        </a:solidFill>
                        <a:effectLst/>
                        <a:uFillTx/>
                        <a:latin typeface="Arial"/>
                      </a:endParaRPr>
                    </a:p>
                  </a:txBody>
                  <a:tcPr anchor="t" marL="57600" marR="57600" marT="45720" marB="45720">
                    <a:lnL w="12240">
                      <a:solidFill>
                        <a:srgbClr val="C4C4BF"/>
                      </a:solidFill>
                      <a:prstDash val="solid"/>
                    </a:lnL>
                    <a:lnR w="12240">
                      <a:solidFill>
                        <a:srgbClr val="C4C4BF"/>
                      </a:solidFill>
                      <a:prstDash val="solid"/>
                    </a:lnR>
                    <a:lnT w="12240">
                      <a:solidFill>
                        <a:srgbClr val="BCBBB4"/>
                      </a:solidFill>
                      <a:prstDash val="solid"/>
                    </a:lnT>
                    <a:lnB w="12240">
                      <a:solidFill>
                        <a:srgbClr val="C4C4BF"/>
                      </a:solidFill>
                      <a:prstDash val="solid"/>
                    </a:lnB>
                    <a:noFill/>
                  </a:tcPr>
                </a:tc>
                <a:tc>
                  <a:txBody>
                    <a:bodyPr lIns="57600" rIns="57600" anchor="t">
                      <a:noAutofit/>
                    </a:bodyPr>
                    <a:p>
                      <a:pPr defTabSz="914400">
                        <a:lnSpc>
                          <a:spcPts val="1820"/>
                        </a:lnSpc>
                        <a:tabLst>
                          <a:tab pos="0" algn="l"/>
                        </a:tabLst>
                      </a:pPr>
                      <a:r>
                        <a:rPr lang="en-US" sz="1300" b="0" u="none" strike="noStrike">
                          <a:solidFill>
                            <a:srgbClr val="14232E"/>
                          </a:solidFill>
                          <a:effectLst/>
                          <a:uFillTx/>
                          <a:latin typeface="DM Sans"/>
                          <a:ea typeface="DM Sans"/>
                        </a:rPr>
                        <a:t>Biased price view</a:t>
                      </a:r>
                      <a:endParaRPr lang="en-GB" sz="1300" b="0" u="none" strike="noStrike">
                        <a:solidFill>
                          <a:srgbClr val="000000"/>
                        </a:solidFill>
                        <a:effectLst/>
                        <a:uFillTx/>
                        <a:latin typeface="Arial"/>
                      </a:endParaRPr>
                    </a:p>
                  </a:txBody>
                  <a:tcPr anchor="t" marL="57600" marR="57600" marT="45720" marB="45720">
                    <a:lnL w="12240">
                      <a:solidFill>
                        <a:srgbClr val="C4C4BF"/>
                      </a:solidFill>
                      <a:prstDash val="solid"/>
                    </a:lnL>
                    <a:lnR w="12240">
                      <a:solidFill>
                        <a:srgbClr val="C4C4BF"/>
                      </a:solidFill>
                      <a:prstDash val="solid"/>
                    </a:lnR>
                    <a:lnT w="12240">
                      <a:solidFill>
                        <a:srgbClr val="BCBBB4"/>
                      </a:solidFill>
                      <a:prstDash val="solid"/>
                    </a:lnT>
                    <a:lnB w="12240">
                      <a:solidFill>
                        <a:srgbClr val="C4C4BF"/>
                      </a:solidFill>
                      <a:prstDash val="solid"/>
                    </a:lnB>
                    <a:noFill/>
                  </a:tcPr>
                </a:tc>
                <a:tc>
                  <a:txBody>
                    <a:bodyPr lIns="57600" rIns="57600" anchor="t">
                      <a:noAutofit/>
                    </a:bodyPr>
                    <a:p>
                      <a:pPr defTabSz="914400">
                        <a:lnSpc>
                          <a:spcPts val="1820"/>
                        </a:lnSpc>
                        <a:tabLst>
                          <a:tab pos="0" algn="l"/>
                        </a:tabLst>
                      </a:pPr>
                      <a:r>
                        <a:rPr lang="en-US" sz="1300" b="0" u="none" strike="noStrike">
                          <a:solidFill>
                            <a:srgbClr val="14232E"/>
                          </a:solidFill>
                          <a:effectLst/>
                          <a:uFillTx/>
                          <a:latin typeface="DM Sans"/>
                          <a:ea typeface="DM Sans"/>
                        </a:rPr>
                        <a:t>Averages exclude unpriced points</a:t>
                      </a:r>
                      <a:endParaRPr lang="en-GB" sz="1300" b="0" u="none" strike="noStrike">
                        <a:solidFill>
                          <a:srgbClr val="000000"/>
                        </a:solidFill>
                        <a:effectLst/>
                        <a:uFillTx/>
                        <a:latin typeface="Arial"/>
                      </a:endParaRPr>
                    </a:p>
                  </a:txBody>
                  <a:tcPr anchor="t" marL="57600" marR="57600" marT="45720" marB="45720">
                    <a:lnL w="12240">
                      <a:solidFill>
                        <a:srgbClr val="C4C4BF"/>
                      </a:solidFill>
                      <a:prstDash val="solid"/>
                    </a:lnL>
                    <a:lnR w="12240">
                      <a:solidFill>
                        <a:srgbClr val="C4C4BF"/>
                      </a:solidFill>
                      <a:prstDash val="solid"/>
                    </a:lnR>
                    <a:lnT w="12240">
                      <a:solidFill>
                        <a:srgbClr val="BCBBB4"/>
                      </a:solidFill>
                      <a:prstDash val="solid"/>
                    </a:lnT>
                    <a:lnB w="12240">
                      <a:solidFill>
                        <a:srgbClr val="C4C4BF"/>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271" name="Text 31"/>
          <p:cNvSpPr/>
          <p:nvPr/>
        </p:nvSpPr>
        <p:spPr>
          <a:xfrm>
            <a:off x="812880" y="812880"/>
            <a:ext cx="10882440" cy="27360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959"/>
              </a:lnSpc>
              <a:tabLst>
                <a:tab pos="0" algn="l"/>
              </a:tabLst>
            </a:pPr>
            <a:r>
              <a:rPr lang="en-US" sz="1400" b="1" u="none" spc="37" strike="noStrike">
                <a:solidFill>
                  <a:srgbClr val="0E7C7B"/>
                </a:solidFill>
                <a:effectLst/>
                <a:uFillTx/>
                <a:latin typeface="DM Sans"/>
                <a:ea typeface="DM Sans"/>
              </a:rPr>
              <a:t>WHAT THE INSIGHTS TELL US</a:t>
            </a:r>
            <a:endParaRPr lang="en-GB" sz="1400" b="0" u="none" strike="noStrike">
              <a:solidFill>
                <a:srgbClr val="000000"/>
              </a:solidFill>
              <a:effectLst/>
              <a:uFillTx/>
              <a:latin typeface="Arial"/>
            </a:endParaRPr>
          </a:p>
        </p:txBody>
      </p:sp>
      <p:sp>
        <p:nvSpPr>
          <p:cNvPr id="272" name="PlaceHolder 1"/>
          <p:cNvSpPr>
            <a:spLocks noGrp="1"/>
          </p:cNvSpPr>
          <p:nvPr>
            <p:ph type="title"/>
          </p:nvPr>
        </p:nvSpPr>
        <p:spPr>
          <a:xfrm>
            <a:off x="812880" y="1188720"/>
            <a:ext cx="10882440" cy="1030680"/>
          </a:xfrm>
          <a:prstGeom prst="rect">
            <a:avLst/>
          </a:prstGeom>
          <a:noFill/>
          <a:ln w="0">
            <a:noFill/>
          </a:ln>
        </p:spPr>
        <p:txBody>
          <a:bodyPr numCol="1" spcCol="216000" lIns="0" tIns="0" rIns="0" bIns="0" anchor="t">
            <a:noAutofit/>
          </a:bodyPr>
          <a:p>
            <a:pPr indent="0" algn="l" defTabSz="914400">
              <a:lnSpc>
                <a:spcPts val="3960"/>
              </a:lnSpc>
              <a:buNone/>
              <a:tabLst>
                <a:tab pos="0" algn="l"/>
              </a:tabLst>
            </a:pPr>
            <a:r>
              <a:rPr lang="en-US" sz="3600" b="1" u="none" strike="noStrike">
                <a:solidFill>
                  <a:schemeClr val="dk1"/>
                </a:solidFill>
                <a:effectLst/>
                <a:uFillTx/>
                <a:latin typeface="DM Sans"/>
                <a:ea typeface="DM Sans"/>
              </a:rPr>
              <a:t>High Observed Availability, but Location and Future Demand Still Matter</a:t>
            </a:r>
            <a:endParaRPr lang="en-US" sz="3600" b="0" u="none" strike="noStrike">
              <a:solidFill>
                <a:schemeClr val="dk1"/>
              </a:solidFill>
              <a:effectLst/>
              <a:uFillTx/>
              <a:latin typeface="Arial"/>
            </a:endParaRPr>
          </a:p>
        </p:txBody>
      </p:sp>
      <p:sp>
        <p:nvSpPr>
          <p:cNvPr id="273" name="Shape 2"/>
          <p:cNvSpPr/>
          <p:nvPr/>
        </p:nvSpPr>
        <p:spPr>
          <a:xfrm>
            <a:off x="816120" y="2400840"/>
            <a:ext cx="10559160" cy="745920"/>
          </a:xfrm>
          <a:prstGeom prst="roundRect">
            <a:avLst>
              <a:gd name="adj" fmla="val 11483"/>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274" name="Text 33"/>
          <p:cNvSpPr/>
          <p:nvPr/>
        </p:nvSpPr>
        <p:spPr>
          <a:xfrm>
            <a:off x="1021680" y="2596680"/>
            <a:ext cx="354960" cy="354960"/>
          </a:xfrm>
          <a:custGeom>
            <a:avLst/>
            <a:gdLst>
              <a:gd name="textAreaLeft" fmla="*/ 0 w 354960"/>
              <a:gd name="textAreaRight" fmla="*/ 128016000 w 354960"/>
              <a:gd name="textAreaTop" fmla="*/ 0 h 354960"/>
              <a:gd name="textAreaBottom" fmla="*/ 128016000 h 354960"/>
            </a:gdLst>
            <a:ahLst/>
            <a:cxnLst/>
            <a:rect l="textAreaLeft" t="textAreaTop" r="textAreaRight" b="textAreaBottom"/>
            <a:pathLst>
              <a:path w="355600" h="355600">
                <a:moveTo>
                  <a:pt x="177800" y="0"/>
                </a:moveTo>
                <a:cubicBezTo>
                  <a:pt x="224937" y="0"/>
                  <a:pt x="270192" y="18745"/>
                  <a:pt x="303524" y="52076"/>
                </a:cubicBezTo>
                <a:cubicBezTo>
                  <a:pt x="336855" y="85408"/>
                  <a:pt x="355600" y="130663"/>
                  <a:pt x="355600" y="177800"/>
                </a:cubicBezTo>
                <a:cubicBezTo>
                  <a:pt x="355600" y="224937"/>
                  <a:pt x="336855" y="270192"/>
                  <a:pt x="303524" y="303524"/>
                </a:cubicBezTo>
                <a:cubicBezTo>
                  <a:pt x="270192" y="336855"/>
                  <a:pt x="224937" y="355600"/>
                  <a:pt x="177800" y="355600"/>
                </a:cubicBezTo>
                <a:cubicBezTo>
                  <a:pt x="130663" y="355600"/>
                  <a:pt x="85408" y="336855"/>
                  <a:pt x="52076" y="303524"/>
                </a:cubicBezTo>
                <a:cubicBezTo>
                  <a:pt x="18745" y="270192"/>
                  <a:pt x="0" y="224937"/>
                  <a:pt x="0" y="177800"/>
                </a:cubicBezTo>
                <a:cubicBezTo>
                  <a:pt x="0" y="130663"/>
                  <a:pt x="18745" y="85408"/>
                  <a:pt x="52076" y="52076"/>
                </a:cubicBezTo>
                <a:cubicBezTo>
                  <a:pt x="85408" y="18745"/>
                  <a:pt x="130663" y="0"/>
                  <a:pt x="177800" y="0"/>
                </a:cubicBezTo>
                <a:close/>
              </a:path>
            </a:pathLst>
          </a:custGeom>
          <a:solidFill>
            <a:srgbClr val="0E7C7B"/>
          </a:solidFill>
          <a:ln w="0">
            <a:noFill/>
          </a:ln>
        </p:spPr>
        <p:style>
          <a:lnRef idx="0"/>
          <a:fillRef idx="0"/>
          <a:effectRef idx="0"/>
          <a:fontRef idx="minor"/>
        </p:style>
        <p:txBody>
          <a:bodyPr numCol="1" spcCol="216000" lIns="0" tIns="0" rIns="0" bIns="0" anchor="t">
            <a:noAutofit/>
          </a:bodyPr>
          <a:p>
            <a:pPr algn="ctr" defTabSz="914400">
              <a:lnSpc>
                <a:spcPts val="2381"/>
              </a:lnSpc>
              <a:tabLst>
                <a:tab pos="0" algn="l"/>
              </a:tabLst>
            </a:pPr>
            <a:r>
              <a:rPr lang="en-US" sz="1700" b="1" u="none" strike="noStrike">
                <a:solidFill>
                  <a:srgbClr val="FFFFFF"/>
                </a:solidFill>
                <a:effectLst/>
                <a:uFillTx/>
                <a:latin typeface="DM Sans"/>
                <a:ea typeface="DM Sans"/>
              </a:rPr>
              <a:t>1</a:t>
            </a:r>
            <a:endParaRPr lang="en-GB" sz="1700" b="0" u="none" strike="noStrike">
              <a:solidFill>
                <a:srgbClr val="FFFFFF"/>
              </a:solidFill>
              <a:effectLst/>
              <a:uFillTx/>
              <a:latin typeface="Arial"/>
            </a:endParaRPr>
          </a:p>
        </p:txBody>
      </p:sp>
      <p:sp>
        <p:nvSpPr>
          <p:cNvPr id="275" name="Text 95"/>
          <p:cNvSpPr/>
          <p:nvPr/>
        </p:nvSpPr>
        <p:spPr>
          <a:xfrm>
            <a:off x="1555200" y="2655000"/>
            <a:ext cx="4185360" cy="26280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874"/>
              </a:lnSpc>
              <a:tabLst>
                <a:tab pos="0" algn="l"/>
              </a:tabLst>
            </a:pPr>
            <a:r>
              <a:rPr lang="en-US" sz="1500" b="1" u="none" strike="noStrike">
                <a:solidFill>
                  <a:srgbClr val="14232E"/>
                </a:solidFill>
                <a:effectLst/>
                <a:uFillTx/>
                <a:latin typeface="DM Sans"/>
                <a:ea typeface="DM Sans"/>
              </a:rPr>
              <a:t>Four operators run 81% of charging points</a:t>
            </a:r>
            <a:endParaRPr lang="en-GB" sz="1500" b="0" u="none" strike="noStrike">
              <a:solidFill>
                <a:srgbClr val="000000"/>
              </a:solidFill>
              <a:effectLst/>
              <a:uFillTx/>
              <a:latin typeface="Arial"/>
            </a:endParaRPr>
          </a:p>
        </p:txBody>
      </p:sp>
      <p:sp>
        <p:nvSpPr>
          <p:cNvPr id="276" name="Text 96"/>
          <p:cNvSpPr/>
          <p:nvPr/>
        </p:nvSpPr>
        <p:spPr>
          <a:xfrm>
            <a:off x="5797080" y="2543040"/>
            <a:ext cx="5533920" cy="48708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820"/>
              </a:lnSpc>
              <a:tabLst>
                <a:tab pos="0" algn="l"/>
              </a:tabLst>
            </a:pPr>
            <a:r>
              <a:rPr lang="en-US" sz="1400" b="0" u="none" strike="noStrike">
                <a:solidFill>
                  <a:srgbClr val="4F5B66"/>
                </a:solidFill>
                <a:effectLst/>
                <a:uFillTx/>
                <a:latin typeface="DM Sans"/>
                <a:ea typeface="DM Sans"/>
              </a:rPr>
              <a:t>A few operators shape the experience for most drivers, so partnerships and pricing with them matter most.</a:t>
            </a:r>
            <a:endParaRPr lang="en-GB" sz="1400" b="0" u="none" strike="noStrike">
              <a:solidFill>
                <a:srgbClr val="000000"/>
              </a:solidFill>
              <a:effectLst/>
              <a:uFillTx/>
              <a:latin typeface="Arial"/>
            </a:endParaRPr>
          </a:p>
        </p:txBody>
      </p:sp>
      <p:sp>
        <p:nvSpPr>
          <p:cNvPr id="277" name="Shape 6"/>
          <p:cNvSpPr/>
          <p:nvPr/>
        </p:nvSpPr>
        <p:spPr>
          <a:xfrm>
            <a:off x="816120" y="3242880"/>
            <a:ext cx="10559160" cy="759240"/>
          </a:xfrm>
          <a:prstGeom prst="roundRect">
            <a:avLst>
              <a:gd name="adj" fmla="val 11271"/>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278" name="Text 97"/>
          <p:cNvSpPr/>
          <p:nvPr/>
        </p:nvSpPr>
        <p:spPr>
          <a:xfrm>
            <a:off x="1021680" y="3444840"/>
            <a:ext cx="354960" cy="354960"/>
          </a:xfrm>
          <a:custGeom>
            <a:avLst/>
            <a:gdLst>
              <a:gd name="textAreaLeft" fmla="*/ 0 w 354960"/>
              <a:gd name="textAreaRight" fmla="*/ 128016000 w 354960"/>
              <a:gd name="textAreaTop" fmla="*/ 0 h 354960"/>
              <a:gd name="textAreaBottom" fmla="*/ 128016000 h 354960"/>
            </a:gdLst>
            <a:ahLst/>
            <a:cxnLst/>
            <a:rect l="textAreaLeft" t="textAreaTop" r="textAreaRight" b="textAreaBottom"/>
            <a:pathLst>
              <a:path w="355600" h="355600">
                <a:moveTo>
                  <a:pt x="177800" y="0"/>
                </a:moveTo>
                <a:cubicBezTo>
                  <a:pt x="224937" y="0"/>
                  <a:pt x="270192" y="18745"/>
                  <a:pt x="303524" y="52076"/>
                </a:cubicBezTo>
                <a:cubicBezTo>
                  <a:pt x="336855" y="85408"/>
                  <a:pt x="355600" y="130663"/>
                  <a:pt x="355600" y="177800"/>
                </a:cubicBezTo>
                <a:cubicBezTo>
                  <a:pt x="355600" y="224937"/>
                  <a:pt x="336855" y="270192"/>
                  <a:pt x="303524" y="303524"/>
                </a:cubicBezTo>
                <a:cubicBezTo>
                  <a:pt x="270192" y="336855"/>
                  <a:pt x="224937" y="355600"/>
                  <a:pt x="177800" y="355600"/>
                </a:cubicBezTo>
                <a:cubicBezTo>
                  <a:pt x="130663" y="355600"/>
                  <a:pt x="85408" y="336855"/>
                  <a:pt x="52076" y="303524"/>
                </a:cubicBezTo>
                <a:cubicBezTo>
                  <a:pt x="18745" y="270192"/>
                  <a:pt x="0" y="224937"/>
                  <a:pt x="0" y="177800"/>
                </a:cubicBezTo>
                <a:cubicBezTo>
                  <a:pt x="0" y="130663"/>
                  <a:pt x="18745" y="85408"/>
                  <a:pt x="52076" y="52076"/>
                </a:cubicBezTo>
                <a:cubicBezTo>
                  <a:pt x="85408" y="18745"/>
                  <a:pt x="130663" y="0"/>
                  <a:pt x="177800" y="0"/>
                </a:cubicBezTo>
                <a:close/>
              </a:path>
            </a:pathLst>
          </a:custGeom>
          <a:solidFill>
            <a:srgbClr val="0E7C7B"/>
          </a:solidFill>
          <a:ln w="0">
            <a:noFill/>
          </a:ln>
        </p:spPr>
        <p:style>
          <a:lnRef idx="0"/>
          <a:fillRef idx="0"/>
          <a:effectRef idx="0"/>
          <a:fontRef idx="minor"/>
        </p:style>
        <p:txBody>
          <a:bodyPr numCol="1" spcCol="216000" lIns="0" tIns="0" rIns="0" bIns="0" anchor="t">
            <a:noAutofit/>
          </a:bodyPr>
          <a:p>
            <a:pPr algn="ctr" defTabSz="914400">
              <a:lnSpc>
                <a:spcPts val="2381"/>
              </a:lnSpc>
              <a:tabLst>
                <a:tab pos="0" algn="l"/>
              </a:tabLst>
            </a:pPr>
            <a:r>
              <a:rPr lang="en-US" sz="1700" b="1" u="none" strike="noStrike">
                <a:solidFill>
                  <a:srgbClr val="FFFFFF"/>
                </a:solidFill>
                <a:effectLst/>
                <a:uFillTx/>
                <a:latin typeface="DM Sans"/>
                <a:ea typeface="DM Sans"/>
              </a:rPr>
              <a:t>2</a:t>
            </a:r>
            <a:endParaRPr lang="en-GB" sz="1700" b="0" u="none" strike="noStrike">
              <a:solidFill>
                <a:srgbClr val="FFFFFF"/>
              </a:solidFill>
              <a:effectLst/>
              <a:uFillTx/>
              <a:latin typeface="Arial"/>
            </a:endParaRPr>
          </a:p>
        </p:txBody>
      </p:sp>
      <p:sp>
        <p:nvSpPr>
          <p:cNvPr id="279" name="Text 98"/>
          <p:cNvSpPr/>
          <p:nvPr/>
        </p:nvSpPr>
        <p:spPr>
          <a:xfrm>
            <a:off x="1555200" y="3384720"/>
            <a:ext cx="4185360" cy="50076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874"/>
              </a:lnSpc>
              <a:tabLst>
                <a:tab pos="0" algn="l"/>
              </a:tabLst>
            </a:pPr>
            <a:r>
              <a:rPr lang="en-US" sz="1500" b="1" u="none" strike="noStrike">
                <a:solidFill>
                  <a:srgbClr val="14232E"/>
                </a:solidFill>
                <a:effectLst/>
                <a:uFillTx/>
                <a:latin typeface="DM Sans"/>
                <a:ea typeface="DM Sans"/>
              </a:rPr>
              <a:t>Bigger networks do not charge more, and speed varies by region</a:t>
            </a:r>
            <a:endParaRPr lang="en-GB" sz="1500" b="0" u="none" strike="noStrike">
              <a:solidFill>
                <a:srgbClr val="000000"/>
              </a:solidFill>
              <a:effectLst/>
              <a:uFillTx/>
              <a:latin typeface="Arial"/>
            </a:endParaRPr>
          </a:p>
        </p:txBody>
      </p:sp>
      <p:sp>
        <p:nvSpPr>
          <p:cNvPr id="280" name="Text 99"/>
          <p:cNvSpPr/>
          <p:nvPr/>
        </p:nvSpPr>
        <p:spPr>
          <a:xfrm>
            <a:off x="5797080" y="3391560"/>
            <a:ext cx="5533920" cy="48708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820"/>
              </a:lnSpc>
              <a:tabLst>
                <a:tab pos="0" algn="l"/>
              </a:tabLst>
            </a:pPr>
            <a:r>
              <a:rPr lang="en-US" sz="1400" b="0" u="none" strike="noStrike">
                <a:solidFill>
                  <a:srgbClr val="4F5B66"/>
                </a:solidFill>
                <a:effectLst/>
                <a:uFillTx/>
                <a:latin typeface="DM Sans"/>
                <a:ea typeface="DM Sans"/>
              </a:rPr>
              <a:t>Drivers can compare price and speed by operator and region, not just by brand size.</a:t>
            </a:r>
            <a:endParaRPr lang="en-GB" sz="1400" b="0" u="none" strike="noStrike">
              <a:solidFill>
                <a:srgbClr val="000000"/>
              </a:solidFill>
              <a:effectLst/>
              <a:uFillTx/>
              <a:latin typeface="Arial"/>
            </a:endParaRPr>
          </a:p>
        </p:txBody>
      </p:sp>
      <p:sp>
        <p:nvSpPr>
          <p:cNvPr id="281" name="Shape 10"/>
          <p:cNvSpPr/>
          <p:nvPr/>
        </p:nvSpPr>
        <p:spPr>
          <a:xfrm>
            <a:off x="816120" y="4098240"/>
            <a:ext cx="10559160" cy="759960"/>
          </a:xfrm>
          <a:prstGeom prst="roundRect">
            <a:avLst>
              <a:gd name="adj" fmla="val 11271"/>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282" name="Text 100"/>
          <p:cNvSpPr/>
          <p:nvPr/>
        </p:nvSpPr>
        <p:spPr>
          <a:xfrm>
            <a:off x="1021680" y="4300920"/>
            <a:ext cx="354960" cy="354960"/>
          </a:xfrm>
          <a:custGeom>
            <a:avLst/>
            <a:gdLst>
              <a:gd name="textAreaLeft" fmla="*/ 0 w 354960"/>
              <a:gd name="textAreaRight" fmla="*/ 128016000 w 354960"/>
              <a:gd name="textAreaTop" fmla="*/ 0 h 354960"/>
              <a:gd name="textAreaBottom" fmla="*/ 128016000 h 354960"/>
            </a:gdLst>
            <a:ahLst/>
            <a:cxnLst/>
            <a:rect l="textAreaLeft" t="textAreaTop" r="textAreaRight" b="textAreaBottom"/>
            <a:pathLst>
              <a:path w="355600" h="355600">
                <a:moveTo>
                  <a:pt x="177800" y="0"/>
                </a:moveTo>
                <a:cubicBezTo>
                  <a:pt x="224937" y="0"/>
                  <a:pt x="270192" y="18745"/>
                  <a:pt x="303524" y="52076"/>
                </a:cubicBezTo>
                <a:cubicBezTo>
                  <a:pt x="336855" y="85408"/>
                  <a:pt x="355600" y="130663"/>
                  <a:pt x="355600" y="177800"/>
                </a:cubicBezTo>
                <a:cubicBezTo>
                  <a:pt x="355600" y="224937"/>
                  <a:pt x="336855" y="270192"/>
                  <a:pt x="303524" y="303524"/>
                </a:cubicBezTo>
                <a:cubicBezTo>
                  <a:pt x="270192" y="336855"/>
                  <a:pt x="224937" y="355600"/>
                  <a:pt x="177800" y="355600"/>
                </a:cubicBezTo>
                <a:cubicBezTo>
                  <a:pt x="130663" y="355600"/>
                  <a:pt x="85408" y="336855"/>
                  <a:pt x="52076" y="303524"/>
                </a:cubicBezTo>
                <a:cubicBezTo>
                  <a:pt x="18745" y="270192"/>
                  <a:pt x="0" y="224937"/>
                  <a:pt x="0" y="177800"/>
                </a:cubicBezTo>
                <a:cubicBezTo>
                  <a:pt x="0" y="130663"/>
                  <a:pt x="18745" y="85408"/>
                  <a:pt x="52076" y="52076"/>
                </a:cubicBezTo>
                <a:cubicBezTo>
                  <a:pt x="85408" y="18745"/>
                  <a:pt x="130663" y="0"/>
                  <a:pt x="177800" y="0"/>
                </a:cubicBezTo>
                <a:close/>
              </a:path>
            </a:pathLst>
          </a:custGeom>
          <a:solidFill>
            <a:srgbClr val="0E7C7B"/>
          </a:solidFill>
          <a:ln w="0">
            <a:noFill/>
          </a:ln>
        </p:spPr>
        <p:style>
          <a:lnRef idx="0"/>
          <a:fillRef idx="0"/>
          <a:effectRef idx="0"/>
          <a:fontRef idx="minor"/>
        </p:style>
        <p:txBody>
          <a:bodyPr numCol="1" spcCol="216000" lIns="0" tIns="0" rIns="0" bIns="0" anchor="t">
            <a:noAutofit/>
          </a:bodyPr>
          <a:p>
            <a:pPr algn="ctr" defTabSz="914400">
              <a:lnSpc>
                <a:spcPts val="2381"/>
              </a:lnSpc>
              <a:tabLst>
                <a:tab pos="0" algn="l"/>
              </a:tabLst>
            </a:pPr>
            <a:r>
              <a:rPr lang="en-US" sz="1700" b="1" u="none" strike="noStrike">
                <a:solidFill>
                  <a:srgbClr val="FFFFFF"/>
                </a:solidFill>
                <a:effectLst/>
                <a:uFillTx/>
                <a:latin typeface="DM Sans"/>
                <a:ea typeface="DM Sans"/>
              </a:rPr>
              <a:t>3</a:t>
            </a:r>
            <a:endParaRPr lang="en-GB" sz="1700" b="0" u="none" strike="noStrike">
              <a:solidFill>
                <a:srgbClr val="FFFFFF"/>
              </a:solidFill>
              <a:effectLst/>
              <a:uFillTx/>
              <a:latin typeface="Arial"/>
            </a:endParaRPr>
          </a:p>
        </p:txBody>
      </p:sp>
      <p:sp>
        <p:nvSpPr>
          <p:cNvPr id="283" name="Text 101"/>
          <p:cNvSpPr/>
          <p:nvPr/>
        </p:nvSpPr>
        <p:spPr>
          <a:xfrm>
            <a:off x="1555200" y="4240440"/>
            <a:ext cx="4185360" cy="50076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874"/>
              </a:lnSpc>
              <a:tabLst>
                <a:tab pos="0" algn="l"/>
              </a:tabLst>
            </a:pPr>
            <a:r>
              <a:rPr lang="en-US" sz="1500" b="1" u="none" strike="noStrike">
                <a:solidFill>
                  <a:srgbClr val="14232E"/>
                </a:solidFill>
                <a:effectLst/>
                <a:uFillTx/>
                <a:latin typeface="DM Sans"/>
                <a:ea typeface="DM Sans"/>
              </a:rPr>
              <a:t>Over 90% of locations had an available charging point during the week</a:t>
            </a:r>
            <a:endParaRPr lang="en-GB" sz="1500" b="0" u="none" strike="noStrike">
              <a:solidFill>
                <a:srgbClr val="000000"/>
              </a:solidFill>
              <a:effectLst/>
              <a:uFillTx/>
              <a:latin typeface="Arial"/>
            </a:endParaRPr>
          </a:p>
        </p:txBody>
      </p:sp>
      <p:sp>
        <p:nvSpPr>
          <p:cNvPr id="284" name="Text 102"/>
          <p:cNvSpPr/>
          <p:nvPr/>
        </p:nvSpPr>
        <p:spPr>
          <a:xfrm>
            <a:off x="5797080" y="4247640"/>
            <a:ext cx="5533920" cy="48708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820"/>
              </a:lnSpc>
              <a:tabLst>
                <a:tab pos="0" algn="l"/>
              </a:tabLst>
            </a:pPr>
            <a:r>
              <a:rPr lang="en-US" sz="1400" b="0" u="none" strike="noStrike">
                <a:solidFill>
                  <a:srgbClr val="4F5B66"/>
                </a:solidFill>
                <a:effectLst/>
                <a:uFillTx/>
                <a:latin typeface="DM Sans"/>
                <a:ea typeface="DM Sans"/>
              </a:rPr>
              <a:t>Existing charging locations generally had at least one available charging point during the observation period.</a:t>
            </a:r>
            <a:endParaRPr lang="en-GB" sz="1400" b="0" u="none" strike="noStrike">
              <a:solidFill>
                <a:srgbClr val="000000"/>
              </a:solidFill>
              <a:effectLst/>
              <a:uFillTx/>
              <a:latin typeface="Arial"/>
            </a:endParaRPr>
          </a:p>
        </p:txBody>
      </p:sp>
      <p:sp>
        <p:nvSpPr>
          <p:cNvPr id="285" name="Shape 14"/>
          <p:cNvSpPr/>
          <p:nvPr/>
        </p:nvSpPr>
        <p:spPr>
          <a:xfrm>
            <a:off x="816120" y="4954320"/>
            <a:ext cx="10559160" cy="759960"/>
          </a:xfrm>
          <a:prstGeom prst="roundRect">
            <a:avLst>
              <a:gd name="adj" fmla="val 11271"/>
            </a:avLst>
          </a:prstGeom>
          <a:solidFill>
            <a:srgbClr val="FFFFFF"/>
          </a:solidFill>
          <a:ln w="6480">
            <a:solidFill>
              <a:srgbClr val="DDDBD2"/>
            </a:solidFill>
            <a:round/>
          </a:ln>
        </p:spPr>
        <p:style>
          <a:lnRef idx="0"/>
          <a:fillRef idx="0"/>
          <a:effectRef idx="0"/>
          <a:fontRef idx="minor"/>
        </p:style>
        <p:txBody>
          <a:bodyPr lIns="90000" tIns="45000" rIns="90000" bIns="45000" anchor="t">
            <a:noAutofit/>
          </a:bodyPr>
          <a:p>
            <a:pPr/>
            <a:endParaRPr lang="en-GB" sz="1800" b="0" u="none" strike="noStrike">
              <a:solidFill>
                <a:srgbClr val="000000"/>
              </a:solidFill>
              <a:effectLst/>
              <a:uFillTx/>
              <a:latin typeface="Arial"/>
            </a:endParaRPr>
          </a:p>
        </p:txBody>
      </p:sp>
      <p:sp>
        <p:nvSpPr>
          <p:cNvPr id="286" name="Text 103"/>
          <p:cNvSpPr/>
          <p:nvPr/>
        </p:nvSpPr>
        <p:spPr>
          <a:xfrm>
            <a:off x="1021680" y="5157000"/>
            <a:ext cx="354960" cy="354960"/>
          </a:xfrm>
          <a:custGeom>
            <a:avLst/>
            <a:gdLst>
              <a:gd name="textAreaLeft" fmla="*/ 0 w 354960"/>
              <a:gd name="textAreaRight" fmla="*/ 128016000 w 354960"/>
              <a:gd name="textAreaTop" fmla="*/ 0 h 354960"/>
              <a:gd name="textAreaBottom" fmla="*/ 128016000 h 354960"/>
            </a:gdLst>
            <a:ahLst/>
            <a:cxnLst/>
            <a:rect l="textAreaLeft" t="textAreaTop" r="textAreaRight" b="textAreaBottom"/>
            <a:pathLst>
              <a:path w="355600" h="355600">
                <a:moveTo>
                  <a:pt x="177800" y="0"/>
                </a:moveTo>
                <a:cubicBezTo>
                  <a:pt x="224937" y="0"/>
                  <a:pt x="270192" y="18745"/>
                  <a:pt x="303524" y="52076"/>
                </a:cubicBezTo>
                <a:cubicBezTo>
                  <a:pt x="336855" y="85408"/>
                  <a:pt x="355600" y="130663"/>
                  <a:pt x="355600" y="177800"/>
                </a:cubicBezTo>
                <a:cubicBezTo>
                  <a:pt x="355600" y="224937"/>
                  <a:pt x="336855" y="270192"/>
                  <a:pt x="303524" y="303524"/>
                </a:cubicBezTo>
                <a:cubicBezTo>
                  <a:pt x="270192" y="336855"/>
                  <a:pt x="224937" y="355600"/>
                  <a:pt x="177800" y="355600"/>
                </a:cubicBezTo>
                <a:cubicBezTo>
                  <a:pt x="130663" y="355600"/>
                  <a:pt x="85408" y="336855"/>
                  <a:pt x="52076" y="303524"/>
                </a:cubicBezTo>
                <a:cubicBezTo>
                  <a:pt x="18745" y="270192"/>
                  <a:pt x="0" y="224937"/>
                  <a:pt x="0" y="177800"/>
                </a:cubicBezTo>
                <a:cubicBezTo>
                  <a:pt x="0" y="130663"/>
                  <a:pt x="18745" y="85408"/>
                  <a:pt x="52076" y="52076"/>
                </a:cubicBezTo>
                <a:cubicBezTo>
                  <a:pt x="85408" y="18745"/>
                  <a:pt x="130663" y="0"/>
                  <a:pt x="177800" y="0"/>
                </a:cubicBezTo>
                <a:close/>
              </a:path>
            </a:pathLst>
          </a:custGeom>
          <a:solidFill>
            <a:srgbClr val="0E7C7B"/>
          </a:solidFill>
          <a:ln w="0">
            <a:noFill/>
          </a:ln>
        </p:spPr>
        <p:style>
          <a:lnRef idx="0"/>
          <a:fillRef idx="0"/>
          <a:effectRef idx="0"/>
          <a:fontRef idx="minor"/>
        </p:style>
        <p:txBody>
          <a:bodyPr numCol="1" spcCol="216000" lIns="0" tIns="0" rIns="0" bIns="0" anchor="t">
            <a:noAutofit/>
          </a:bodyPr>
          <a:p>
            <a:pPr algn="ctr" defTabSz="914400">
              <a:lnSpc>
                <a:spcPts val="2381"/>
              </a:lnSpc>
              <a:tabLst>
                <a:tab pos="0" algn="l"/>
              </a:tabLst>
            </a:pPr>
            <a:r>
              <a:rPr lang="en-US" sz="1700" b="1" u="none" strike="noStrike">
                <a:solidFill>
                  <a:srgbClr val="FFFFFF"/>
                </a:solidFill>
                <a:effectLst/>
                <a:uFillTx/>
                <a:latin typeface="DM Sans"/>
                <a:ea typeface="DM Sans"/>
              </a:rPr>
              <a:t>4</a:t>
            </a:r>
            <a:endParaRPr lang="en-GB" sz="1700" b="0" u="none" strike="noStrike">
              <a:solidFill>
                <a:srgbClr val="FFFFFF"/>
              </a:solidFill>
              <a:effectLst/>
              <a:uFillTx/>
              <a:latin typeface="Arial"/>
            </a:endParaRPr>
          </a:p>
        </p:txBody>
      </p:sp>
      <p:sp>
        <p:nvSpPr>
          <p:cNvPr id="287" name="Text 104"/>
          <p:cNvSpPr/>
          <p:nvPr/>
        </p:nvSpPr>
        <p:spPr>
          <a:xfrm>
            <a:off x="1555200" y="5096520"/>
            <a:ext cx="4185360" cy="500760"/>
          </a:xfrm>
          <a:prstGeom prst="rect">
            <a:avLst/>
          </a:prstGeom>
          <a:noFill/>
          <a:ln w="0">
            <a:noFill/>
          </a:ln>
        </p:spPr>
        <p:style>
          <a:lnRef idx="0"/>
          <a:fillRef idx="0"/>
          <a:effectRef idx="0"/>
          <a:fontRef idx="minor"/>
        </p:style>
        <p:txBody>
          <a:bodyPr numCol="1" spcCol="216000" lIns="0" tIns="0" rIns="0" bIns="0" anchor="t">
            <a:noAutofit/>
          </a:bodyPr>
          <a:p>
            <a:pPr defTabSz="914400">
              <a:lnSpc>
                <a:spcPct val="100000"/>
              </a:lnSpc>
              <a:tabLst>
                <a:tab pos="0" algn="l"/>
              </a:tabLst>
            </a:pPr>
            <a:r>
              <a:rPr lang="en-US" sz="1500" b="1" u="none" strike="noStrike">
                <a:solidFill>
                  <a:schemeClr val="dk1"/>
                </a:solidFill>
                <a:effectLst/>
                <a:uFillTx/>
                <a:latin typeface="DM Sans"/>
                <a:ea typeface="DM Sans"/>
              </a:rPr>
              <a:t>Charging usage varies geographically; future housing may change demand</a:t>
            </a:r>
            <a:endParaRPr lang="en-GB" sz="1500" b="0" u="none" strike="noStrike">
              <a:solidFill>
                <a:srgbClr val="000000"/>
              </a:solidFill>
              <a:effectLst/>
              <a:uFillTx/>
              <a:latin typeface="Arial"/>
            </a:endParaRPr>
          </a:p>
        </p:txBody>
      </p:sp>
      <p:sp>
        <p:nvSpPr>
          <p:cNvPr id="288" name="Text 105"/>
          <p:cNvSpPr/>
          <p:nvPr/>
        </p:nvSpPr>
        <p:spPr>
          <a:xfrm>
            <a:off x="5797080" y="5103360"/>
            <a:ext cx="5533920" cy="48708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820"/>
              </a:lnSpc>
              <a:tabLst>
                <a:tab pos="0" algn="l"/>
              </a:tabLst>
            </a:pPr>
            <a:r>
              <a:rPr lang="en-US" sz="1400" b="0" u="none" strike="noStrike">
                <a:solidFill>
                  <a:schemeClr val="dk1"/>
                </a:solidFill>
                <a:effectLst/>
                <a:uFillTx/>
                <a:latin typeface="DM Sans"/>
                <a:ea typeface="DM Sans"/>
              </a:rPr>
              <a:t>Future infrastructure planning should consider local charging patterns, geographic accessibility and anticipated residential growth.</a:t>
            </a:r>
            <a:endParaRPr lang="en-GB" sz="1400" b="0" u="none" strike="noStrike">
              <a:solidFill>
                <a:srgbClr val="000000"/>
              </a:solidFill>
              <a:effectLst/>
              <a:uFillTx/>
              <a:latin typeface="Arial"/>
            </a:endParaRPr>
          </a:p>
        </p:txBody>
      </p:sp>
      <p:sp>
        <p:nvSpPr>
          <p:cNvPr id="289" name="Text 106"/>
          <p:cNvSpPr/>
          <p:nvPr/>
        </p:nvSpPr>
        <p:spPr>
          <a:xfrm>
            <a:off x="812880" y="6238080"/>
            <a:ext cx="2202840" cy="23796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681"/>
              </a:lnSpc>
              <a:tabLst>
                <a:tab pos="0" algn="l"/>
              </a:tabLst>
            </a:pPr>
            <a:r>
              <a:rPr lang="en-US" sz="1200" b="0" u="none" strike="noStrike">
                <a:solidFill>
                  <a:srgbClr val="4F5B66"/>
                </a:solidFill>
                <a:effectLst/>
                <a:uFillTx/>
                <a:latin typeface="DM Sans"/>
                <a:ea typeface="DM Sans"/>
              </a:rPr>
              <a:t>EV charging data platform</a:t>
            </a:r>
            <a:endParaRPr lang="en-GB" sz="1200" b="0" u="none" strike="noStrike">
              <a:solidFill>
                <a:srgbClr val="000000"/>
              </a:solidFill>
              <a:effectLst/>
              <a:uFillTx/>
              <a:latin typeface="Arial"/>
            </a:endParaRPr>
          </a:p>
        </p:txBody>
      </p:sp>
      <p:sp>
        <p:nvSpPr>
          <p:cNvPr id="290" name="Text 107"/>
          <p:cNvSpPr/>
          <p:nvPr/>
        </p:nvSpPr>
        <p:spPr>
          <a:xfrm>
            <a:off x="11238840" y="6238080"/>
            <a:ext cx="190440" cy="237960"/>
          </a:xfrm>
          <a:prstGeom prst="rect">
            <a:avLst/>
          </a:prstGeom>
          <a:noFill/>
          <a:ln w="0">
            <a:noFill/>
          </a:ln>
        </p:spPr>
        <p:style>
          <a:lnRef idx="0"/>
          <a:fillRef idx="0"/>
          <a:effectRef idx="0"/>
          <a:fontRef idx="minor"/>
        </p:style>
        <p:txBody>
          <a:bodyPr numCol="1" spcCol="216000" lIns="0" tIns="0" rIns="0" bIns="0" anchor="t">
            <a:noAutofit/>
          </a:bodyPr>
          <a:p>
            <a:pPr defTabSz="914400">
              <a:lnSpc>
                <a:spcPts val="1681"/>
              </a:lnSpc>
              <a:tabLst>
                <a:tab pos="0" algn="l"/>
              </a:tabLst>
            </a:pPr>
            <a:r>
              <a:rPr lang="en-US" sz="1200" b="0" u="none" strike="noStrike">
                <a:solidFill>
                  <a:srgbClr val="4F5B66"/>
                </a:solidFill>
                <a:effectLst/>
                <a:uFillTx/>
                <a:latin typeface="DM Sans"/>
                <a:ea typeface="DM Sans"/>
              </a:rPr>
              <a:t>15</a:t>
            </a:r>
            <a:endParaRPr lang="en-GB"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32E"/>
        </a:solidFill>
      </p:bgPr>
    </p:bg>
    <p:spTree>
      <p:nvGrpSpPr>
        <p:cNvPr id="1" name=""/>
        <p:cNvGrpSpPr/>
        <p:nvPr/>
      </p:nvGrpSpPr>
      <p:grpSpPr>
        <a:xfrm>
          <a:off x="0" y="0"/>
          <a:ext cx="0" cy="0"/>
          <a:chOff x="0" y="0"/>
          <a:chExt cx="0" cy="0"/>
        </a:xfrm>
      </p:grpSpPr>
      <p:sp>
        <p:nvSpPr>
          <p:cNvPr id="291" name="Text 0"/>
          <p:cNvSpPr/>
          <p:nvPr/>
        </p:nvSpPr>
        <p:spPr>
          <a:xfrm>
            <a:off x="812880" y="812880"/>
            <a:ext cx="10882800" cy="27360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pc="198" strike="noStrike">
                <a:solidFill>
                  <a:srgbClr val="5CC8C4"/>
                </a:solidFill>
                <a:effectLst/>
                <a:uFillTx/>
                <a:latin typeface="DM Sans"/>
                <a:ea typeface="DM Sans"/>
              </a:rPr>
              <a:t>SUMMARY</a:t>
            </a:r>
            <a:endParaRPr lang="en-GB" sz="1400" b="0" u="none" strike="noStrike">
              <a:solidFill>
                <a:srgbClr val="FFFFFF"/>
              </a:solidFill>
              <a:effectLst/>
              <a:uFillTx/>
              <a:latin typeface="Arial"/>
            </a:endParaRPr>
          </a:p>
        </p:txBody>
      </p:sp>
      <p:sp>
        <p:nvSpPr>
          <p:cNvPr id="292" name="PlaceHolder 1"/>
          <p:cNvSpPr>
            <a:spLocks noGrp="1"/>
          </p:cNvSpPr>
          <p:nvPr>
            <p:ph type="title"/>
          </p:nvPr>
        </p:nvSpPr>
        <p:spPr>
          <a:xfrm>
            <a:off x="812880" y="1982520"/>
            <a:ext cx="9155880" cy="1253880"/>
          </a:xfrm>
          <a:prstGeom prst="rect">
            <a:avLst/>
          </a:prstGeom>
          <a:noFill/>
          <a:ln w="0">
            <a:noFill/>
          </a:ln>
        </p:spPr>
        <p:txBody>
          <a:bodyPr lIns="0" tIns="0" rIns="0" bIns="0" anchor="t">
            <a:normAutofit/>
          </a:bodyPr>
          <a:p>
            <a:pPr indent="0" algn="l" defTabSz="914400">
              <a:lnSpc>
                <a:spcPts val="4839"/>
              </a:lnSpc>
              <a:buNone/>
              <a:tabLst>
                <a:tab pos="0" algn="l"/>
              </a:tabLst>
            </a:pPr>
            <a:r>
              <a:rPr lang="en-US" sz="4400" b="1" u="none" strike="noStrike">
                <a:solidFill>
                  <a:srgbClr val="F6F5F0"/>
                </a:solidFill>
                <a:effectLst/>
                <a:uFillTx/>
                <a:latin typeface="DM Sans"/>
                <a:ea typeface="DM Sans"/>
              </a:rPr>
              <a:t>A tested, automated source of truth for EV charging data</a:t>
            </a:r>
            <a:endParaRPr lang="en-US" sz="4400" b="0" u="none" strike="noStrike">
              <a:solidFill>
                <a:schemeClr val="dk1"/>
              </a:solidFill>
              <a:effectLst/>
              <a:uFillTx/>
              <a:latin typeface="Arial"/>
            </a:endParaRPr>
          </a:p>
        </p:txBody>
      </p:sp>
      <p:sp>
        <p:nvSpPr>
          <p:cNvPr id="293" name="Text 2"/>
          <p:cNvSpPr/>
          <p:nvPr/>
        </p:nvSpPr>
        <p:spPr>
          <a:xfrm>
            <a:off x="856080" y="3465720"/>
            <a:ext cx="9104760" cy="1053360"/>
          </a:xfrm>
          <a:prstGeom prst="rect">
            <a:avLst/>
          </a:prstGeom>
          <a:noFill/>
          <a:ln w="0">
            <a:noFill/>
          </a:ln>
        </p:spPr>
        <p:style>
          <a:lnRef idx="0"/>
          <a:fillRef idx="0"/>
          <a:effectRef idx="0"/>
          <a:fontRef idx="minor"/>
        </p:style>
        <p:txBody>
          <a:bodyPr lIns="0" tIns="0" rIns="0" bIns="0" anchor="t">
            <a:normAutofit/>
          </a:bodyPr>
          <a:p>
            <a:pPr marL="210600" indent="-210600" defTabSz="914400">
              <a:lnSpc>
                <a:spcPts val="2701"/>
              </a:lnSpc>
              <a:buClr>
                <a:srgbClr val="B9C4CC"/>
              </a:buClr>
              <a:buFont typeface="Symbol" charset="2"/>
              <a:buChar char=""/>
            </a:pPr>
            <a:r>
              <a:rPr lang="en-US" sz="1800" b="0" u="none" strike="noStrike">
                <a:solidFill>
                  <a:srgbClr val="B9C4CC"/>
                </a:solidFill>
                <a:effectLst/>
                <a:uFillTx/>
                <a:latin typeface="DM Sans"/>
                <a:ea typeface="DM Sans"/>
              </a:rPr>
              <a:t>Daily loads into a star schema on BigQuery</a:t>
            </a:r>
            <a:endParaRPr lang="en-GB" sz="1800" b="0" u="none" strike="noStrike">
              <a:solidFill>
                <a:srgbClr val="FFFFFF"/>
              </a:solidFill>
              <a:effectLst/>
              <a:uFillTx/>
              <a:latin typeface="Arial"/>
            </a:endParaRPr>
          </a:p>
          <a:p>
            <a:pPr marL="210600" indent="-210600" defTabSz="914400">
              <a:lnSpc>
                <a:spcPts val="2701"/>
              </a:lnSpc>
              <a:buClr>
                <a:srgbClr val="B9C4CC"/>
              </a:buClr>
              <a:buFont typeface="Symbol" charset="2"/>
              <a:buChar char=""/>
            </a:pPr>
            <a:r>
              <a:rPr lang="en-US" sz="1800" b="0" u="none" strike="noStrike">
                <a:solidFill>
                  <a:srgbClr val="B9C4CC"/>
                </a:solidFill>
                <a:effectLst/>
                <a:uFillTx/>
                <a:latin typeface="DM Sans"/>
                <a:ea typeface="DM Sans"/>
              </a:rPr>
              <a:t>58 checks guard quality across every layer</a:t>
            </a:r>
            <a:endParaRPr lang="en-GB" sz="1800" b="0" u="none" strike="noStrike">
              <a:solidFill>
                <a:srgbClr val="FFFFFF"/>
              </a:solidFill>
              <a:effectLst/>
              <a:uFillTx/>
              <a:latin typeface="Arial"/>
            </a:endParaRPr>
          </a:p>
          <a:p>
            <a:pPr marL="210600" indent="-210600" defTabSz="914400">
              <a:lnSpc>
                <a:spcPts val="2701"/>
              </a:lnSpc>
              <a:buClr>
                <a:srgbClr val="B9C4CC"/>
              </a:buClr>
              <a:buFont typeface="Symbol" charset="2"/>
              <a:buChar char=""/>
            </a:pPr>
            <a:r>
              <a:rPr lang="en-US" sz="1800" b="0" u="none" strike="noStrike">
                <a:solidFill>
                  <a:srgbClr val="B9C4CC"/>
                </a:solidFill>
                <a:effectLst/>
                <a:uFillTx/>
                <a:latin typeface="DM Sans"/>
                <a:ea typeface="DM Sans"/>
              </a:rPr>
              <a:t>Insights are ready for planners, operators and drivers</a:t>
            </a:r>
            <a:endParaRPr lang="en-GB" sz="1800" b="0" u="none" strike="noStrike">
              <a:solidFill>
                <a:srgbClr val="FFFFFF"/>
              </a:solidFill>
              <a:effectLst/>
              <a:uFillTx/>
              <a:latin typeface="Arial"/>
            </a:endParaRPr>
          </a:p>
        </p:txBody>
      </p:sp>
      <p:sp>
        <p:nvSpPr>
          <p:cNvPr id="294" name="Text 3"/>
          <p:cNvSpPr/>
          <p:nvPr/>
        </p:nvSpPr>
        <p:spPr>
          <a:xfrm>
            <a:off x="812880" y="5415480"/>
            <a:ext cx="10882800" cy="451440"/>
          </a:xfrm>
          <a:prstGeom prst="rect">
            <a:avLst/>
          </a:prstGeom>
          <a:noFill/>
          <a:ln w="0">
            <a:noFill/>
          </a:ln>
        </p:spPr>
        <p:style>
          <a:lnRef idx="0"/>
          <a:fillRef idx="0"/>
          <a:effectRef idx="0"/>
          <a:fontRef idx="minor"/>
        </p:style>
        <p:txBody>
          <a:bodyPr lIns="0" tIns="0" rIns="0" bIns="0" anchor="t">
            <a:normAutofit/>
          </a:bodyPr>
          <a:p>
            <a:pPr defTabSz="914400">
              <a:lnSpc>
                <a:spcPts val="3359"/>
              </a:lnSpc>
              <a:tabLst>
                <a:tab pos="0" algn="l"/>
              </a:tabLst>
            </a:pPr>
            <a:r>
              <a:rPr lang="en-US" sz="2400" b="1" u="none" strike="noStrike">
                <a:solidFill>
                  <a:srgbClr val="5CC8C4"/>
                </a:solidFill>
                <a:effectLst/>
                <a:uFillTx/>
                <a:latin typeface="DM Sans"/>
                <a:ea typeface="DM Sans"/>
              </a:rPr>
              <a:t>Questions?</a:t>
            </a:r>
            <a:endParaRPr lang="en-GB" sz="2400" b="0" u="none" strike="noStrike">
              <a:solidFill>
                <a:srgbClr val="FFFFFF"/>
              </a:solidFill>
              <a:effectLst/>
              <a:uFillTx/>
              <a:latin typeface="Arial"/>
            </a:endParaRPr>
          </a:p>
        </p:txBody>
      </p:sp>
      <p:sp>
        <p:nvSpPr>
          <p:cNvPr id="295" name="Text 4"/>
          <p:cNvSpPr/>
          <p:nvPr/>
        </p:nvSpPr>
        <p:spPr>
          <a:xfrm>
            <a:off x="11238840" y="6238080"/>
            <a:ext cx="1904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B9C4CC"/>
                </a:solidFill>
                <a:effectLst/>
                <a:uFillTx/>
                <a:latin typeface="DM Sans"/>
                <a:ea typeface="DM Sans"/>
              </a:rPr>
              <a:t>18</a:t>
            </a:r>
            <a:endParaRPr lang="en-GB"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EV Charging Data Platform: Executive Presentation">
  <a:themeElements>
    <a:clrScheme name="EV Charging Data Platform: Executive Presentation">
      <a:dk1>
        <a:srgbClr val="14232E"/>
      </a:dk1>
      <a:lt1>
        <a:srgbClr val="F6F5F0"/>
      </a:lt1>
      <a:dk2>
        <a:srgbClr val="4D585F"/>
      </a:dk2>
      <a:lt2>
        <a:srgbClr val="DFE0DD"/>
      </a:lt2>
      <a:accent1>
        <a:srgbClr val="0E7C7B"/>
      </a:accent1>
      <a:accent2>
        <a:srgbClr val="A85A00"/>
      </a:accent2>
      <a:accent3>
        <a:srgbClr val="5CC8C4"/>
      </a:accent3>
      <a:accent4>
        <a:srgbClr val="B3261E"/>
      </a:accent4>
      <a:accent5>
        <a:srgbClr val="4F5B66"/>
      </a:accent5>
      <a:accent6>
        <a:srgbClr val="B9C4CC"/>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EV Charging Data Platform: Executive Presentation">
  <a:themeElements>
    <a:clrScheme name="EV Charging Data Platform: Executive Presentation">
      <a:dk1>
        <a:srgbClr val="14232E"/>
      </a:dk1>
      <a:lt1>
        <a:srgbClr val="F6F5F0"/>
      </a:lt1>
      <a:dk2>
        <a:srgbClr val="4D585F"/>
      </a:dk2>
      <a:lt2>
        <a:srgbClr val="DFE0DD"/>
      </a:lt2>
      <a:accent1>
        <a:srgbClr val="0E7C7B"/>
      </a:accent1>
      <a:accent2>
        <a:srgbClr val="A85A00"/>
      </a:accent2>
      <a:accent3>
        <a:srgbClr val="5CC8C4"/>
      </a:accent3>
      <a:accent4>
        <a:srgbClr val="B3261E"/>
      </a:accent4>
      <a:accent5>
        <a:srgbClr val="4F5B66"/>
      </a:accent5>
      <a:accent6>
        <a:srgbClr val="B9C4CC"/>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Presentation">
  <a:themeElements>
    <a:clrScheme name="Presentation 1">
      <a:dk1>
        <a:srgbClr val="14232E"/>
      </a:dk1>
      <a:lt1>
        <a:srgbClr val="F6F5F0"/>
      </a:lt1>
      <a:dk2>
        <a:srgbClr val="4D585F"/>
      </a:dk2>
      <a:lt2>
        <a:srgbClr val="DFE0DD"/>
      </a:lt2>
      <a:accent1>
        <a:srgbClr val="0E7C7B"/>
      </a:accent1>
      <a:accent2>
        <a:srgbClr val="A85A00"/>
      </a:accent2>
      <a:accent3>
        <a:srgbClr val="5CC8C4"/>
      </a:accent3>
      <a:accent4>
        <a:srgbClr val="B3261E"/>
      </a:accent4>
      <a:accent5>
        <a:srgbClr val="4F5B66"/>
      </a:accent5>
      <a:accent6>
        <a:srgbClr val="B9C4CC"/>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236</TotalTime>
  <Application>LibreOffice/26.8.1.1$Linux_X86_64 LibreOffice_project/0fee9b7af4ed8823fb6ed0b53e2a3e73b2087f4b</Application>
  <AppVersion>15.0000</AppVersion>
  <Words>3424</Words>
  <Paragraphs>308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2026-10-15T02:43:52Z</dcterms:created>
  <dc:creator>Eric</dc:creator>
  <dc:description/>
  <dc:language>en-US</dc:language>
  <cp:lastModifiedBy/>
  <dcterms:modified xsi:type="dcterms:W3CDTF">2026-10-16T10:15:16Z</dcterms:modified>
  <cp:revision>15</cp:revision>
  <dc:subject/>
  <dc:title>EV Charging Data Platform: Executive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18</vt:i4>
  </property>
  <property fmtid="{D5CDD505-2E9C-101B-9397-08002B2CF9AE}" pid="3" name="PresentationFormat">
    <vt:lpwstr>Widescreen</vt:lpwstr>
  </property>
  <property fmtid="{D5CDD505-2E9C-101B-9397-08002B2CF9AE}" pid="4" name="Slides">
    <vt:i4>18</vt:i4>
  </property>
</Properties>
</file>